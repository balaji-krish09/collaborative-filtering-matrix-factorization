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7970ede-46fc-6446-1e3c-31a645f38cb2}">
          <p14:sldIdLst>
            <p14:sldId id="256"/>
          </p14:sldIdLst>
        </p14:section>
        <p14:section name="Phase 1: Embeddings" id="{14bfe029-3739-cbb9-1c79-006a645ec2de}">
          <p14:sldIdLst>
            <p14:sldId id="257"/>
          </p14:sldIdLst>
        </p14:section>
        <p14:section name="Memory-based CF" id="{22023d92-d189-61ae-67e1-f948474709a6}">
          <p14:sldIdLst>
            <p14:sldId id="258"/>
            <p14:sldId id="259"/>
          </p14:sldIdLst>
        </p14:section>
        <p14:section name="Matrix factorization" id="{e3d5a0f2-e719-4855-0445-d7db64dbdf2b}">
          <p14:sldIdLst>
            <p14:sldId id="260"/>
            <p14:sldId id="261"/>
            <p14:sldId id="262"/>
          </p14:sldIdLst>
        </p14:section>
        <p14:section name="Implicit feedback" id="{37459a89-53e1-2f83-85c7-8866184348a0}">
          <p14:sldIdLst>
            <p14:sldId id="263"/>
            <p14:sldId id="264"/>
            <p14:sldId id="265"/>
          </p14:sldIdLst>
        </p14:section>
        <p14:section name="Limits and exercises" id="{0e9a0804-d3d3-0a9d-4ee4-7b36d6c9d166}">
          <p14:sldIdLst>
            <p14:sldId id="266"/>
            <p14:sldId id="267"/>
          </p14:sldIdLst>
        </p14:section>
        <p14:section name="Summary" id="{c407179a-9c32-358d-cd0a-7dd459281e19}">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The Matrix, user 63: predictions vs truth</a:t>
            </a:r>
          </a:p>
        </c:rich>
      </c:tx>
      <c:layout/>
      <c:overlay val="0"/>
    </c:title>
    <c:autoTitleDeleted val="0"/>
    <c:plotArea>
      <c:layout/>
      <c:barChart>
        <c:barDir val="bar"/>
        <c:grouping val="clustered"/>
        <c:varyColors val="0"/>
        <c:ser>
          <c:idx val="0"/>
          <c:order val="0"/>
          <c:tx>
            <c:strRef>
              <c:f>Sheet1!$B$1</c:f>
              <c:strCache>
                <c:ptCount val="1"/>
                <c:pt idx="0">
                  <c:v>rating</c:v>
                </c:pt>
              </c:strCache>
            </c:strRef>
          </c:tx>
          <c:spPr>
            <a:solidFill>
              <a:srgbClr val="1E2240"/>
            </a:solidFill>
            <a:effectLst/>
          </c:spPr>
          <c:invertIfNegative val="0"/>
          <c:dLbls>
            <c:numFmt formatCode="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dPt>
            <c:idx val="0"/>
            <c:invertIfNegative val="0"/>
            <c:bubble3D val="0"/>
            <c:spPr>
              <a:solidFill>
                <a:srgbClr val="1E2240"/>
              </a:solidFill>
              <a:effectLst/>
            </c:spPr>
          </c:dPt>
          <c:dPt>
            <c:idx val="1"/>
            <c:invertIfNegative val="0"/>
            <c:bubble3D val="0"/>
            <c:spPr>
              <a:solidFill>
                <a:srgbClr val="B7B9C6"/>
              </a:solidFill>
              <a:effectLst/>
            </c:spPr>
          </c:dPt>
          <c:dPt>
            <c:idx val="2"/>
            <c:invertIfNegative val="0"/>
            <c:bubble3D val="0"/>
            <c:spPr>
              <a:solidFill>
                <a:srgbClr val="EB6834"/>
              </a:solidFill>
              <a:effectLst/>
            </c:spPr>
          </c:dPt>
          <c:dPt>
            <c:idx val="3"/>
            <c:invertIfNegative val="0"/>
            <c:bubble3D val="0"/>
            <c:spPr>
              <a:solidFill>
                <a:srgbClr val="B7B9C6"/>
              </a:solidFill>
              <a:effectLst/>
            </c:spPr>
          </c:dPt>
          <c:cat>
            <c:multiLvlStrRef>
              <c:f>Sheet1!$A$2:$A$5</c:f>
              <c:multiLvlStrCache>
                <c:ptCount val="4"/>
                <c:lvl>
                  <c:pt idx="0">
                    <c:v>Held-out TRUE rating</c:v>
                  </c:pt>
                  <c:pt idx="1">
                    <c:v>User 63's own mean</c:v>
                  </c:pt>
                  <c:pt idx="2">
                    <c:v>User-based CF</c:v>
                  </c:pt>
                  <c:pt idx="3">
                    <c:v>Movie's mean (core)</c:v>
                  </c:pt>
                </c:lvl>
              </c:multiLvlStrCache>
            </c:multiLvlStrRef>
          </c:cat>
          <c:val>
            <c:numRef>
              <c:f>Sheet1!$B$2:$B$5</c:f>
              <c:numCache>
                <c:formatCode>General</c:formatCode>
                <c:ptCount val="4"/>
                <c:pt idx="0">
                  <c:v>3.5</c:v>
                </c:pt>
                <c:pt idx="1">
                  <c:v>3.5965517241379312</c:v>
                </c:pt>
                <c:pt idx="2">
                  <c:v>3.910200117702279</c:v>
                </c:pt>
                <c:pt idx="3">
                  <c:v>4.140151515151516</c:v>
                </c:pt>
              </c:numCache>
            </c:numRef>
          </c:val>
        </c:ser>
        <c:dLbls>
          <c:numFmt formatCode="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1E0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Most similar to The Matrix (adjusted cosine)</a:t>
            </a:r>
          </a:p>
        </c:rich>
      </c:tx>
      <c:layout/>
      <c:overlay val="0"/>
    </c:title>
    <c:autoTitleDeleted val="0"/>
    <c:plotArea>
      <c:layout/>
      <c:barChart>
        <c:barDir val="bar"/>
        <c:grouping val="clustered"/>
        <c:varyColors val="0"/>
        <c:ser>
          <c:idx val="0"/>
          <c:order val="0"/>
          <c:tx>
            <c:strRef>
              <c:f>Sheet1!$B$1</c:f>
              <c:strCache>
                <c:ptCount val="1"/>
                <c:pt idx="0">
                  <c:v>adjusted cosine</c:v>
                </c:pt>
              </c:strCache>
            </c:strRef>
          </c:tx>
          <c:spPr>
            <a:solidFill>
              <a:srgbClr val="EB6834"/>
            </a:solidFill>
            <a:effectLst/>
          </c:spPr>
          <c:invertIfNegative val="0"/>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2A78D6"/>
              </a:solidFill>
              <a:effectLst/>
            </c:spPr>
          </c:dPt>
          <c:dPt>
            <c:idx val="7"/>
            <c:invertIfNegative val="0"/>
            <c:bubble3D val="0"/>
            <c:spPr>
              <a:solidFill>
                <a:srgbClr val="2A78D6"/>
              </a:solidFill>
              <a:effectLst/>
            </c:spPr>
          </c:dPt>
          <c:cat>
            <c:multiLvlStrRef>
              <c:f>Sheet1!$A$2:$A$9</c:f>
              <c:multiLvlStrCache>
                <c:ptCount val="8"/>
                <c:lvl>
                  <c:pt idx="0">
                    <c:v>Office Space (1999)</c:v>
                  </c:pt>
                  <c:pt idx="1">
                    <c:v>Saving Private Ryan (1998)</c:v>
                  </c:pt>
                  <c:pt idx="2">
                    <c:v>Batman Begins (2005)</c:v>
                  </c:pt>
                  <c:pt idx="3">
                    <c:v>The Dark Knight Rises (2012)</c:v>
                  </c:pt>
                  <c:pt idx="4">
                    <c:v>Full Metal Jacket (1987)</c:v>
                  </c:pt>
                  <c:pt idx="5">
                    <c:v>Sin City (2005)</c:v>
                  </c:pt>
                  <c:pt idx="6">
                    <c:v>Memento (2000)</c:v>
                  </c:pt>
                  <c:pt idx="7">
                    <c:v>The Usual Suspects (1995)</c:v>
                  </c:pt>
                </c:lvl>
              </c:multiLvlStrCache>
            </c:multiLvlStrRef>
          </c:cat>
          <c:val>
            <c:numRef>
              <c:f>Sheet1!$B$2:$B$9</c:f>
              <c:numCache>
                <c:formatCode>General</c:formatCode>
                <c:ptCount val="8"/>
                <c:pt idx="0">
                  <c:v>0.5441520061403191</c:v>
                </c:pt>
                <c:pt idx="1">
                  <c:v>0.4842795064380504</c:v>
                </c:pt>
                <c:pt idx="2">
                  <c:v>0.4742388267396277</c:v>
                </c:pt>
                <c:pt idx="3">
                  <c:v>0.44161830070768066</c:v>
                </c:pt>
                <c:pt idx="4">
                  <c:v>0.43831620701479856</c:v>
                </c:pt>
                <c:pt idx="5">
                  <c:v>0.4238946824624328</c:v>
                </c:pt>
                <c:pt idx="6">
                  <c:v>0.4236120418432876</c:v>
                </c:pt>
                <c:pt idx="7">
                  <c:v>0.40341117433717466</c:v>
                </c:pt>
              </c:numCache>
            </c:numRef>
          </c:val>
        </c:ser>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9525" cap="flat">
              <a:solidFill>
                <a:srgbClr val="E1E0D9"/>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Dense toy (5 × 6): SVD energy per component</a:t>
            </a:r>
          </a:p>
        </c:rich>
      </c:tx>
      <c:layout/>
      <c:overlay val="0"/>
    </c:title>
    <c:autoTitleDeleted val="0"/>
    <c:plotArea>
      <c:layout/>
      <c:barChart>
        <c:barDir val="col"/>
        <c:grouping val="clustered"/>
        <c:varyColors val="0"/>
        <c:ser>
          <c:idx val="0"/>
          <c:order val="0"/>
          <c:tx>
            <c:strRef>
              <c:f>Sheet1!$B$1</c:f>
              <c:strCache>
                <c:ptCount val="1"/>
                <c:pt idx="0">
                  <c:v>energy</c:v>
                </c:pt>
              </c:strCache>
            </c:strRef>
          </c:tx>
          <c:spPr>
            <a:solidFill>
              <a:srgbClr val="2A78D6"/>
            </a:solidFill>
            <a:effectLst/>
          </c:spPr>
          <c:invertIfNegative val="0"/>
          <c:dLbls>
            <c:numFmt formatCode="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cat>
            <c:multiLvlStrRef>
              <c:f>Sheet1!$A$2:$A$6</c:f>
              <c:multiLvlStrCache>
                <c:ptCount val="5"/>
                <c:lvl>
                  <c:pt idx="0">
                    <c:v>σ1</c:v>
                  </c:pt>
                  <c:pt idx="1">
                    <c:v>σ2</c:v>
                  </c:pt>
                  <c:pt idx="2">
                    <c:v>σ3</c:v>
                  </c:pt>
                  <c:pt idx="3">
                    <c:v>σ4</c:v>
                  </c:pt>
                  <c:pt idx="4">
                    <c:v>σ5</c:v>
                  </c:pt>
                </c:lvl>
              </c:multiLvlStrCache>
            </c:multiLvlStrRef>
          </c:cat>
          <c:val>
            <c:numRef>
              <c:f>Sheet1!$B$2:$B$6</c:f>
              <c:numCache>
                <c:formatCode>General</c:formatCode>
                <c:ptCount val="5"/>
                <c:pt idx="0">
                  <c:v>0.8186259758027926</c:v>
                </c:pt>
                <c:pt idx="1">
                  <c:v>0.125239211464264</c:v>
                </c:pt>
                <c:pt idx="2">
                  <c:v>0.055783210829031336</c:v>
                </c:pt>
                <c:pt idx="3">
                  <c:v>0.00025738843332107715</c:v>
                </c:pt>
                <c:pt idx="4">
                  <c:v>0.00009421347059093518</c:v>
                </c:pt>
              </c:numCache>
            </c:numRef>
          </c:val>
        </c:ser>
        <c:dLbls>
          <c:numFmt formatCode="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Hide 10 of 30 toy cells: RMSE on the hidden cells</a:t>
            </a:r>
          </a:p>
        </c:rich>
      </c:tx>
      <c:layout/>
      <c:overlay val="0"/>
    </c:title>
    <c:autoTitleDeleted val="0"/>
    <c:plotArea>
      <c:layout/>
      <c:barChart>
        <c:barDir val="bar"/>
        <c:grouping val="clustered"/>
        <c:varyColors val="0"/>
        <c:ser>
          <c:idx val="0"/>
          <c:order val="0"/>
          <c:tx>
            <c:strRef>
              <c:f>Sheet1!$B$1</c:f>
              <c:strCache>
                <c:ptCount val="1"/>
                <c:pt idx="0">
                  <c:v>RMSE</c:v>
                </c:pt>
              </c:strCache>
            </c:strRef>
          </c:tx>
          <c:spPr>
            <a:solidFill>
              <a:srgbClr val="B7B9C6"/>
            </a:solidFill>
            <a:effectLst/>
          </c:spPr>
          <c:invertIfNegative val="0"/>
          <c:dLbls>
            <c:numFmt formatCode="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dPt>
            <c:idx val="0"/>
            <c:invertIfNegative val="0"/>
            <c:bubble3D val="0"/>
            <c:spPr>
              <a:solidFill>
                <a:srgbClr val="B7B9C6"/>
              </a:solidFill>
              <a:effectLst/>
            </c:spPr>
          </c:dPt>
          <c:dPt>
            <c:idx val="1"/>
            <c:invertIfNegative val="0"/>
            <c:bubble3D val="0"/>
            <c:spPr>
              <a:solidFill>
                <a:srgbClr val="2A78D6"/>
              </a:solidFill>
              <a:effectLst/>
            </c:spPr>
          </c:dPt>
          <c:dPt>
            <c:idx val="2"/>
            <c:invertIfNegative val="0"/>
            <c:bubble3D val="0"/>
            <c:spPr>
              <a:solidFill>
                <a:srgbClr val="B7B9C6"/>
              </a:solidFill>
              <a:effectLst/>
            </c:spPr>
          </c:dPt>
          <c:dPt>
            <c:idx val="3"/>
            <c:invertIfNegative val="0"/>
            <c:bubble3D val="0"/>
            <c:spPr>
              <a:solidFill>
                <a:srgbClr val="B7B9C6"/>
              </a:solidFill>
              <a:effectLst/>
            </c:spPr>
          </c:dPt>
          <c:dPt>
            <c:idx val="4"/>
            <c:invertIfNegative val="0"/>
            <c:bubble3D val="0"/>
            <c:spPr>
              <a:solidFill>
                <a:srgbClr val="B7B9C6"/>
              </a:solidFill>
              <a:effectLst/>
            </c:spPr>
          </c:dPt>
          <c:dPt>
            <c:idx val="5"/>
            <c:invertIfNegative val="0"/>
            <c:bubble3D val="0"/>
            <c:spPr>
              <a:solidFill>
                <a:srgbClr val="B7B9C6"/>
              </a:solidFill>
              <a:effectLst/>
            </c:spPr>
          </c:dPt>
          <c:dPt>
            <c:idx val="6"/>
            <c:invertIfNegative val="0"/>
            <c:bubble3D val="0"/>
            <c:spPr>
              <a:solidFill>
                <a:srgbClr val="2A78D6"/>
              </a:solidFill>
              <a:effectLst/>
            </c:spPr>
          </c:dPt>
          <c:dPt>
            <c:idx val="7"/>
            <c:invertIfNegative val="0"/>
            <c:bubble3D val="0"/>
            <c:spPr>
              <a:solidFill>
                <a:srgbClr val="2A78D6"/>
              </a:solidFill>
              <a:effectLst/>
            </c:spPr>
          </c:dPt>
          <c:dPt>
            <c:idx val="8"/>
            <c:invertIfNegative val="0"/>
            <c:bubble3D val="0"/>
            <c:spPr>
              <a:solidFill>
                <a:srgbClr val="EB6834"/>
              </a:solidFill>
              <a:effectLst/>
            </c:spPr>
          </c:dPt>
          <c:cat>
            <c:multiLvlStrRef>
              <c:f>Sheet1!$A$2:$A$10</c:f>
              <c:multiLvlStrCache>
                <c:ptCount val="9"/>
                <c:lvl>
                  <c:pt idx="0">
                    <c:v>SVD, zero-fill (k=3)</c:v>
                  </c:pt>
                  <c:pt idx="1">
                    <c:v>Observed-only MF, λ=0.1</c:v>
                  </c:pt>
                  <c:pt idx="2">
                    <c:v>SVD, zero-fill (k=2)</c:v>
                  </c:pt>
                  <c:pt idx="3">
                    <c:v>Global mean</c:v>
                  </c:pt>
                  <c:pt idx="4">
                    <c:v>SVD, mean-fill (k=2)</c:v>
                  </c:pt>
                  <c:pt idx="5">
                    <c:v>SVD, mean-fill (k=3)</c:v>
                  </c:pt>
                  <c:pt idx="6">
                    <c:v>Observed-only MF, λ=2</c:v>
                  </c:pt>
                  <c:pt idx="7">
                    <c:v>Observed-only MF, λ=1</c:v>
                  </c:pt>
                  <c:pt idx="8">
                    <c:v>Observed-only MF, λ=0.5</c:v>
                  </c:pt>
                </c:lvl>
              </c:multiLvlStrCache>
            </c:multiLvlStrRef>
          </c:cat>
          <c:val>
            <c:numRef>
              <c:f>Sheet1!$B$2:$B$10</c:f>
              <c:numCache>
                <c:formatCode>General</c:formatCode>
                <c:ptCount val="9"/>
                <c:pt idx="0">
                  <c:v>3.33537482219311</c:v>
                </c:pt>
                <c:pt idx="1">
                  <c:v>3.186876329798506</c:v>
                </c:pt>
                <c:pt idx="2">
                  <c:v>2.7426628610073576</c:v>
                </c:pt>
                <c:pt idx="3">
                  <c:v>1.680773631397161</c:v>
                </c:pt>
                <c:pt idx="4">
                  <c:v>1.5918430579855694</c:v>
                </c:pt>
                <c:pt idx="5">
                  <c:v>1.45538960425704</c:v>
                </c:pt>
                <c:pt idx="6">
                  <c:v>1.2264280574473718</c:v>
                </c:pt>
                <c:pt idx="7">
                  <c:v>0.772884910109914</c:v>
                </c:pt>
                <c:pt idx="8">
                  <c:v>0.48695780032637165</c:v>
                </c:pt>
              </c:numCache>
            </c:numRef>
          </c:val>
        </c:ser>
        <c:dLbls>
          <c:numFmt formatCode="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b"/>
        <c:majorGridlines>
          <c:spPr>
            <a:ln w="9525" cap="flat">
              <a:solidFill>
                <a:srgbClr val="E1E0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WMF loss per pass (toy, w0 = 0.1, λ = 0.1, d = 2)</a:t>
            </a:r>
          </a:p>
        </c:rich>
      </c:tx>
      <c:layout/>
      <c:overlay val="0"/>
    </c:title>
    <c:autoTitleDeleted val="0"/>
    <c:plotArea>
      <c:layout/>
      <c:lineChart>
        <c:varyColors val="0"/>
        <c:ser>
          <c:idx val="0"/>
          <c:order val="0"/>
          <c:tx>
            <c:strRef>
              <c:f>Sheet1!$B$1</c:f>
              <c:strCache>
                <c:ptCount val="1"/>
                <c:pt idx="0">
                  <c:v>WALS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Sheet1!$B$2:$B$62</c:f>
              <c:numCache>
                <c:formatCode>General</c:formatCode>
                <c:ptCount val="61"/>
                <c:pt idx="0">
                  <c:v>240.36166890641417</c:v>
                </c:pt>
                <c:pt idx="1">
                  <c:v>98.50275073012716</c:v>
                </c:pt>
                <c:pt idx="2">
                  <c:v>47.14067474209831</c:v>
                </c:pt>
                <c:pt idx="3">
                  <c:v>43.708607832961206</c:v>
                </c:pt>
                <c:pt idx="4">
                  <c:v>40.95099513800689</c:v>
                </c:pt>
                <c:pt idx="5">
                  <c:v>37.24665996965113</c:v>
                </c:pt>
                <c:pt idx="6">
                  <c:v>35.31268216653399</c:v>
                </c:pt>
                <c:pt idx="7">
                  <c:v>34.26196349365426</c:v>
                </c:pt>
                <c:pt idx="8">
                  <c:v>33.559932682743465</c:v>
                </c:pt>
                <c:pt idx="9">
                  <c:v>33.031759207470046</c:v>
                </c:pt>
                <c:pt idx="10">
                  <c:v>32.60713993803192</c:v>
                </c:pt>
                <c:pt idx="11">
                  <c:v>32.253835343443455</c:v>
                </c:pt>
                <c:pt idx="12">
                  <c:v>31.954385058396323</c:v>
                </c:pt>
                <c:pt idx="13">
                  <c:v>31.69775953072071</c:v>
                </c:pt>
                <c:pt idx="14">
                  <c:v>31.47618265201707</c:v>
                </c:pt>
                <c:pt idx="15">
                  <c:v>31.2837924600049</c:v>
                </c:pt>
                <c:pt idx="16">
                  <c:v>31.115993419603086</c:v>
                </c:pt>
                <c:pt idx="17">
                  <c:v>30.969094908909316</c:v>
                </c:pt>
                <c:pt idx="18">
                  <c:v>30.840084222152967</c:v>
                </c:pt>
                <c:pt idx="19">
                  <c:v>30.726471908430316</c:v>
                </c:pt>
                <c:pt idx="20">
                  <c:v>30.62618072536824</c:v>
                </c:pt>
                <c:pt idx="21">
                  <c:v>30.53746315571944</c:v>
                </c:pt>
                <c:pt idx="22">
                  <c:v>30.45883868670016</c:v>
                </c:pt>
                <c:pt idx="23">
                  <c:v>30.38904527138409</c:v>
                </c:pt>
                <c:pt idx="24">
                  <c:v>30.327001230343203</c:v>
                </c:pt>
                <c:pt idx="25">
                  <c:v>30.271774987838967</c:v>
                </c:pt>
                <c:pt idx="26">
                  <c:v>30.222560778612692</c:v>
                </c:pt>
                <c:pt idx="27">
                  <c:v>30.178658964530893</c:v>
                </c:pt>
                <c:pt idx="28">
                  <c:v>30.13945995130211</c:v>
                </c:pt>
                <c:pt idx="29">
                  <c:v>30.10443094548901</c:v>
                </c:pt>
                <c:pt idx="30">
                  <c:v>30.073104973208228</c:v>
                </c:pt>
                <c:pt idx="31">
                  <c:v>30.045071715108083</c:v>
                </c:pt>
                <c:pt idx="32">
                  <c:v>30.01996981138857</c:v>
                </c:pt>
                <c:pt idx="33">
                  <c:v>29.99748036530508</c:v>
                </c:pt>
                <c:pt idx="34">
                  <c:v>29.977321430403098</c:v>
                </c:pt>
                <c:pt idx="35">
                  <c:v>29.95924331034551</c:v>
                </c:pt>
                <c:pt idx="36">
                  <c:v>29.943024533968554</c:v>
                </c:pt>
                <c:pt idx="37">
                  <c:v>29.928468394563954</c:v>
                </c:pt>
                <c:pt idx="38">
                  <c:v>29.91539996311441</c:v>
                </c:pt>
                <c:pt idx="39">
                  <c:v>29.90366350162301</c:v>
                </c:pt>
                <c:pt idx="40">
                  <c:v>29.893120215758508</c:v>
                </c:pt>
                <c:pt idx="41">
                  <c:v>29.88364629652999</c:v>
                </c:pt>
                <c:pt idx="42">
                  <c:v>29.875131209166668</c:v>
                </c:pt>
                <c:pt idx="43">
                  <c:v>29.86747619424525</c:v>
                </c:pt>
                <c:pt idx="44">
                  <c:v>29.860592951706586</c:v>
                </c:pt>
                <c:pt idx="45">
                  <c:v>29.854402482995603</c:v>
                </c:pt>
                <c:pt idx="46">
                  <c:v>29.848834070341493</c:v>
                </c:pt>
                <c:pt idx="47">
                  <c:v>29.843824375328133</c:v>
                </c:pt>
                <c:pt idx="48">
                  <c:v>29.839316641510514</c:v>
                </c:pt>
                <c:pt idx="49">
                  <c:v>29.835259988010428</c:v>
                </c:pt>
                <c:pt idx="50">
                  <c:v>29.831608782852413</c:v>
                </c:pt>
                <c:pt idx="51">
                  <c:v>29.828322086340254</c:v>
                </c:pt>
                <c:pt idx="52">
                  <c:v>29.825363156078414</c:v>
                </c:pt>
                <c:pt idx="53">
                  <c:v>29.822699006348486</c:v>
                </c:pt>
                <c:pt idx="54">
                  <c:v>29.820300015495448</c:v>
                </c:pt>
                <c:pt idx="55">
                  <c:v>29.818139575784986</c:v>
                </c:pt>
                <c:pt idx="56">
                  <c:v>29.81619378088682</c:v>
                </c:pt>
                <c:pt idx="57">
                  <c:v>29.81444114673585</c:v>
                </c:pt>
                <c:pt idx="58">
                  <c:v>29.812862362038288</c:v>
                </c:pt>
                <c:pt idx="59">
                  <c:v>29.81144006513739</c:v>
                </c:pt>
                <c:pt idx="60">
                  <c:v>29.810158644340962</c:v>
                </c:pt>
              </c:numCache>
            </c:numRef>
          </c:val>
          <c:smooth val="0"/>
        </c:ser>
        <c:ser>
          <c:idx val="1"/>
          <c:order val="1"/>
          <c:tx>
            <c:strRef>
              <c:f>Sheet1!$C$1</c:f>
              <c:strCache>
                <c:ptCount val="1"/>
                <c:pt idx="0">
                  <c:v>SGD lr=0.01</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Sheet1!$C$2:$C$62</c:f>
              <c:numCache>
                <c:formatCode>General</c:formatCode>
                <c:ptCount val="61"/>
                <c:pt idx="0">
                  <c:v>240.36166890641417</c:v>
                </c:pt>
                <c:pt idx="1">
                  <c:v>240.2394542519767</c:v>
                </c:pt>
                <c:pt idx="2">
                  <c:v>240.1215950754481</c:v>
                </c:pt>
                <c:pt idx="3">
                  <c:v>240.00573510688375</c:v>
                </c:pt>
                <c:pt idx="4">
                  <c:v>239.89079026625595</c:v>
                </c:pt>
                <c:pt idx="5">
                  <c:v>239.77444597046608</c:v>
                </c:pt>
                <c:pt idx="6">
                  <c:v>239.6546396289024</c:v>
                </c:pt>
                <c:pt idx="7">
                  <c:v>239.5292163673559</c:v>
                </c:pt>
                <c:pt idx="8">
                  <c:v>239.39629750512367</c:v>
                </c:pt>
                <c:pt idx="9">
                  <c:v>239.25360482425455</c:v>
                </c:pt>
                <c:pt idx="10">
                  <c:v>239.09912359522906</c:v>
                </c:pt>
                <c:pt idx="11">
                  <c:v>238.92976646362246</c:v>
                </c:pt>
                <c:pt idx="12">
                  <c:v>238.74309447132302</c:v>
                </c:pt>
                <c:pt idx="13">
                  <c:v>238.53592579448235</c:v>
                </c:pt>
                <c:pt idx="14">
                  <c:v>238.3044752454227</c:v>
                </c:pt>
                <c:pt idx="15">
                  <c:v>238.04499952969775</c:v>
                </c:pt>
                <c:pt idx="16">
                  <c:v>237.75327160082864</c:v>
                </c:pt>
                <c:pt idx="17">
                  <c:v>237.42308391092033</c:v>
                </c:pt>
                <c:pt idx="18">
                  <c:v>237.04904947759005</c:v>
                </c:pt>
                <c:pt idx="19">
                  <c:v>236.62455688865506</c:v>
                </c:pt>
                <c:pt idx="20">
                  <c:v>236.1418138397966</c:v>
                </c:pt>
                <c:pt idx="21">
                  <c:v>235.5931987106754</c:v>
                </c:pt>
                <c:pt idx="22">
                  <c:v>234.96754140331493</c:v>
                </c:pt>
                <c:pt idx="23">
                  <c:v>234.25607593392516</c:v>
                </c:pt>
                <c:pt idx="24">
                  <c:v>233.44538767616302</c:v>
                </c:pt>
                <c:pt idx="25">
                  <c:v>232.52077101512606</c:v>
                </c:pt>
                <c:pt idx="26">
                  <c:v>231.46560410363142</c:v>
                </c:pt>
                <c:pt idx="27">
                  <c:v>230.26576337332736</c:v>
                </c:pt>
                <c:pt idx="28">
                  <c:v>228.89811283413547</c:v>
                </c:pt>
                <c:pt idx="29">
                  <c:v>227.34280684138315</c:v>
                </c:pt>
                <c:pt idx="30">
                  <c:v>225.57706102726672</c:v>
                </c:pt>
                <c:pt idx="31">
                  <c:v>223.57329572850665</c:v>
                </c:pt>
                <c:pt idx="32">
                  <c:v>221.3027135546277</c:v>
                </c:pt>
                <c:pt idx="33">
                  <c:v>218.7387749517197</c:v>
                </c:pt>
                <c:pt idx="34">
                  <c:v>215.85000916946893</c:v>
                </c:pt>
                <c:pt idx="35">
                  <c:v>212.60344880230477</c:v>
                </c:pt>
                <c:pt idx="36">
                  <c:v>208.97315804864218</c:v>
                </c:pt>
                <c:pt idx="37">
                  <c:v>204.92742536807816</c:v>
                </c:pt>
                <c:pt idx="38">
                  <c:v>200.43849875453597</c:v>
                </c:pt>
                <c:pt idx="39">
                  <c:v>195.48927393801824</c:v>
                </c:pt>
                <c:pt idx="40">
                  <c:v>190.06421063497152</c:v>
                </c:pt>
                <c:pt idx="41">
                  <c:v>184.15866504048256</c:v>
                </c:pt>
                <c:pt idx="42">
                  <c:v>177.77716397552405</c:v>
                </c:pt>
                <c:pt idx="43">
                  <c:v>170.94797875929595</c:v>
                </c:pt>
                <c:pt idx="44">
                  <c:v>163.70596438489943</c:v>
                </c:pt>
                <c:pt idx="45">
                  <c:v>156.1071499756825</c:v>
                </c:pt>
                <c:pt idx="46">
                  <c:v>148.22622880094193</c:v>
                </c:pt>
                <c:pt idx="47">
                  <c:v>140.14842831313285</c:v>
                </c:pt>
                <c:pt idx="48">
                  <c:v>131.97133335345654</c:v>
                </c:pt>
                <c:pt idx="49">
                  <c:v>123.81115033548676</c:v>
                </c:pt>
                <c:pt idx="50">
                  <c:v>115.77143258928892</c:v>
                </c:pt>
                <c:pt idx="51">
                  <c:v>107.95687349024124</c:v>
                </c:pt>
                <c:pt idx="52">
                  <c:v>100.47573374078853</c:v>
                </c:pt>
                <c:pt idx="53">
                  <c:v>93.39651047978214</c:v>
                </c:pt>
                <c:pt idx="54">
                  <c:v>86.79425833624514</c:v>
                </c:pt>
                <c:pt idx="55">
                  <c:v>80.71016794515117</c:v>
                </c:pt>
                <c:pt idx="56">
                  <c:v>75.16396322193162</c:v>
                </c:pt>
                <c:pt idx="57">
                  <c:v>70.16878126919109</c:v>
                </c:pt>
                <c:pt idx="58">
                  <c:v>65.70749827511345</c:v>
                </c:pt>
                <c:pt idx="59">
                  <c:v>61.75778177746246</c:v>
                </c:pt>
                <c:pt idx="60">
                  <c:v>58.2834678378474</c:v>
                </c:pt>
              </c:numCache>
            </c:numRef>
          </c:val>
          <c:smooth val="0"/>
        </c:ser>
        <c:ser>
          <c:idx val="2"/>
          <c:order val="2"/>
          <c:tx>
            <c:strRef>
              <c:f>Sheet1!$D$1</c:f>
              <c:strCache>
                <c:ptCount val="1"/>
                <c:pt idx="0">
                  <c:v>SGD lr=0.05</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Sheet1!$D$2:$D$62</c:f>
              <c:numCache>
                <c:formatCode>General</c:formatCode>
                <c:ptCount val="61"/>
                <c:pt idx="0">
                  <c:v>240.36166890641417</c:v>
                </c:pt>
                <c:pt idx="1">
                  <c:v>239.7746751332865</c:v>
                </c:pt>
                <c:pt idx="2">
                  <c:v>239.11905562492638</c:v>
                </c:pt>
                <c:pt idx="3">
                  <c:v>238.10541303851855</c:v>
                </c:pt>
                <c:pt idx="4">
                  <c:v>236.32491872629274</c:v>
                </c:pt>
                <c:pt idx="5">
                  <c:v>232.97279152645848</c:v>
                </c:pt>
                <c:pt idx="6">
                  <c:v>226.58481789416484</c:v>
                </c:pt>
                <c:pt idx="7">
                  <c:v>214.69117459948114</c:v>
                </c:pt>
                <c:pt idx="8">
                  <c:v>193.79793542193835</c:v>
                </c:pt>
                <c:pt idx="9">
                  <c:v>161.55503589365708</c:v>
                </c:pt>
                <c:pt idx="10">
                  <c:v>121.52401078880997</c:v>
                </c:pt>
                <c:pt idx="11">
                  <c:v>84.71352399276726</c:v>
                </c:pt>
                <c:pt idx="12">
                  <c:v>60.40590167292079</c:v>
                </c:pt>
                <c:pt idx="13">
                  <c:v>47.58625493609371</c:v>
                </c:pt>
                <c:pt idx="14">
                  <c:v>41.32991117816557</c:v>
                </c:pt>
                <c:pt idx="15">
                  <c:v>38.11417259592173</c:v>
                </c:pt>
                <c:pt idx="16">
                  <c:v>36.28982306769611</c:v>
                </c:pt>
                <c:pt idx="17">
                  <c:v>35.04254778167811</c:v>
                </c:pt>
                <c:pt idx="18">
                  <c:v>34.197348275109874</c:v>
                </c:pt>
                <c:pt idx="19">
                  <c:v>33.563464449187485</c:v>
                </c:pt>
                <c:pt idx="20">
                  <c:v>33.08391904096469</c:v>
                </c:pt>
                <c:pt idx="21">
                  <c:v>32.69700974420925</c:v>
                </c:pt>
                <c:pt idx="22">
                  <c:v>32.38202144571656</c:v>
                </c:pt>
                <c:pt idx="23">
                  <c:v>32.121008105570226</c:v>
                </c:pt>
                <c:pt idx="24">
                  <c:v>31.897720796398943</c:v>
                </c:pt>
                <c:pt idx="25">
                  <c:v>31.710181571211756</c:v>
                </c:pt>
                <c:pt idx="26">
                  <c:v>31.54810975500149</c:v>
                </c:pt>
                <c:pt idx="27">
                  <c:v>31.409942421928697</c:v>
                </c:pt>
                <c:pt idx="28">
                  <c:v>31.285452476546578</c:v>
                </c:pt>
                <c:pt idx="29">
                  <c:v>31.17701252075775</c:v>
                </c:pt>
                <c:pt idx="30">
                  <c:v>31.083584773813893</c:v>
                </c:pt>
                <c:pt idx="31">
                  <c:v>30.998841713437074</c:v>
                </c:pt>
                <c:pt idx="32">
                  <c:v>30.9222349735076</c:v>
                </c:pt>
                <c:pt idx="33">
                  <c:v>30.859181068364162</c:v>
                </c:pt>
                <c:pt idx="34">
                  <c:v>30.79756333446901</c:v>
                </c:pt>
                <c:pt idx="35">
                  <c:v>30.74028404226099</c:v>
                </c:pt>
                <c:pt idx="36">
                  <c:v>30.68833208497523</c:v>
                </c:pt>
                <c:pt idx="37">
                  <c:v>30.643190304306398</c:v>
                </c:pt>
                <c:pt idx="38">
                  <c:v>30.605146850405593</c:v>
                </c:pt>
                <c:pt idx="39">
                  <c:v>30.566986904162917</c:v>
                </c:pt>
                <c:pt idx="40">
                  <c:v>30.532929956428433</c:v>
                </c:pt>
                <c:pt idx="41">
                  <c:v>30.498361276853505</c:v>
                </c:pt>
                <c:pt idx="42">
                  <c:v>30.470218760475753</c:v>
                </c:pt>
                <c:pt idx="43">
                  <c:v>30.441265867877636</c:v>
                </c:pt>
                <c:pt idx="44">
                  <c:v>30.415809695382706</c:v>
                </c:pt>
                <c:pt idx="45">
                  <c:v>30.394371395970506</c:v>
                </c:pt>
                <c:pt idx="46">
                  <c:v>30.37526227349934</c:v>
                </c:pt>
                <c:pt idx="47">
                  <c:v>30.352536998851967</c:v>
                </c:pt>
                <c:pt idx="48">
                  <c:v>30.334969298075457</c:v>
                </c:pt>
                <c:pt idx="49">
                  <c:v>30.318356420710153</c:v>
                </c:pt>
                <c:pt idx="50">
                  <c:v>30.30090646913021</c:v>
                </c:pt>
                <c:pt idx="51">
                  <c:v>30.28743236164075</c:v>
                </c:pt>
                <c:pt idx="52">
                  <c:v>30.267727597506774</c:v>
                </c:pt>
                <c:pt idx="53">
                  <c:v>30.253529240667557</c:v>
                </c:pt>
                <c:pt idx="54">
                  <c:v>30.24092034948752</c:v>
                </c:pt>
                <c:pt idx="55">
                  <c:v>30.227714096469192</c:v>
                </c:pt>
                <c:pt idx="56">
                  <c:v>30.21886155475953</c:v>
                </c:pt>
                <c:pt idx="57">
                  <c:v>30.20771562364994</c:v>
                </c:pt>
                <c:pt idx="58">
                  <c:v>30.198787734726395</c:v>
                </c:pt>
                <c:pt idx="59">
                  <c:v>30.186767994619757</c:v>
                </c:pt>
                <c:pt idx="60">
                  <c:v>30.175622638256947</c:v>
                </c:pt>
              </c:numCache>
            </c:numRef>
          </c:val>
          <c:smooth val="0"/>
        </c:ser>
        <c:ser>
          <c:idx val="3"/>
          <c:order val="3"/>
          <c:tx>
            <c:strRef>
              <c:f>Sheet1!$E$1</c:f>
              <c:strCache>
                <c:ptCount val="1"/>
                <c:pt idx="0">
                  <c:v>SGD lr=0.2</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lvl>
              </c:multiLvlStrCache>
            </c:multiLvlStrRef>
          </c:cat>
          <c:val>
            <c:numRef>
              <c:f>Sheet1!$E$2:$E$62</c:f>
              <c:numCache>
                <c:formatCode>General</c:formatCode>
                <c:ptCount val="61"/>
                <c:pt idx="0">
                  <c:v>240.36166890641417</c:v>
                </c:pt>
                <c:pt idx="1">
                  <c:v>236.4717556674598</c:v>
                </c:pt>
                <c:pt idx="2">
                  <c:v>196.69464915298275</c:v>
                </c:pt>
                <c:pt idx="3">
                  <c:v>60.48587914931686</c:v>
                </c:pt>
                <c:pt idx="4">
                  <c:v>36.06248931728013</c:v>
                </c:pt>
                <c:pt idx="5">
                  <c:v>32.91591865758726</c:v>
                </c:pt>
                <c:pt idx="6">
                  <c:v>31.791197175196167</c:v>
                </c:pt>
                <c:pt idx="7">
                  <c:v>31.32419743526461</c:v>
                </c:pt>
                <c:pt idx="8">
                  <c:v>30.992443455147423</c:v>
                </c:pt>
                <c:pt idx="9">
                  <c:v>30.76057109376504</c:v>
                </c:pt>
                <c:pt idx="10">
                  <c:v>30.598067957433685</c:v>
                </c:pt>
                <c:pt idx="11">
                  <c:v>30.70744123008231</c:v>
                </c:pt>
                <c:pt idx="12">
                  <c:v>30.436680695609898</c:v>
                </c:pt>
                <c:pt idx="13">
                  <c:v>30.31900332104215</c:v>
                </c:pt>
                <c:pt idx="14">
                  <c:v>30.268401647156324</c:v>
                </c:pt>
                <c:pt idx="15">
                  <c:v>30.24906071646759</c:v>
                </c:pt>
                <c:pt idx="16">
                  <c:v>30.302380977029145</c:v>
                </c:pt>
                <c:pt idx="17">
                  <c:v>30.233157165704075</c:v>
                </c:pt>
                <c:pt idx="18">
                  <c:v>30.213488728634886</c:v>
                </c:pt>
                <c:pt idx="19">
                  <c:v>30.388563370024904</c:v>
                </c:pt>
                <c:pt idx="20">
                  <c:v>30.199878272627252</c:v>
                </c:pt>
                <c:pt idx="21">
                  <c:v>30.224493185896765</c:v>
                </c:pt>
                <c:pt idx="22">
                  <c:v>30.342410291258787</c:v>
                </c:pt>
                <c:pt idx="23">
                  <c:v>30.24789668096449</c:v>
                </c:pt>
                <c:pt idx="24">
                  <c:v>30.12602245144734</c:v>
                </c:pt>
                <c:pt idx="25">
                  <c:v>30.195247391613883</c:v>
                </c:pt>
                <c:pt idx="26">
                  <c:v>30.102828912746947</c:v>
                </c:pt>
                <c:pt idx="27">
                  <c:v>30.14030584748008</c:v>
                </c:pt>
                <c:pt idx="28">
                  <c:v>30.146347075288332</c:v>
                </c:pt>
                <c:pt idx="29">
                  <c:v>30.10837955019062</c:v>
                </c:pt>
                <c:pt idx="30">
                  <c:v>30.134791768153395</c:v>
                </c:pt>
                <c:pt idx="31">
                  <c:v>30.13547896193423</c:v>
                </c:pt>
                <c:pt idx="32">
                  <c:v>30.176589524931423</c:v>
                </c:pt>
                <c:pt idx="33">
                  <c:v>30.205608972960206</c:v>
                </c:pt>
                <c:pt idx="34">
                  <c:v>30.208435832278347</c:v>
                </c:pt>
                <c:pt idx="35">
                  <c:v>30.09838918144002</c:v>
                </c:pt>
                <c:pt idx="36">
                  <c:v>30.142226387672917</c:v>
                </c:pt>
                <c:pt idx="37">
                  <c:v>30.040391584255282</c:v>
                </c:pt>
                <c:pt idx="38">
                  <c:v>30.248810179738157</c:v>
                </c:pt>
                <c:pt idx="39">
                  <c:v>30.18185417800045</c:v>
                </c:pt>
                <c:pt idx="40">
                  <c:v>30.14068548187268</c:v>
                </c:pt>
                <c:pt idx="41">
                  <c:v>30.06630225519875</c:v>
                </c:pt>
                <c:pt idx="42">
                  <c:v>30.059155969355064</c:v>
                </c:pt>
                <c:pt idx="43">
                  <c:v>30.072208950372467</c:v>
                </c:pt>
                <c:pt idx="44">
                  <c:v>30.057719985229046</c:v>
                </c:pt>
                <c:pt idx="45">
                  <c:v>30.143162719572565</c:v>
                </c:pt>
                <c:pt idx="46">
                  <c:v>30.13954735538234</c:v>
                </c:pt>
                <c:pt idx="47">
                  <c:v>30.053256623769713</c:v>
                </c:pt>
                <c:pt idx="48">
                  <c:v>30.060316330452878</c:v>
                </c:pt>
                <c:pt idx="49">
                  <c:v>30.127132974936508</c:v>
                </c:pt>
                <c:pt idx="50">
                  <c:v>30.10566962235594</c:v>
                </c:pt>
                <c:pt idx="51">
                  <c:v>30.130053529915042</c:v>
                </c:pt>
                <c:pt idx="52">
                  <c:v>30.058362580903626</c:v>
                </c:pt>
                <c:pt idx="53">
                  <c:v>30.075037225738317</c:v>
                </c:pt>
                <c:pt idx="54">
                  <c:v>30.032025744410284</c:v>
                </c:pt>
                <c:pt idx="55">
                  <c:v>29.995318925350205</c:v>
                </c:pt>
                <c:pt idx="56">
                  <c:v>30.079445919014766</c:v>
                </c:pt>
                <c:pt idx="57">
                  <c:v>30.16759000097732</c:v>
                </c:pt>
                <c:pt idx="58">
                  <c:v>30.13906562614411</c:v>
                </c:pt>
                <c:pt idx="59">
                  <c:v>30.12359647807226</c:v>
                </c:pt>
                <c:pt idx="60">
                  <c:v>30.079313817087353</c:v>
                </c:pt>
              </c:numCache>
            </c:numRef>
          </c:val>
          <c:smooth val="0"/>
        </c:ser>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5F73"/>
                    </a:solidFill>
                    <a:latin typeface="Arial"/>
                  </a:defRPr>
                </a:pPr>
                <a:r>
                  <a:rPr sz="1000" b="0" i="0" u="none" strike="noStrike">
                    <a:solidFill>
                      <a:srgbClr val="5B5F73"/>
                    </a:solidFill>
                    <a:latin typeface="Arial"/>
                  </a:rPr>
                  <a:t>passes over the data</a:t>
                </a:r>
              </a:p>
            </c:rich>
          </c:tx>
          <c:layout/>
          <c:overlay val="0"/>
        </c:title>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logBase val="10"/>
          <c:orientation val="minMax"/>
          <c:max val="300"/>
          <c:min val="20"/>
        </c:scaling>
        <c:delete val="0"/>
        <c:axPos val="l"/>
        <c:majorGridlines>
          <c:spPr>
            <a:ln w="9525" cap="flat">
              <a:solidFill>
                <a:srgbClr val="E1E0D9"/>
              </a:solidFill>
              <a:prstDash val="solid"/>
              <a:round/>
            </a:ln>
          </c:spPr>
        </c:majorGridlines>
        <c:title>
          <c:tx>
            <c:rich>
              <a:bodyPr/>
              <a:lstStyle/>
              <a:p>
                <a:pPr>
                  <a:defRPr sz="1000" b="0" i="0" u="none" strike="noStrike">
                    <a:solidFill>
                      <a:srgbClr val="5B5F73"/>
                    </a:solidFill>
                    <a:latin typeface="Arial"/>
                  </a:defRPr>
                </a:pPr>
                <a:r>
                  <a:rPr sz="1000" b="0" i="0" u="none" strike="noStrike">
                    <a:solidFill>
                      <a:srgbClr val="5B5F73"/>
                    </a:solidFill>
                    <a:latin typeface="Arial"/>
                  </a:rPr>
                  <a:t>loss (log)</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B5F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Exercise 1: same split, same 1,297 movies (test RMSE)</a:t>
            </a:r>
          </a:p>
        </c:rich>
      </c:tx>
      <c:layout/>
      <c:overlay val="0"/>
    </c:title>
    <c:autoTitleDeleted val="0"/>
    <c:plotArea>
      <c:layout/>
      <c:barChart>
        <c:barDir val="bar"/>
        <c:grouping val="clustered"/>
        <c:varyColors val="0"/>
        <c:ser>
          <c:idx val="0"/>
          <c:order val="0"/>
          <c:tx>
            <c:strRef>
              <c:f>Sheet1!$B$1</c:f>
              <c:strCache>
                <c:ptCount val="1"/>
                <c:pt idx="0">
                  <c:v>test RMSE</c:v>
                </c:pt>
              </c:strCache>
            </c:strRef>
          </c:tx>
          <c:spPr>
            <a:solidFill>
              <a:srgbClr val="EB6834"/>
            </a:solidFill>
            <a:effectLst/>
          </c:spPr>
          <c:invertIfNegative val="0"/>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dPt>
            <c:idx val="2"/>
            <c:invertIfNegative val="0"/>
            <c:bubble3D val="0"/>
            <c:spPr>
              <a:solidFill>
                <a:srgbClr val="B7B9C6"/>
              </a:solidFill>
              <a:effectLst/>
            </c:spPr>
          </c:dPt>
          <c:dPt>
            <c:idx val="3"/>
            <c:invertIfNegative val="0"/>
            <c:bubble3D val="0"/>
            <c:spPr>
              <a:solidFill>
                <a:srgbClr val="2A78D6"/>
              </a:solidFill>
              <a:effectLst/>
            </c:spPr>
          </c:dPt>
          <c:dPt>
            <c:idx val="4"/>
            <c:invertIfNegative val="0"/>
            <c:bubble3D val="0"/>
            <c:spPr>
              <a:solidFill>
                <a:srgbClr val="B7B9C6"/>
              </a:solidFill>
              <a:effectLst/>
            </c:spPr>
          </c:dPt>
          <c:dPt>
            <c:idx val="5"/>
            <c:invertIfNegative val="0"/>
            <c:bubble3D val="0"/>
            <c:spPr>
              <a:solidFill>
                <a:srgbClr val="B7B9C6"/>
              </a:solidFill>
              <a:effectLst/>
            </c:spPr>
          </c:dPt>
          <c:cat>
            <c:multiLvlStrRef>
              <c:f>Sheet1!$A$2:$A$7</c:f>
              <c:multiLvlStrCache>
                <c:ptCount val="6"/>
                <c:lvl>
                  <c:pt idx="0">
                    <c:v>Matrix factorization (SVD)</c:v>
                  </c:pt>
                  <c:pt idx="1">
                    <c:v>User-based CF</c:v>
                  </c:pt>
                  <c:pt idx="2">
                    <c:v>Baseline μ + b_u + b_i</c:v>
                  </c:pt>
                  <c:pt idx="3">
                    <c:v>Item-based CF</c:v>
                  </c:pt>
                  <c:pt idx="4">
                    <c:v>User's own mean</c:v>
                  </c:pt>
                  <c:pt idx="5">
                    <c:v>Global mean</c:v>
                  </c:pt>
                </c:lvl>
              </c:multiLvlStrCache>
            </c:multiLvlStrRef>
          </c:cat>
          <c:val>
            <c:numRef>
              <c:f>Sheet1!$B$2:$B$7</c:f>
              <c:numCache>
                <c:formatCode>General</c:formatCode>
                <c:ptCount val="6"/>
                <c:pt idx="0">
                  <c:v>0.8358292753170729</c:v>
                </c:pt>
                <c:pt idx="1">
                  <c:v>0.8381087971595071</c:v>
                </c:pt>
                <c:pt idx="2">
                  <c:v>0.8414742632592286</c:v>
                </c:pt>
                <c:pt idx="3">
                  <c:v>0.8515123144467542</c:v>
                </c:pt>
                <c:pt idx="4">
                  <c:v>0.9125103435496686</c:v>
                </c:pt>
                <c:pt idx="5">
                  <c:v>1.0014967569476385</c:v>
                </c:pt>
              </c:numCache>
            </c:numRef>
          </c:val>
        </c:ser>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1.05"/>
          <c:min val="0.8"/>
        </c:scaling>
        <c:delete val="0"/>
        <c:axPos val="b"/>
        <c:majorGridlines>
          <c:spPr>
            <a:ln w="9525" cap="flat">
              <a:solidFill>
                <a:srgbClr val="E1E0D9"/>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Exercise 2: RMSE vs embedding size d</a:t>
            </a:r>
          </a:p>
        </c:rich>
      </c:tx>
      <c:layout/>
      <c:overlay val="0"/>
    </c:title>
    <c:autoTitleDeleted val="0"/>
    <c:plotArea>
      <c:layout/>
      <c:lineChart>
        <c:varyColors val="0"/>
        <c:ser>
          <c:idx val="0"/>
          <c:order val="0"/>
          <c:tx>
            <c:strRef>
              <c:f>Sheet1!$B$1</c:f>
              <c:strCache>
                <c:ptCount val="1"/>
                <c:pt idx="0">
                  <c:v>test RMSE</c:v>
                </c:pt>
              </c:strCache>
            </c:strRef>
          </c:tx>
          <c:spPr>
            <a:solidFill>
              <a:srgbClr val="2A78D6"/>
            </a:solidFill>
            <a:ln w="25400" cap="flat">
              <a:solidFill>
                <a:srgbClr val="2A78D6"/>
              </a:solidFill>
              <a:prstDash val="solid"/>
              <a:round/>
            </a:ln>
            <a:effectLst/>
          </c:spPr>
          <c:invertIfNegative val="0"/>
          <c:dLbls>
            <c:numFmt formatCode="0.000" sourceLinked="0"/>
            <c:txPr>
              <a:bodyPr/>
              <a:lstStyle/>
              <a:p>
                <a:pPr>
                  <a:defRPr b="0" i="0" strike="noStrike" sz="1000" u="none">
                    <a:solidFill>
                      <a:srgbClr val="16182D"/>
                    </a:solidFill>
                    <a:latin typeface="+mn-lt"/>
                  </a:defRPr>
                </a:pPr>
              </a:p>
            </c:txPr>
            <c:dLblPos val="t"/>
            <c:showLegendKey val="0"/>
            <c:showVal val="1"/>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Sheet1!$A$2:$A$5</c:f>
              <c:multiLvlStrCache>
                <c:ptCount val="4"/>
                <c:lvl>
                  <c:pt idx="0">
                    <c:v>d = 5</c:v>
                  </c:pt>
                  <c:pt idx="1">
                    <c:v>d = 20</c:v>
                  </c:pt>
                  <c:pt idx="2">
                    <c:v>d = 50</c:v>
                  </c:pt>
                  <c:pt idx="3">
                    <c:v>d = 100</c:v>
                  </c:pt>
                </c:lvl>
              </c:multiLvlStrCache>
            </c:multiLvlStrRef>
          </c:cat>
          <c:val>
            <c:numRef>
              <c:f>Sheet1!$B$2:$B$5</c:f>
              <c:numCache>
                <c:formatCode>General</c:formatCode>
                <c:ptCount val="4"/>
                <c:pt idx="0">
                  <c:v>0.8769905054186484</c:v>
                </c:pt>
                <c:pt idx="1">
                  <c:v>0.878010495508256</c:v>
                </c:pt>
                <c:pt idx="2">
                  <c:v>0.8774680781839198</c:v>
                </c:pt>
                <c:pt idx="3">
                  <c:v>0.8807462819979623</c:v>
                </c:pt>
              </c:numCache>
            </c:numRef>
          </c:val>
          <c:smooth val="0"/>
        </c:ser>
        <c:ser>
          <c:idx val="1"/>
          <c:order val="1"/>
          <c:tx>
            <c:strRef>
              <c:f>Sheet1!$C$1</c:f>
              <c:strCache>
                <c:ptCount val="1"/>
                <c:pt idx="0">
                  <c:v>train RMSE</c:v>
                </c:pt>
              </c:strCache>
            </c:strRef>
          </c:tx>
          <c:spPr>
            <a:solidFill>
              <a:srgbClr val="EB6834"/>
            </a:solidFill>
            <a:ln w="25400" cap="flat">
              <a:solidFill>
                <a:srgbClr val="EB6834"/>
              </a:solidFill>
              <a:prstDash val="solid"/>
              <a:round/>
            </a:ln>
            <a:effectLst/>
          </c:spPr>
          <c:invertIfNegative val="0"/>
          <c:dLbls>
            <c:numFmt formatCode="0.000" sourceLinked="0"/>
            <c:txPr>
              <a:bodyPr/>
              <a:lstStyle/>
              <a:p>
                <a:pPr>
                  <a:defRPr b="0" i="0" strike="noStrike" sz="1000" u="none">
                    <a:solidFill>
                      <a:srgbClr val="16182D"/>
                    </a:solidFill>
                    <a:latin typeface="+mn-lt"/>
                  </a:defRPr>
                </a:pPr>
              </a:p>
            </c:txPr>
            <c:dLblPos val="t"/>
            <c:showLegendKey val="0"/>
            <c:showVal val="1"/>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Sheet1!$A$2:$A$5</c:f>
              <c:multiLvlStrCache>
                <c:ptCount val="4"/>
                <c:lvl>
                  <c:pt idx="0">
                    <c:v>d = 5</c:v>
                  </c:pt>
                  <c:pt idx="1">
                    <c:v>d = 20</c:v>
                  </c:pt>
                  <c:pt idx="2">
                    <c:v>d = 50</c:v>
                  </c:pt>
                  <c:pt idx="3">
                    <c:v>d = 100</c:v>
                  </c:pt>
                </c:lvl>
              </c:multiLvlStrCache>
            </c:multiLvlStrRef>
          </c:cat>
          <c:val>
            <c:numRef>
              <c:f>Sheet1!$C$2:$C$5</c:f>
              <c:numCache>
                <c:formatCode>General</c:formatCode>
                <c:ptCount val="4"/>
                <c:pt idx="0">
                  <c:v>0.8129482336990081</c:v>
                </c:pt>
                <c:pt idx="1">
                  <c:v>0.7766134548746555</c:v>
                </c:pt>
                <c:pt idx="2">
                  <c:v>0.7150640856999781</c:v>
                </c:pt>
                <c:pt idx="3">
                  <c:v>0.6353970193711276</c:v>
                </c:pt>
              </c:numCache>
            </c:numRef>
          </c:val>
          <c:smooth val="0"/>
        </c:ser>
        <c:dLbls>
          <c:numFmt formatCode="0.000" sourceLinked="0"/>
          <c:txPr>
            <a:bodyPr/>
            <a:lstStyle/>
            <a:p>
              <a:pPr>
                <a:defRPr b="0" i="0" strike="noStrike" sz="1000" u="none">
                  <a:solidFill>
                    <a:srgbClr val="16182D"/>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0.95"/>
          <c:min val="0.6"/>
        </c:scaling>
        <c:delete val="0"/>
        <c:axPos val="l"/>
        <c:majorGridlines>
          <c:spPr>
            <a:ln w="9525" cap="flat">
              <a:solidFill>
                <a:srgbClr val="E1E0D9"/>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000">
              <a:solidFill>
                <a:srgbClr val="5B5F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Held-out precision@10 by confidence weight α (20% of each user's interactions hidden)</a:t>
            </a:r>
          </a:p>
        </c:rich>
      </c:tx>
      <c:layout/>
      <c:overlay val="0"/>
    </c:title>
    <c:autoTitleDeleted val="0"/>
    <c:plotArea>
      <c:layout/>
      <c:barChart>
        <c:barDir val="col"/>
        <c:grouping val="clustered"/>
        <c:varyColors val="0"/>
        <c:ser>
          <c:idx val="0"/>
          <c:order val="0"/>
          <c:tx>
            <c:strRef>
              <c:f>Sheet1!$B$1</c:f>
              <c:strCache>
                <c:ptCount val="1"/>
                <c:pt idx="0">
                  <c:v>precision@10</c:v>
                </c:pt>
              </c:strCache>
            </c:strRef>
          </c:tx>
          <c:spPr>
            <a:solidFill>
              <a:srgbClr val="B7B9C6"/>
            </a:solidFill>
            <a:effectLst/>
          </c:spPr>
          <c:invertIfNegative val="0"/>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dPt>
            <c:idx val="0"/>
            <c:invertIfNegative val="0"/>
            <c:bubble3D val="0"/>
            <c:spPr>
              <a:solidFill>
                <a:srgbClr val="B7B9C6"/>
              </a:solidFill>
              <a:effectLst/>
            </c:spPr>
          </c:dPt>
          <c:dPt>
            <c:idx val="1"/>
            <c:invertIfNegative val="0"/>
            <c:bubble3D val="0"/>
            <c:spPr>
              <a:solidFill>
                <a:srgbClr val="2A78D6"/>
              </a:solidFill>
              <a:effectLst/>
            </c:spPr>
          </c:dPt>
          <c:dPt>
            <c:idx val="2"/>
            <c:invertIfNegative val="0"/>
            <c:bubble3D val="0"/>
            <c:spPr>
              <a:solidFill>
                <a:srgbClr val="EB6834"/>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2A78D6"/>
              </a:solidFill>
              <a:effectLst/>
            </c:spPr>
          </c:dPt>
          <c:cat>
            <c:multiLvlStrRef>
              <c:f>Sheet1!$A$2:$A$8</c:f>
              <c:multiLvlStrCache>
                <c:ptCount val="7"/>
                <c:lvl>
                  <c:pt idx="0">
                    <c:v>Popularity</c:v>
                  </c:pt>
                  <c:pt idx="1">
                    <c:v>α=0</c:v>
                  </c:pt>
                  <c:pt idx="2">
                    <c:v>α=1</c:v>
                  </c:pt>
                  <c:pt idx="3">
                    <c:v>α=2</c:v>
                  </c:pt>
                  <c:pt idx="4">
                    <c:v>α=5</c:v>
                  </c:pt>
                  <c:pt idx="5">
                    <c:v>α=10</c:v>
                  </c:pt>
                  <c:pt idx="6">
                    <c:v>α=40</c:v>
                  </c:pt>
                </c:lvl>
              </c:multiLvlStrCache>
            </c:multiLvlStrRef>
          </c:cat>
          <c:val>
            <c:numRef>
              <c:f>Sheet1!$B$2:$B$8</c:f>
              <c:numCache>
                <c:formatCode>General</c:formatCode>
                <c:ptCount val="7"/>
                <c:pt idx="0">
                  <c:v>0.15721311475409838</c:v>
                </c:pt>
                <c:pt idx="1">
                  <c:v>0.2680327868852459</c:v>
                </c:pt>
                <c:pt idx="2">
                  <c:v>0.27459016393442626</c:v>
                </c:pt>
                <c:pt idx="3">
                  <c:v>0.25934426229508195</c:v>
                </c:pt>
                <c:pt idx="4">
                  <c:v>0.22672131147540986</c:v>
                </c:pt>
                <c:pt idx="5">
                  <c:v>0.18540983606557376</c:v>
                </c:pt>
                <c:pt idx="6">
                  <c:v>0.1019672131147541</c:v>
                </c:pt>
              </c:numCache>
            </c:numRef>
          </c:val>
        </c:ser>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Held-out precision@10 (same split as Phase 6)</a:t>
            </a:r>
          </a:p>
        </c:rich>
      </c:tx>
      <c:layout/>
      <c:overlay val="0"/>
    </c:title>
    <c:autoTitleDeleted val="0"/>
    <c:plotArea>
      <c:layout/>
      <c:barChart>
        <c:barDir val="col"/>
        <c:grouping val="clustered"/>
        <c:varyColors val="0"/>
        <c:ser>
          <c:idx val="0"/>
          <c:order val="0"/>
          <c:tx>
            <c:strRef>
              <c:f>Sheet1!$B$1</c:f>
              <c:strCache>
                <c:ptCount val="1"/>
                <c:pt idx="0">
                  <c:v>precision@10</c:v>
                </c:pt>
              </c:strCache>
            </c:strRef>
          </c:tx>
          <c:spPr>
            <a:solidFill>
              <a:srgbClr val="B7B9C6"/>
            </a:solidFill>
            <a:effectLst/>
          </c:spPr>
          <c:invertIfNegative val="0"/>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dPt>
            <c:idx val="0"/>
            <c:invertIfNegative val="0"/>
            <c:bubble3D val="0"/>
            <c:spPr>
              <a:solidFill>
                <a:srgbClr val="B7B9C6"/>
              </a:solidFill>
              <a:effectLst/>
            </c:spPr>
          </c:dPt>
          <c:dPt>
            <c:idx val="1"/>
            <c:invertIfNegative val="0"/>
            <c:bubble3D val="0"/>
            <c:spPr>
              <a:solidFill>
                <a:srgbClr val="EB6834"/>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cat>
            <c:multiLvlStrRef>
              <c:f>Sheet1!$A$2:$A$6</c:f>
              <c:multiLvlStrCache>
                <c:ptCount val="5"/>
                <c:lvl>
                  <c:pt idx="0">
                    <c:v>Popularity</c:v>
                  </c:pt>
                  <c:pt idx="1">
                    <c:v>ALS (α = 1)</c:v>
                  </c:pt>
                  <c:pt idx="2">
                    <c:v>BPR 50 it.</c:v>
                  </c:pt>
                  <c:pt idx="3">
                    <c:v>BPR 100 it.</c:v>
                  </c:pt>
                  <c:pt idx="4">
                    <c:v>BPR 300 it.</c:v>
                  </c:pt>
                </c:lvl>
              </c:multiLvlStrCache>
            </c:multiLvlStrRef>
          </c:cat>
          <c:val>
            <c:numRef>
              <c:f>Sheet1!$B$2:$B$6</c:f>
              <c:numCache>
                <c:formatCode>General</c:formatCode>
                <c:ptCount val="5"/>
                <c:pt idx="0">
                  <c:v>0.15721311475409838</c:v>
                </c:pt>
                <c:pt idx="1">
                  <c:v>0.27459016393442626</c:v>
                </c:pt>
                <c:pt idx="2">
                  <c:v>0.20442622950819675</c:v>
                </c:pt>
                <c:pt idx="3">
                  <c:v>0.1857377049180328</c:v>
                </c:pt>
                <c:pt idx="4">
                  <c:v>0.14803278688524593</c:v>
                </c:pt>
              </c:numCache>
            </c:numRef>
          </c:val>
        </c:ser>
        <c:dLbls>
          <c:numFmt formatCode="0.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Exercise 4: shared titles in ALS &amp; BPR top-5 (610 users)</a:t>
            </a:r>
          </a:p>
        </c:rich>
      </c:tx>
      <c:layout/>
      <c:overlay val="0"/>
    </c:title>
    <c:autoTitleDeleted val="0"/>
    <c:plotArea>
      <c:layout/>
      <c:barChart>
        <c:barDir val="col"/>
        <c:grouping val="clustered"/>
        <c:varyColors val="0"/>
        <c:ser>
          <c:idx val="0"/>
          <c:order val="0"/>
          <c:tx>
            <c:strRef>
              <c:f>Sheet1!$B$1</c:f>
              <c:strCache>
                <c:ptCount val="1"/>
                <c:pt idx="0">
                  <c:v>users</c:v>
                </c:pt>
              </c:strCache>
            </c:strRef>
          </c:tx>
          <c:spPr>
            <a:solidFill>
              <a:srgbClr val="2A78D6"/>
            </a:solidFill>
            <a:effectLst/>
          </c:spPr>
          <c:invertIfNegative val="0"/>
          <c:dLbls>
            <c:numFmt formatCode="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cat>
            <c:multiLvlStrRef>
              <c:f>Sheet1!$A$2:$A$7</c:f>
              <c:multiLvlStrCache>
                <c:ptCount val="6"/>
                <c:lvl>
                  <c:pt idx="0">
                    <c:v>0</c:v>
                  </c:pt>
                  <c:pt idx="1">
                    <c:v>1</c:v>
                  </c:pt>
                  <c:pt idx="2">
                    <c:v>2</c:v>
                  </c:pt>
                  <c:pt idx="3">
                    <c:v>3</c:v>
                  </c:pt>
                  <c:pt idx="4">
                    <c:v>4</c:v>
                  </c:pt>
                  <c:pt idx="5">
                    <c:v>5</c:v>
                  </c:pt>
                </c:lvl>
              </c:multiLvlStrCache>
            </c:multiLvlStrRef>
          </c:cat>
          <c:val>
            <c:numRef>
              <c:f>Sheet1!$B$2:$B$7</c:f>
              <c:numCache>
                <c:formatCode>General</c:formatCode>
                <c:ptCount val="6"/>
                <c:pt idx="0">
                  <c:v>151</c:v>
                </c:pt>
                <c:pt idx="1">
                  <c:v>190</c:v>
                </c:pt>
                <c:pt idx="2">
                  <c:v>164</c:v>
                </c:pt>
                <c:pt idx="3">
                  <c:v>75</c:v>
                </c:pt>
                <c:pt idx="4">
                  <c:v>29</c:v>
                </c:pt>
                <c:pt idx="5">
                  <c:v>1</c:v>
                </c:pt>
              </c:numCache>
            </c:numRef>
          </c:val>
        </c:ser>
        <c:dLbls>
          <c:numFmt formatCode="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5F73"/>
                    </a:solidFill>
                    <a:latin typeface="Arial"/>
                  </a:defRPr>
                </a:pPr>
                <a:r>
                  <a:rPr sz="1000" b="0" i="0" u="none" strike="noStrike">
                    <a:solidFill>
                      <a:srgbClr val="5B5F73"/>
                    </a:solidFill>
                    <a:latin typeface="Arial"/>
                  </a:rPr>
                  <a:t>titles shared out of 5</a:t>
                </a:r>
              </a:p>
            </c:rich>
          </c:tx>
          <c:layout/>
          <c:overlay val="0"/>
        </c:title>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220"/>
          <c:min val="0"/>
        </c:scaling>
        <c:delete val="0"/>
        <c:axPos val="l"/>
        <c:majorGridlines>
          <c:spPr>
            <a:ln w="9525" cap="flat">
              <a:solidFill>
                <a:srgbClr val="E1E0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Median ALS item-embedding length ‖y_i‖ by number of ratings</a:t>
            </a:r>
          </a:p>
        </c:rich>
      </c:tx>
      <c:layout/>
      <c:overlay val="0"/>
    </c:title>
    <c:autoTitleDeleted val="0"/>
    <c:plotArea>
      <c:layout/>
      <c:barChart>
        <c:barDir val="col"/>
        <c:grouping val="clustered"/>
        <c:varyColors val="0"/>
        <c:ser>
          <c:idx val="0"/>
          <c:order val="0"/>
          <c:tx>
            <c:strRef>
              <c:f>Sheet1!$B$1</c:f>
              <c:strCache>
                <c:ptCount val="1"/>
                <c:pt idx="0">
                  <c:v>median ALS norm</c:v>
                </c:pt>
              </c:strCache>
            </c:strRef>
          </c:tx>
          <c:spPr>
            <a:solidFill>
              <a:srgbClr val="2A78D6"/>
            </a:solidFill>
            <a:effectLst/>
          </c:spPr>
          <c:invertIfNegative val="0"/>
          <c:dLbls>
            <c:numFmt formatCode="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cat>
            <c:multiLvlStrRef>
              <c:f>Sheet1!$A$2:$A$9</c:f>
              <c:multiLvlStrCache>
                <c:ptCount val="8"/>
                <c:lvl>
                  <c:pt idx="0">
                    <c:v>1</c:v>
                  </c:pt>
                  <c:pt idx="1">
                    <c:v>2–3</c:v>
                  </c:pt>
                  <c:pt idx="2">
                    <c:v>4–7</c:v>
                  </c:pt>
                  <c:pt idx="3">
                    <c:v>8–15</c:v>
                  </c:pt>
                  <c:pt idx="4">
                    <c:v>16–31</c:v>
                  </c:pt>
                  <c:pt idx="5">
                    <c:v>32–63</c:v>
                  </c:pt>
                  <c:pt idx="6">
                    <c:v>64–127</c:v>
                  </c:pt>
                  <c:pt idx="7">
                    <c:v>128+</c:v>
                  </c:pt>
                </c:lvl>
              </c:multiLvlStrCache>
            </c:multiLvlStrRef>
          </c:cat>
          <c:val>
            <c:numRef>
              <c:f>Sheet1!$B$2:$B$9</c:f>
              <c:numCache>
                <c:formatCode>General</c:formatCode>
                <c:ptCount val="8"/>
                <c:pt idx="0">
                  <c:v>0.06526034325361252</c:v>
                </c:pt>
                <c:pt idx="1">
                  <c:v>0.0883776992559433</c:v>
                </c:pt>
                <c:pt idx="2">
                  <c:v>0.12078814953565598</c:v>
                </c:pt>
                <c:pt idx="3">
                  <c:v>0.1569402515888214</c:v>
                </c:pt>
                <c:pt idx="4">
                  <c:v>0.2005375474691391</c:v>
                </c:pt>
                <c:pt idx="5">
                  <c:v>0.24741971492767334</c:v>
                </c:pt>
                <c:pt idx="6">
                  <c:v>0.30914050340652466</c:v>
                </c:pt>
                <c:pt idx="7">
                  <c:v>0.4227525293827057</c:v>
                </c:pt>
              </c:numCache>
            </c:numRef>
          </c:val>
        </c:ser>
        <c:dLbls>
          <c:numFmt formatCode="0.00" sourceLinked="0"/>
          <c:txPr>
            <a:bodyPr/>
            <a:lstStyle/>
            <a:p>
              <a:pPr>
                <a:defRPr b="0" i="0" strike="noStrike" sz="1000" u="none">
                  <a:solidFill>
                    <a:srgbClr val="16182D"/>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5F73"/>
                    </a:solidFill>
                    <a:latin typeface="Arial"/>
                  </a:defRPr>
                </a:pPr>
                <a:r>
                  <a:rPr sz="1000" b="0" i="0" u="none" strike="noStrike">
                    <a:solidFill>
                      <a:srgbClr val="5B5F73"/>
                    </a:solidFill>
                    <a:latin typeface="Arial"/>
                  </a:rPr>
                  <a:t>ratings per movie (bucket)</a:t>
                </a:r>
              </a:p>
            </c:rich>
          </c:tx>
          <c:layout/>
          <c:overlay val="0"/>
        </c:title>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6182D"/>
                </a:solidFill>
                <a:latin typeface="+mj-lt"/>
              </a:defRPr>
            </a:pPr>
            <a:r>
              <a:rPr sz="1300" b="1" i="0" u="none" strike="noStrike">
                <a:solidFill>
                  <a:srgbClr val="16182D"/>
                </a:solidFill>
                <a:latin typeface="+mj-lt"/>
              </a:rPr>
              <a:t>Exercise 5: 5 × 5 toy, generous and harsh raters, pure-Python loops</a:t>
            </a:r>
          </a:p>
        </c:rich>
      </c:tx>
      <c:layout/>
      <c:overlay val="0"/>
    </c:title>
    <c:autoTitleDeleted val="0"/>
    <c:plotArea>
      <c:layout/>
      <c:barChart>
        <c:barDir val="col"/>
        <c:grouping val="clustered"/>
        <c:varyColors val="0"/>
        <c:ser>
          <c:idx val="0"/>
          <c:order val="0"/>
          <c:tx>
            <c:strRef>
              <c:f>Sheet1!$B$1</c:f>
              <c:strCache>
                <c:ptCount val="1"/>
                <c:pt idx="0">
                  <c:v>plain cosine (raw ratings)</c:v>
                </c:pt>
              </c:strCache>
            </c:strRef>
          </c:tx>
          <c:spPr>
            <a:solidFill>
              <a:srgbClr val="B7B9C6"/>
            </a:solidFill>
            <a:effectLst/>
          </c:spPr>
          <c:invertIfNegative val="0"/>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cat>
            <c:multiLvlStrRef>
              <c:f>Sheet1!$A$2:$A$11</c:f>
              <c:multiLvlStrCache>
                <c:ptCount val="10"/>
                <c:lvl>
                  <c:pt idx="0">
                    <c:v>M1-M2</c:v>
                  </c:pt>
                  <c:pt idx="1">
                    <c:v>M1-M3</c:v>
                  </c:pt>
                  <c:pt idx="2">
                    <c:v>M1-M4</c:v>
                  </c:pt>
                  <c:pt idx="3">
                    <c:v>M1-M5</c:v>
                  </c:pt>
                  <c:pt idx="4">
                    <c:v>M2-M3</c:v>
                  </c:pt>
                  <c:pt idx="5">
                    <c:v>M2-M4</c:v>
                  </c:pt>
                  <c:pt idx="6">
                    <c:v>M2-M5</c:v>
                  </c:pt>
                  <c:pt idx="7">
                    <c:v>M3-M4</c:v>
                  </c:pt>
                  <c:pt idx="8">
                    <c:v>M3-M5</c:v>
                  </c:pt>
                  <c:pt idx="9">
                    <c:v>M4-M5</c:v>
                  </c:pt>
                </c:lvl>
              </c:multiLvlStrCache>
            </c:multiLvlStrRef>
          </c:cat>
          <c:val>
            <c:numRef>
              <c:f>Sheet1!$B$2:$B$11</c:f>
              <c:numCache>
                <c:formatCode>General</c:formatCode>
                <c:ptCount val="10"/>
                <c:pt idx="0">
                  <c:v>0.9561828874675149</c:v>
                </c:pt>
                <c:pt idx="1">
                  <c:v>0.9940150117686348</c:v>
                </c:pt>
                <c:pt idx="2">
                  <c:v>0.9561828874675148</c:v>
                </c:pt>
                <c:pt idx="3">
                  <c:v>0.9778024140774094</c:v>
                </c:pt>
                <c:pt idx="4">
                  <c:v>0.8918825850158446</c:v>
                </c:pt>
                <c:pt idx="5">
                  <c:v>0.968962790249909</c:v>
                </c:pt>
                <c:pt idx="6">
                  <c:v>0.8728715609439694</c:v>
                </c:pt>
                <c:pt idx="7">
                  <c:v>0.9938079899999065</c:v>
                </c:pt>
                <c:pt idx="8">
                  <c:v>0.9999999999999998</c:v>
                </c:pt>
                <c:pt idx="9">
                  <c:v>0.8682431421244593</c:v>
                </c:pt>
              </c:numCache>
            </c:numRef>
          </c:val>
        </c:ser>
        <c:ser>
          <c:idx val="1"/>
          <c:order val="1"/>
          <c:tx>
            <c:strRef>
              <c:f>Sheet1!$C$1</c:f>
              <c:strCache>
                <c:ptCount val="1"/>
                <c:pt idx="0">
                  <c:v>adjusted cosine (user-centred)</c:v>
                </c:pt>
              </c:strCache>
            </c:strRef>
          </c:tx>
          <c:spPr>
            <a:solidFill>
              <a:srgbClr val="2A78D6"/>
            </a:solidFill>
            <a:effectLst/>
          </c:spPr>
          <c:invertIfNegative val="0"/>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cat>
            <c:multiLvlStrRef>
              <c:f>Sheet1!$A$2:$A$11</c:f>
              <c:multiLvlStrCache>
                <c:ptCount val="10"/>
                <c:lvl>
                  <c:pt idx="0">
                    <c:v>M1-M2</c:v>
                  </c:pt>
                  <c:pt idx="1">
                    <c:v>M1-M3</c:v>
                  </c:pt>
                  <c:pt idx="2">
                    <c:v>M1-M4</c:v>
                  </c:pt>
                  <c:pt idx="3">
                    <c:v>M1-M5</c:v>
                  </c:pt>
                  <c:pt idx="4">
                    <c:v>M2-M3</c:v>
                  </c:pt>
                  <c:pt idx="5">
                    <c:v>M2-M4</c:v>
                  </c:pt>
                  <c:pt idx="6">
                    <c:v>M2-M5</c:v>
                  </c:pt>
                  <c:pt idx="7">
                    <c:v>M3-M4</c:v>
                  </c:pt>
                  <c:pt idx="8">
                    <c:v>M3-M5</c:v>
                  </c:pt>
                  <c:pt idx="9">
                    <c:v>M4-M5</c:v>
                  </c:pt>
                </c:lvl>
              </c:multiLvlStrCache>
            </c:multiLvlStrRef>
          </c:cat>
          <c:val>
            <c:numRef>
              <c:f>Sheet1!$C$2:$C$11</c:f>
              <c:numCache>
                <c:formatCode>General</c:formatCode>
                <c:ptCount val="10"/>
                <c:pt idx="0">
                  <c:v>-0.9883173560569455</c:v>
                </c:pt>
                <c:pt idx="1">
                  <c:v>0.9316142209946915</c:v>
                </c:pt>
                <c:pt idx="2">
                  <c:v>-0.7028634960055146</c:v>
                </c:pt>
                <c:pt idx="3">
                  <c:v>-0.9785497849867492</c:v>
                </c:pt>
                <c:pt idx="4">
                  <c:v>-0.9815012929624986</c:v>
                </c:pt>
                <c:pt idx="5">
                  <c:v>0.8467378855869865</c:v>
                </c:pt>
                <c:pt idx="6">
                  <c:v>-0.4020770079059606</c:v>
                </c:pt>
                <c:pt idx="7">
                  <c:v>-0.8664002254439633</c:v>
                </c:pt>
                <c:pt idx="8">
                  <c:v>0.7592566023652966</c:v>
                </c:pt>
                <c:pt idx="9">
                  <c:v>-0.9216353751380653</c:v>
                </c:pt>
              </c:numCache>
            </c:numRef>
          </c:val>
        </c:ser>
        <c:dLbls>
          <c:numFmt formatCode="#,##0" sourceLinked="0"/>
          <c:txPr>
            <a:bodyPr/>
            <a:lstStyle/>
            <a:p>
              <a:pPr>
                <a:defRPr b="0" i="0" strike="noStrike" sz="1000" u="none">
                  <a:solidFill>
                    <a:srgbClr val="16182D"/>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B5F73"/>
                </a:solidFill>
                <a:latin typeface="+mn-lt"/>
              </a:defRPr>
            </a:pPr>
            <a:endParaRPr lang="en-US"/>
          </a:p>
        </c:txPr>
        <c:crossAx val="2094734552"/>
        <c:crosses val="autoZero"/>
        <c:auto val="1"/>
        <c:lblAlgn val="ctr"/>
        <c:noMultiLvlLbl val="1"/>
      </c:catAx>
      <c:valAx>
        <c:axId val="2094734552"/>
        <c:scaling>
          <c:orientation val="minMax"/>
          <c:max val="1"/>
          <c:min val="-1"/>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5F73"/>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000">
              <a:solidFill>
                <a:srgbClr val="5B5F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12 continues the recommendation track. Task 11 recommended movies from their features (genres, tags). This task drops item features completely and recommends purely from the users x movies rating matrix: first memory-based collaborative filtering (user-based and item-based), then matrix factorization (SVD intuition, SGD, WALS), implicit-feedback ALS and Bayesian Personalized Ranking, and finally where matrix factorization breaks down. Same dataset as Task 11: MovieLens ml-latest-small, 610 users, 9,724 rated movies, 100,836 ratings, 98.3% of the matrix empty. Every number in this deck comes from one run of the Task 12 notebook with fixed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Collaborative filtering's core idea: similarities between users and items mined from the feedback matrix alone. The advantage over Task 11 is serendipity. The intuition: give every movie and every user coordinates on the same axes. In 1-D (kids vs adult) the product of the two numbers approximates the rating, but users C and D, both adult-movie fans, get the same score for The Dark Knight (0.63 vs 0.56) even though C loves blockbusters and D loves arthouse. Adding a second axis (arthouse vs blockbuster) and using the dot product separates them: 1.35 vs -0.25. These numbers were hand-picked; matrix factorization learns them automatically from the ratings, and its axes usually have no human name. Users and items can share one space because it is just a coordinate system for measuring affinity.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User-based CF: to predict user u's rating of movie i, find the k most similar users who rated i and average their mean-centred ratings. I used a dense core of the 150 most active users and 300 most-rated movies (43.4% filled). Similarity is Pearson correlation over co-rated movies (at least 10), computed for all pairs with matrix products and verified against pandas .corr(). I held out user 63's 3.5-star rating of The Matrix before computing anything. The 20 nearest neighbours rated it above their own averages, so the prediction is 3.597 + 2.429/7.745 = 3.91. That beats the movie's mean (4.14) but not the user's own mean (3.60) on this one rating; on the full Exercise 1 test set user-CF clearly beats the user mean (0.838 vs 0.913 RMSE). Weakness: m-squared user pairs (185,745 at 610 users), and the matrix goes stale as tastes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Item-based CF flips the question: find movies similar to the target that the user already rated, and average the user's own ratings weighted by similarity. Similarity is adjusted cosine: cosine computed after subtracting each user's mean, which removes rating-scale differences between users. Without any genre data, the most similar movies to The Matrix are action/crime/thriller of the same era, plus Office Space, which shares the audience rather than the genre. For the same held-out rating, item-based CF predicts 3.96 (31.42 / 7.94). On the full Exercise 1 split, user-based is slightly better here (0.838 vs 0.852), but item-based wins in production on stability: item-item similarities change slowly, so they can be precomputed offline and the explanation is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Matrix factorization learns a user matrix U (m x d) and an item matrix V (n x d) so that U times V-transpose approximates A, minimising squared error over the observed cells only. Treating every empty cell as 0 is wrong: 98.3% of cells are empty, so the average target becomes 0.06 stars and unseen movies are taught as disliked. Plain SVD is also problematic because it needs a complete matrix. On a dense 5x6 toy built from the Phase 1 embeddings, SVD is perfect: three components hold all the energy and rank 3 reconstructs within rounding (RMSE 0.063). After hiding 10 cells, zero-filled SVD collapses (RMSE 2.7-3.3, predictions near 0) and mean-filled SVD only learns my fill-in (1.46-1.59), while observed-only factorization with lambda 0.5 gets 0.49. With lambda 0.1 it overfits badly. I use d = 20 for MovieLens; Exercise 2 tests other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matrix factorization adds a down-weighted sum over unobserved cells. w0 balances fitting the real interactions against pulling unseen pairs toward 'not interested'. With w0 = 0 on implicit data, the all-ones embedding is a perfect but useless solution (loss 0); w0 = 0.1 charges it 72. SGD takes a gradient step per cell (same as Task 7): flexible, but speed depends on the learning rate and unobserved cells must be sampled. WALS uses the fact that with V fixed the problem is ridge regression in U, so it alternates exact solves; it needs no learning rate and parallelises per user. On the toy with 60 passes each, WALS reached the lowest loss (29.81) in 0.13 s; SGD with lr 0.01 was still at 58.3. But SGD lr 0.05 ranked the hidden movies best despite a slightly higher loss: squared loss scores values, not orderings, which is what BPR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full MovieLens ratings, surprise's SVD (the Netflix-Prize 'Funk SVD': biases plus 20-d embeddings trained by SGD on observed ratings) gets test RMSE 0.8780, 16% better than the global mean. The honest finding: BaselineOnly, which has only the global mean plus user and movie biases, gets 0.8785. On this small dataset the biases explain almost all predictable signal. Exercise 1 puts all methods on one split (movies with at least 20 ratings so the item-item matrix fits in memory): MF 0.836, user-CF 0.838, bias baseline 0.842, item-CF 0.852. MF's real edge is practical: full coverage and about 10x faster prediction. Exercise 2: test RMSE barely moves from d = 5 to 100, while training RMSE keeps falling, a widening overfitting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Implicit feedback has no negatives: an empty cell can mean not interested or never shown. Hu, Koren and Volinsky split each cell into a preference (1 if watched) and a confidence (1 + alpha times the rating here, using stars as an engagement signal), and factorize all cells with ALS. The readme's code indexed the matrix by raw IDs, which builds 611 x 193,610 with 183,886 empty columns and passes raw ratings as confidence; I mapped IDs to contiguous numbers and built 1 + alpha r explicitly. To pick alpha I hid 20% of each user's interactions and measured precision@10: alpha = 1 is best at 0.275, 75% above the popularity baseline (0.157). Alpha behaves like 1 / w0 from Phase 5: alpha = 40 is close to observed-only and drops below popularity. Final model: 20 factors, regularization 0.1, 15 iterations, trained in about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Sanity check on two users picked by rule: the user with the highest share of children's movies (401) and of horror movies (571). For the horror fan, 9 of 10 recommendations share a top genre (popularity list: 6 of 10): The Exorcist, Halloween, A Nightmare on Elm Street. For the children's fan, the top half fits well (Spirited Away and the Harry Potter series), and explain() shows Spirited Away is driven by Howl's Moving Castle, WALL-E and Up in the history; the lower half is generic blockbusters, an early sign of popularity bias. The learned embeddings capture audience structure without any metadata: The Shining's neighbours include two other Kubrick films. Toy Story's neighbours are other huge 90s hits rather than kids' movies: the model's axes are whatever explains the data, not the ones a human would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BPR changes the objective from predicting values to ranking: for a user, a watched movie should score above a random unwatched one, and the loss is minus log sigmoid of the score gap over sampled triples. The table shows the loss is large when the order is wrong and near zero once it is right. I trained BPR with the readme settings on the same binary matrix and compared on the same held-out split: ALS 0.275 precision@10, BPR 0.186 at 100 iterations, 0.204 at 50, and 0.148 at 300, below popularity, so more training overfits. The ranking-specific loss did not win on this small dataset. BPR recommends less popular titles. Exercise 4: across all 610 users, ALS and BPR share on average 1.42 of their top-5 titles; 25% share none, 17% share three or more. They agree on a user's most distinctive cluster (Harry Potter for user 401) and diverge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Matrix factorization's popularity bias, reproduced. Embedding length tracks popularity almost perfectly: Spearman 0.944 between a movie's number of ratings and its ALS embedding norm, and BPR shows the same. Because a dot product is the product of the two lengths times the cosine, a long item vector wins for almost any user: Forrest Gump (329 ratings) is scored above The Trial (5 ratings, 4.9-star average) for 97.9% of users. Across all users, 58.8% of ALS's recommendation slots go to the 1% most-rated movies and only 7.8% of the catalogue is ever recommended. Cosine scoring removes the norm and more than doubles coverage, but held-out precision drops from 0.275 to 0.170, so part of the norm is genuine signal. BPR, with its own item bias, is far less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3, cold start. surprise's SVD has no embedding for a new user, so it silently returns mu plus the item bias: the same list (Lawrence of Arabia, Shawshank, Dr. Strangelove) for every newcomer, ignoring their ratings. ALS can fold in a new user without retraining, because the user step of WALS is a closed-form solve; my hand-solved vector matches the library exactly. The horror seeds give a horror list; the Toy Story plus Finding Nemo seeds give the generic popular list, because both seeds are themselves mainstream hits. BPR cannot fold in at all. New items are impossible for every MF model: 18 movies in movies.csv have no ratings. Exercise 5: adjusted cosine implemented with plain loops on a 5x5 toy with a generous and a harsh rater. Plain cosine says every pair is similar (0.87 to 1.00) because all ratings are positive; adjusted cosine spreads them from -0.99 to 0.93, e.g. M1-M2 goes from 0.956 to -0.988. The loop version matches the vectorised Phase 3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Matrix factorization is the strongest rating predictor here (0.836 RMSE), but only just ahead of user-based CF and a bias-only baseline. For ranking, ALS with alpha = 1 is clearly best (0.275 precision@10 vs 0.157 popularity and 0.186 BPR). The biggest limitations showed up concretely: popularity bias (58.8% of ALS slots go to the top 1% of movies), cold start (new items are impossible, new users need a fold-in step), and no way to use side features. Fixes made to the reference code: contiguous IDs, an explicit confidence matrix, fixed seeds and single-threaded BPR for reproducibility. Next, deep recommenders compute embeddings from features and learn the similarity function, which targets exactly these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8412480" cy="365760"/>
          </a:xfrm>
          <a:prstGeom prst="rect">
            <a:avLst/>
          </a:prstGeom>
          <a:noFill/>
          <a:ln/>
        </p:spPr>
        <p:txBody>
          <a:bodyPr wrap="square" rtlCol="0"/>
          <a:lstStyle>
            <a:lvl1pPr indent="0" marL="0">
              <a:buNone/>
              <a:defRPr lang="en-US" sz="1400" b="1" spc="3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371600"/>
            <a:ext cx="8595360" cy="141732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0"/>
          <p:cNvSpPr/>
          <p:nvPr>
            <p:ph idx="102" type="body" hasCustomPrompt="1"/>
          </p:nvPr>
        </p:nvSpPr>
        <p:spPr>
          <a:xfrm>
            <a:off x="548640" y="2926080"/>
            <a:ext cx="8595360" cy="7772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Task 12  ·  Collaborative filtering and matrix factorization  ·  MovieLens ml-latest-small</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Task 12  ·  Collaborative filtering and matrix factorization  ·  MovieLens ml-latest-small</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8.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chart" Target="/ppt/charts/chart12.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8412480" cy="365760"/>
          </a:xfrm>
          <a:prstGeom prst="rect">
            <a:avLst/>
          </a:prstGeom>
          <a:noFill/>
          <a:ln/>
        </p:spPr>
        <p:txBody>
          <a:bodyPr wrap="square" lIns="0" tIns="0" rIns="0" bIns="0" rtlCol="0"/>
          <a:lstStyle/>
          <a:p>
            <a:pPr indent="0" marL="0">
              <a:buNone/>
            </a:pPr>
            <a:r>
              <a:rPr lang="en-US" sz="1400" b="1" spc="300" kern="0" dirty="0">
                <a:solidFill>
                  <a:schemeClr val="accent2"/>
                </a:solidFill>
              </a:rPr>
              <a:t>TASK 12  ·  RECOMMENDATION SYSTEMS TRACK</a:t>
            </a:r>
            <a:endParaRPr lang="en-US" sz="1400" dirty="0"/>
          </a:p>
        </p:txBody>
      </p:sp>
      <p:sp>
        <p:nvSpPr>
          <p:cNvPr id="3" name="Text 0"/>
          <p:cNvSpPr/>
          <p:nvPr>
            <p:ph idx="101" type="title" hasCustomPrompt="1"/>
          </p:nvPr>
        </p:nvSpPr>
        <p:spPr>
          <a:xfrm>
            <a:off x="548640" y="1371600"/>
            <a:ext cx="8595360" cy="1417320"/>
          </a:xfrm>
          <a:prstGeom prst="rect">
            <a:avLst/>
          </a:prstGeom>
          <a:noFill/>
          <a:ln/>
        </p:spPr>
        <p:txBody>
          <a:bodyPr wrap="square" lIns="0" tIns="0" rIns="0" bIns="0" rtlCol="0" anchor="t"/>
          <a:lstStyle/>
          <a:p>
            <a:pPr algn="l" indent="0" marL="0">
              <a:buNone/>
            </a:pPr>
            <a:r>
              <a:rPr lang="en-US" sz="4200" b="1" dirty="0">
                <a:solidFill>
                  <a:schemeClr val="bg1"/>
                </a:solidFill>
              </a:rPr>
              <a:t>Collaborative Filtering &amp; Matrix Factorization</a:t>
            </a:r>
            <a:endParaRPr lang="en-US" sz="4200" dirty="0"/>
          </a:p>
        </p:txBody>
      </p:sp>
      <p:sp>
        <p:nvSpPr>
          <p:cNvPr id="4" name="Text 0"/>
          <p:cNvSpPr/>
          <p:nvPr>
            <p:ph idx="102" type="body" hasCustomPrompt="1"/>
          </p:nvPr>
        </p:nvSpPr>
        <p:spPr>
          <a:xfrm>
            <a:off x="548640" y="2926080"/>
            <a:ext cx="8595360" cy="777240"/>
          </a:xfrm>
          <a:prstGeom prst="rect">
            <a:avLst/>
          </a:prstGeom>
          <a:noFill/>
          <a:ln/>
        </p:spPr>
        <p:txBody>
          <a:bodyPr wrap="square" lIns="0" tIns="0" rIns="0" bIns="0" rtlCol="0" anchor="t"/>
          <a:lstStyle/>
          <a:p>
            <a:pPr indent="0" marL="0">
              <a:buNone/>
            </a:pPr>
            <a:r>
              <a:rPr lang="en-US" sz="1800" dirty="0">
                <a:solidFill>
                  <a:schemeClr val="bg2"/>
                </a:solidFill>
              </a:rPr>
              <a:t>Recommending from other users' behaviour: user- and item-based CF, matrix factorization (SGD, WALS), implicit ALS and BPR on MovieLens ml-latest-small</a:t>
            </a:r>
            <a:endParaRPr lang="en-US" sz="1800" dirty="0"/>
          </a:p>
        </p:txBody>
      </p:sp>
      <p:sp>
        <p:nvSpPr>
          <p:cNvPr id="5" name="Text 3"/>
          <p:cNvSpPr txBox="1"/>
          <p:nvPr/>
        </p:nvSpPr>
        <p:spPr>
          <a:xfrm>
            <a:off x="548640" y="3840480"/>
            <a:ext cx="7863840" cy="320040"/>
          </a:xfrm>
          <a:prstGeom prst="rect">
            <a:avLst/>
          </a:prstGeom>
          <a:noFill/>
          <a:ln/>
        </p:spPr>
        <p:txBody>
          <a:bodyPr wrap="square" lIns="0" tIns="0" rIns="0" bIns="0" rtlCol="0" anchor="ctr"/>
          <a:lstStyle/>
          <a:p>
            <a:pPr indent="0" marL="0">
              <a:buNone/>
            </a:pPr>
            <a:r>
              <a:rPr lang="en-US" sz="1400" dirty="0">
                <a:solidFill>
                  <a:schemeClr val="bg1"/>
                </a:solidFill>
              </a:rPr>
              <a:t>Balaji Krishnamoorthy  ·  The Stackly  ·  8 October 2026</a:t>
            </a:r>
            <a:endParaRPr lang="en-US" sz="1400" dirty="0"/>
          </a:p>
        </p:txBody>
      </p:sp>
      <p:sp>
        <p:nvSpPr>
          <p:cNvPr id="6" name="title icon circle"/>
          <p:cNvSpPr/>
          <p:nvPr/>
        </p:nvSpPr>
        <p:spPr>
          <a:xfrm>
            <a:off x="9646920" y="1051560"/>
            <a:ext cx="1600200" cy="1600200"/>
          </a:xfrm>
          <a:prstGeom prst="ellipse">
            <a:avLst/>
          </a:prstGeom>
          <a:solidFill>
            <a:schemeClr val="accent2"/>
          </a:solidFill>
          <a:ln w="12700">
            <a:solidFill>
              <a:schemeClr val="accent2"/>
            </a:solidFill>
            <a:prstDash val="solid"/>
          </a:ln>
        </p:spPr>
      </p:sp>
      <p:pic>
        <p:nvPicPr>
          <p:cNvPr id="7" name="title icon" descr="preencoded.png">    </p:cNvPr>
          <p:cNvPicPr>
            <a:picLocks noChangeAspect="1"/>
          </p:cNvPicPr>
          <p:nvPr/>
        </p:nvPicPr>
        <p:blipFill>
          <a:blip r:embed="rId1"/>
          <a:stretch>
            <a:fillRect/>
          </a:stretch>
        </p:blipFill>
        <p:spPr>
          <a:xfrm>
            <a:off x="10040112" y="1444752"/>
            <a:ext cx="822960" cy="822960"/>
          </a:xfrm>
          <a:prstGeom prst="rect">
            <a:avLst/>
          </a:prstGeom>
        </p:spPr>
      </p:pic>
      <p:sp>
        <p:nvSpPr>
          <p:cNvPr id="8" name="stat card"/>
          <p:cNvSpPr/>
          <p:nvPr/>
        </p:nvSpPr>
        <p:spPr>
          <a:xfrm>
            <a:off x="548640" y="4617720"/>
            <a:ext cx="2606040" cy="1097280"/>
          </a:xfrm>
          <a:prstGeom prst="roundRect">
            <a:avLst>
              <a:gd name="adj" fmla="val 6667"/>
            </a:avLst>
          </a:prstGeom>
          <a:solidFill>
            <a:schemeClr val="tx1"/>
          </a:solidFill>
          <a:ln w="12700">
            <a:solidFill>
              <a:schemeClr val="tx1"/>
            </a:solidFill>
            <a:prstDash val="solid"/>
          </a:ln>
        </p:spPr>
      </p:sp>
      <p:sp>
        <p:nvSpPr>
          <p:cNvPr id="9" name="stat value"/>
          <p:cNvSpPr txBox="1"/>
          <p:nvPr/>
        </p:nvSpPr>
        <p:spPr>
          <a:xfrm>
            <a:off x="731520" y="470916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610</a:t>
            </a:r>
            <a:endParaRPr lang="en-US" sz="2800" dirty="0"/>
          </a:p>
        </p:txBody>
      </p:sp>
      <p:sp>
        <p:nvSpPr>
          <p:cNvPr id="10" name="stat label"/>
          <p:cNvSpPr txBox="1"/>
          <p:nvPr/>
        </p:nvSpPr>
        <p:spPr>
          <a:xfrm>
            <a:off x="731520" y="5239512"/>
            <a:ext cx="2240280" cy="402336"/>
          </a:xfrm>
          <a:prstGeom prst="rect">
            <a:avLst/>
          </a:prstGeom>
          <a:noFill/>
          <a:ln/>
        </p:spPr>
        <p:txBody>
          <a:bodyPr wrap="square" lIns="0" tIns="0" rIns="0" bIns="0" rtlCol="0" anchor="t"/>
          <a:lstStyle/>
          <a:p>
            <a:pPr indent="0" marL="0">
              <a:buNone/>
            </a:pPr>
            <a:r>
              <a:rPr lang="en-US" sz="1200" dirty="0">
                <a:solidFill>
                  <a:schemeClr val="bg1"/>
                </a:solidFill>
              </a:rPr>
              <a:t>users</a:t>
            </a:r>
            <a:endParaRPr lang="en-US" sz="1200" dirty="0"/>
          </a:p>
        </p:txBody>
      </p:sp>
      <p:sp>
        <p:nvSpPr>
          <p:cNvPr id="11" name="stat card"/>
          <p:cNvSpPr/>
          <p:nvPr/>
        </p:nvSpPr>
        <p:spPr>
          <a:xfrm>
            <a:off x="3383280" y="4617720"/>
            <a:ext cx="2606040" cy="1097280"/>
          </a:xfrm>
          <a:prstGeom prst="roundRect">
            <a:avLst>
              <a:gd name="adj" fmla="val 6667"/>
            </a:avLst>
          </a:prstGeom>
          <a:solidFill>
            <a:schemeClr val="tx1"/>
          </a:solidFill>
          <a:ln w="12700">
            <a:solidFill>
              <a:schemeClr val="tx1"/>
            </a:solidFill>
            <a:prstDash val="solid"/>
          </a:ln>
        </p:spPr>
      </p:sp>
      <p:sp>
        <p:nvSpPr>
          <p:cNvPr id="12" name="stat value"/>
          <p:cNvSpPr txBox="1"/>
          <p:nvPr/>
        </p:nvSpPr>
        <p:spPr>
          <a:xfrm>
            <a:off x="3566160" y="470916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9,724</a:t>
            </a:r>
            <a:endParaRPr lang="en-US" sz="2800" dirty="0"/>
          </a:p>
        </p:txBody>
      </p:sp>
      <p:sp>
        <p:nvSpPr>
          <p:cNvPr id="13" name="stat label"/>
          <p:cNvSpPr txBox="1"/>
          <p:nvPr/>
        </p:nvSpPr>
        <p:spPr>
          <a:xfrm>
            <a:off x="3566160" y="5239512"/>
            <a:ext cx="2240280" cy="402336"/>
          </a:xfrm>
          <a:prstGeom prst="rect">
            <a:avLst/>
          </a:prstGeom>
          <a:noFill/>
          <a:ln/>
        </p:spPr>
        <p:txBody>
          <a:bodyPr wrap="square" lIns="0" tIns="0" rIns="0" bIns="0" rtlCol="0" anchor="t"/>
          <a:lstStyle/>
          <a:p>
            <a:pPr indent="0" marL="0">
              <a:buNone/>
            </a:pPr>
            <a:r>
              <a:rPr lang="en-US" sz="1200" dirty="0">
                <a:solidFill>
                  <a:schemeClr val="bg1"/>
                </a:solidFill>
              </a:rPr>
              <a:t>rated movies</a:t>
            </a:r>
            <a:endParaRPr lang="en-US" sz="1200" dirty="0"/>
          </a:p>
        </p:txBody>
      </p:sp>
      <p:sp>
        <p:nvSpPr>
          <p:cNvPr id="14" name="stat card"/>
          <p:cNvSpPr/>
          <p:nvPr/>
        </p:nvSpPr>
        <p:spPr>
          <a:xfrm>
            <a:off x="6217920" y="4617720"/>
            <a:ext cx="2606040" cy="1097280"/>
          </a:xfrm>
          <a:prstGeom prst="roundRect">
            <a:avLst>
              <a:gd name="adj" fmla="val 6667"/>
            </a:avLst>
          </a:prstGeom>
          <a:solidFill>
            <a:schemeClr val="tx1"/>
          </a:solidFill>
          <a:ln w="12700">
            <a:solidFill>
              <a:schemeClr val="tx1"/>
            </a:solidFill>
            <a:prstDash val="solid"/>
          </a:ln>
        </p:spPr>
      </p:sp>
      <p:sp>
        <p:nvSpPr>
          <p:cNvPr id="15" name="stat value"/>
          <p:cNvSpPr txBox="1"/>
          <p:nvPr/>
        </p:nvSpPr>
        <p:spPr>
          <a:xfrm>
            <a:off x="6400800" y="470916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100,836</a:t>
            </a:r>
            <a:endParaRPr lang="en-US" sz="2800" dirty="0"/>
          </a:p>
        </p:txBody>
      </p:sp>
      <p:sp>
        <p:nvSpPr>
          <p:cNvPr id="16" name="stat label"/>
          <p:cNvSpPr txBox="1"/>
          <p:nvPr/>
        </p:nvSpPr>
        <p:spPr>
          <a:xfrm>
            <a:off x="6400800" y="5239512"/>
            <a:ext cx="2240280" cy="402336"/>
          </a:xfrm>
          <a:prstGeom prst="rect">
            <a:avLst/>
          </a:prstGeom>
          <a:noFill/>
          <a:ln/>
        </p:spPr>
        <p:txBody>
          <a:bodyPr wrap="square" lIns="0" tIns="0" rIns="0" bIns="0" rtlCol="0" anchor="t"/>
          <a:lstStyle/>
          <a:p>
            <a:pPr indent="0" marL="0">
              <a:buNone/>
            </a:pPr>
            <a:r>
              <a:rPr lang="en-US" sz="1200" dirty="0">
                <a:solidFill>
                  <a:schemeClr val="bg1"/>
                </a:solidFill>
              </a:rPr>
              <a:t>ratings (0.5–5 stars), 98.3% of the matrix empty</a:t>
            </a:r>
            <a:endParaRPr lang="en-US" sz="1200" dirty="0"/>
          </a:p>
        </p:txBody>
      </p:sp>
      <p:sp>
        <p:nvSpPr>
          <p:cNvPr id="17" name="stat card"/>
          <p:cNvSpPr/>
          <p:nvPr/>
        </p:nvSpPr>
        <p:spPr>
          <a:xfrm>
            <a:off x="9052560" y="4617720"/>
            <a:ext cx="2606040" cy="1097280"/>
          </a:xfrm>
          <a:prstGeom prst="roundRect">
            <a:avLst>
              <a:gd name="adj" fmla="val 6667"/>
            </a:avLst>
          </a:prstGeom>
          <a:solidFill>
            <a:schemeClr val="tx1"/>
          </a:solidFill>
          <a:ln w="12700">
            <a:solidFill>
              <a:schemeClr val="tx1"/>
            </a:solidFill>
            <a:prstDash val="solid"/>
          </a:ln>
        </p:spPr>
      </p:sp>
      <p:sp>
        <p:nvSpPr>
          <p:cNvPr id="18" name="stat value"/>
          <p:cNvSpPr txBox="1"/>
          <p:nvPr/>
        </p:nvSpPr>
        <p:spPr>
          <a:xfrm>
            <a:off x="9235440" y="470916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0</a:t>
            </a:r>
            <a:endParaRPr lang="en-US" sz="2800" dirty="0"/>
          </a:p>
        </p:txBody>
      </p:sp>
      <p:sp>
        <p:nvSpPr>
          <p:cNvPr id="19" name="stat label"/>
          <p:cNvSpPr txBox="1"/>
          <p:nvPr/>
        </p:nvSpPr>
        <p:spPr>
          <a:xfrm>
            <a:off x="9235440" y="5239512"/>
            <a:ext cx="2240280" cy="402336"/>
          </a:xfrm>
          <a:prstGeom prst="rect">
            <a:avLst/>
          </a:prstGeom>
          <a:noFill/>
          <a:ln/>
        </p:spPr>
        <p:txBody>
          <a:bodyPr wrap="square" lIns="0" tIns="0" rIns="0" bIns="0" rtlCol="0" anchor="t"/>
          <a:lstStyle/>
          <a:p>
            <a:pPr indent="0" marL="0">
              <a:buNone/>
            </a:pPr>
            <a:r>
              <a:rPr lang="en-US" sz="1200" dirty="0">
                <a:solidFill>
                  <a:schemeClr val="bg1"/>
                </a:solidFill>
              </a:rPr>
              <a:t>item features used: CF learns from the user × movie matrix alone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1  ·  COLLABORATIVE FILTERING &amp; THE EMBEDDING INTUITION</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One taste space for users and movies</a:t>
            </a:r>
            <a:endParaRPr lang="en-US" sz="3600" dirty="0"/>
          </a:p>
        </p:txBody>
      </p:sp>
      <p:sp>
        <p:nvSpPr>
          <p:cNvPr id="4" name="Core idea"/>
          <p:cNvSpPr/>
          <p:nvPr/>
        </p:nvSpPr>
        <p:spPr>
          <a:xfrm>
            <a:off x="548640" y="1508760"/>
            <a:ext cx="3931920" cy="1417320"/>
          </a:xfrm>
          <a:prstGeom prst="roundRect">
            <a:avLst>
              <a:gd name="adj" fmla="val 5161"/>
            </a:avLst>
          </a:prstGeom>
          <a:solidFill>
            <a:schemeClr val="bg2"/>
          </a:solidFill>
          <a:ln w="12700">
            <a:solidFill>
              <a:schemeClr val="bg2"/>
            </a:solidFill>
            <a:prstDash val="solid"/>
          </a:ln>
        </p:spPr>
      </p:sp>
      <p:sp>
        <p:nvSpPr>
          <p:cNvPr id="5" name="icon circle"/>
          <p:cNvSpPr/>
          <p:nvPr/>
        </p:nvSpPr>
        <p:spPr>
          <a:xfrm>
            <a:off x="731520" y="1691640"/>
            <a:ext cx="384048" cy="384048"/>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823692" y="1783812"/>
            <a:ext cx="199705" cy="199705"/>
          </a:xfrm>
          <a:prstGeom prst="rect">
            <a:avLst/>
          </a:prstGeom>
        </p:spPr>
      </p:pic>
      <p:sp>
        <p:nvSpPr>
          <p:cNvPr id="7" name="Text 4"/>
          <p:cNvSpPr txBox="1"/>
          <p:nvPr/>
        </p:nvSpPr>
        <p:spPr>
          <a:xfrm>
            <a:off x="1234440" y="1691640"/>
            <a:ext cx="3063240" cy="384048"/>
          </a:xfrm>
          <a:prstGeom prst="rect">
            <a:avLst/>
          </a:prstGeom>
          <a:noFill/>
          <a:ln/>
        </p:spPr>
        <p:txBody>
          <a:bodyPr wrap="square" lIns="0" tIns="0" rIns="0" bIns="0" rtlCol="0" anchor="ctr"/>
          <a:lstStyle/>
          <a:p>
            <a:pPr indent="0" marL="0">
              <a:buNone/>
            </a:pPr>
            <a:r>
              <a:rPr lang="en-US" sz="1400" b="1" dirty="0">
                <a:solidFill>
                  <a:schemeClr val="tx2"/>
                </a:solidFill>
              </a:rPr>
              <a:t>Core idea</a:t>
            </a:r>
            <a:endParaRPr lang="en-US" sz="1400" dirty="0"/>
          </a:p>
        </p:txBody>
      </p:sp>
      <p:sp>
        <p:nvSpPr>
          <p:cNvPr id="8" name="Text 5"/>
          <p:cNvSpPr txBox="1"/>
          <p:nvPr/>
        </p:nvSpPr>
        <p:spPr>
          <a:xfrm>
            <a:off x="731520" y="2167128"/>
            <a:ext cx="3566160" cy="64008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Recommend from similarities between users and between movies, mined from the user × movie matrix alone. No item features.</a:t>
            </a:r>
            <a:endParaRPr lang="en-US" sz="1200" dirty="0"/>
          </a:p>
        </p:txBody>
      </p:sp>
      <p:sp>
        <p:nvSpPr>
          <p:cNvPr id="9" name="Serendipity"/>
          <p:cNvSpPr/>
          <p:nvPr/>
        </p:nvSpPr>
        <p:spPr>
          <a:xfrm>
            <a:off x="548640" y="3090672"/>
            <a:ext cx="3931920" cy="1417320"/>
          </a:xfrm>
          <a:prstGeom prst="roundRect">
            <a:avLst>
              <a:gd name="adj" fmla="val 5161"/>
            </a:avLst>
          </a:prstGeom>
          <a:solidFill>
            <a:schemeClr val="bg2"/>
          </a:solidFill>
          <a:ln w="12700">
            <a:solidFill>
              <a:schemeClr val="bg2"/>
            </a:solidFill>
            <a:prstDash val="solid"/>
          </a:ln>
        </p:spPr>
      </p:sp>
      <p:sp>
        <p:nvSpPr>
          <p:cNvPr id="10" name="icon circle"/>
          <p:cNvSpPr/>
          <p:nvPr/>
        </p:nvSpPr>
        <p:spPr>
          <a:xfrm>
            <a:off x="731520" y="3273552"/>
            <a:ext cx="384048" cy="38404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823692" y="3365724"/>
            <a:ext cx="199705" cy="199705"/>
          </a:xfrm>
          <a:prstGeom prst="rect">
            <a:avLst/>
          </a:prstGeom>
        </p:spPr>
      </p:pic>
      <p:sp>
        <p:nvSpPr>
          <p:cNvPr id="12" name="Text 8"/>
          <p:cNvSpPr txBox="1"/>
          <p:nvPr/>
        </p:nvSpPr>
        <p:spPr>
          <a:xfrm>
            <a:off x="1234440" y="3273552"/>
            <a:ext cx="3063240" cy="384048"/>
          </a:xfrm>
          <a:prstGeom prst="rect">
            <a:avLst/>
          </a:prstGeom>
          <a:noFill/>
          <a:ln/>
        </p:spPr>
        <p:txBody>
          <a:bodyPr wrap="square" lIns="0" tIns="0" rIns="0" bIns="0" rtlCol="0" anchor="ctr"/>
          <a:lstStyle/>
          <a:p>
            <a:pPr indent="0" marL="0">
              <a:buNone/>
            </a:pPr>
            <a:r>
              <a:rPr lang="en-US" sz="1400" b="1" dirty="0">
                <a:solidFill>
                  <a:schemeClr val="tx2"/>
                </a:solidFill>
              </a:rPr>
              <a:t>Serendipity</a:t>
            </a:r>
            <a:endParaRPr lang="en-US" sz="1400" dirty="0"/>
          </a:p>
        </p:txBody>
      </p:sp>
      <p:sp>
        <p:nvSpPr>
          <p:cNvPr id="13" name="Text 9"/>
          <p:cNvSpPr txBox="1"/>
          <p:nvPr/>
        </p:nvSpPr>
        <p:spPr>
          <a:xfrm>
            <a:off x="731520" y="3749040"/>
            <a:ext cx="3566160" cy="64008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A movie reaches user X because a similar user Y liked it, even if it looks nothing like X's history. Task 11's content-based model can't do this.</a:t>
            </a:r>
            <a:endParaRPr lang="en-US" sz="1200" dirty="0"/>
          </a:p>
        </p:txBody>
      </p:sp>
      <p:sp>
        <p:nvSpPr>
          <p:cNvPr id="14" name="Learned, not designed"/>
          <p:cNvSpPr/>
          <p:nvPr/>
        </p:nvSpPr>
        <p:spPr>
          <a:xfrm>
            <a:off x="548640" y="4672584"/>
            <a:ext cx="3931920" cy="1417320"/>
          </a:xfrm>
          <a:prstGeom prst="roundRect">
            <a:avLst>
              <a:gd name="adj" fmla="val 5161"/>
            </a:avLst>
          </a:prstGeom>
          <a:solidFill>
            <a:schemeClr val="bg2"/>
          </a:solidFill>
          <a:ln w="12700">
            <a:solidFill>
              <a:schemeClr val="bg2"/>
            </a:solidFill>
            <a:prstDash val="solid"/>
          </a:ln>
        </p:spPr>
      </p:sp>
      <p:sp>
        <p:nvSpPr>
          <p:cNvPr id="15" name="icon circle"/>
          <p:cNvSpPr/>
          <p:nvPr/>
        </p:nvSpPr>
        <p:spPr>
          <a:xfrm>
            <a:off x="731520" y="4855464"/>
            <a:ext cx="384048" cy="384048"/>
          </a:xfrm>
          <a:prstGeom prst="ellipse">
            <a:avLst/>
          </a:prstGeom>
          <a:solidFill>
            <a:schemeClr val="accent2"/>
          </a:solidFill>
          <a:ln w="12700">
            <a:solidFill>
              <a:schemeClr val="accent2"/>
            </a:solidFill>
            <a:prstDash val="solid"/>
          </a:ln>
        </p:spPr>
      </p:sp>
      <p:pic>
        <p:nvPicPr>
          <p:cNvPr id="16" name="icon" descr="preencoded.png">    </p:cNvPr>
          <p:cNvPicPr>
            <a:picLocks noChangeAspect="1"/>
          </p:cNvPicPr>
          <p:nvPr/>
        </p:nvPicPr>
        <p:blipFill>
          <a:blip r:embed="rId3"/>
          <a:stretch>
            <a:fillRect/>
          </a:stretch>
        </p:blipFill>
        <p:spPr>
          <a:xfrm>
            <a:off x="823692" y="4947636"/>
            <a:ext cx="199705" cy="199705"/>
          </a:xfrm>
          <a:prstGeom prst="rect">
            <a:avLst/>
          </a:prstGeom>
        </p:spPr>
      </p:pic>
      <p:sp>
        <p:nvSpPr>
          <p:cNvPr id="17" name="Text 12"/>
          <p:cNvSpPr txBox="1"/>
          <p:nvPr/>
        </p:nvSpPr>
        <p:spPr>
          <a:xfrm>
            <a:off x="1234440" y="4855464"/>
            <a:ext cx="3063240" cy="384048"/>
          </a:xfrm>
          <a:prstGeom prst="rect">
            <a:avLst/>
          </a:prstGeom>
          <a:noFill/>
          <a:ln/>
        </p:spPr>
        <p:txBody>
          <a:bodyPr wrap="square" lIns="0" tIns="0" rIns="0" bIns="0" rtlCol="0" anchor="ctr"/>
          <a:lstStyle/>
          <a:p>
            <a:pPr indent="0" marL="0">
              <a:buNone/>
            </a:pPr>
            <a:r>
              <a:rPr lang="en-US" sz="1400" b="1" dirty="0">
                <a:solidFill>
                  <a:schemeClr val="tx2"/>
                </a:solidFill>
              </a:rPr>
              <a:t>Learned, not designed</a:t>
            </a:r>
            <a:endParaRPr lang="en-US" sz="1400" dirty="0"/>
          </a:p>
        </p:txBody>
      </p:sp>
      <p:sp>
        <p:nvSpPr>
          <p:cNvPr id="18" name="Text 13"/>
          <p:cNvSpPr txBox="1"/>
          <p:nvPr/>
        </p:nvSpPr>
        <p:spPr>
          <a:xfrm>
            <a:off x="731520" y="5330952"/>
            <a:ext cx="3566160" cy="64008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Matrix factorization starts from random vectors and adjusts them until ⟨user, movie⟩ reproduces the observed ratings. The axes are discovered, not named.</a:t>
            </a:r>
            <a:endParaRPr lang="en-US" sz="1200" dirty="0"/>
          </a:p>
        </p:txBody>
      </p:sp>
      <p:sp>
        <p:nvSpPr>
          <p:cNvPr id="19" name="Text 14"/>
          <p:cNvSpPr txBox="1"/>
          <p:nvPr/>
        </p:nvSpPr>
        <p:spPr>
          <a:xfrm>
            <a:off x="4754880" y="1463040"/>
            <a:ext cx="6858000" cy="274320"/>
          </a:xfrm>
          <a:prstGeom prst="rect">
            <a:avLst/>
          </a:prstGeom>
          <a:noFill/>
          <a:ln/>
        </p:spPr>
        <p:txBody>
          <a:bodyPr wrap="square" lIns="0" tIns="0" rIns="0" bIns="0" rtlCol="0" anchor="b"/>
          <a:lstStyle/>
          <a:p>
            <a:pPr indent="0" marL="0">
              <a:buNone/>
            </a:pPr>
            <a:r>
              <a:rPr lang="en-US" sz="1200" b="1" dirty="0">
                <a:solidFill>
                  <a:schemeClr val="tx2"/>
                </a:solidFill>
              </a:rPr>
              <a:t>Hand-made 2-D embeddings  →  score = dot product ⟨user, movie⟩</a:t>
            </a:r>
            <a:endParaRPr lang="en-US" sz="1200" dirty="0"/>
          </a:p>
        </p:txBody>
      </p:sp>
      <p:sp>
        <p:nvSpPr>
          <p:cNvPr id="20" name="Text 15"/>
          <p:cNvSpPr txBox="1"/>
          <p:nvPr/>
        </p:nvSpPr>
        <p:spPr>
          <a:xfrm>
            <a:off x="4754880" y="1755648"/>
            <a:ext cx="6858000" cy="256032"/>
          </a:xfrm>
          <a:prstGeom prst="rect">
            <a:avLst/>
          </a:prstGeom>
          <a:noFill/>
          <a:ln/>
        </p:spPr>
        <p:txBody>
          <a:bodyPr wrap="square" lIns="0" tIns="0" rIns="0" bIns="0" rtlCol="0" anchor="t"/>
          <a:lstStyle/>
          <a:p>
            <a:pPr indent="0" marL="0">
              <a:buNone/>
            </a:pPr>
            <a:r>
              <a:rPr lang="en-US" sz="1100" dirty="0">
                <a:solidFill>
                  <a:schemeClr val="accent5"/>
                </a:solidFill>
              </a:rPr>
              <a:t>axis 1: kids (−1) … adult (+1)   ·   axis 2: arthouse (−1) … blockbuster (+1)</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754880" y="2057400"/>
          <a:ext cx="6885432" cy="914400"/>
        </p:xfrm>
        <a:graphic>
          <a:graphicData uri="http://schemas.openxmlformats.org/drawingml/2006/table">
            <a:tbl>
              <a:tblPr/>
              <a:tblGrid>
                <a:gridCol w="2221992"/>
                <a:gridCol w="777240"/>
                <a:gridCol w="777240"/>
                <a:gridCol w="777240"/>
                <a:gridCol w="777240"/>
                <a:gridCol w="777240"/>
                <a:gridCol w="804672"/>
              </a:tblGrid>
              <a:tr h="457200">
                <a:tc>
                  <a:txBody>
                    <a:bodyPr/>
                    <a:lstStyle/>
                    <a:p>
                      <a:pPr algn="l" indent="0" marL="0">
                        <a:buNone/>
                      </a:pPr>
                      <a:r>
                        <a:rPr lang="en-US" sz="1050" b="1" dirty="0">
                          <a:solidFill>
                            <a:schemeClr val="bg1"/>
                          </a:solidFill>
                          <a:latin typeface="+mn-lt" pitchFamily="34" charset="0"/>
                          <a:ea typeface="+mn-lt" pitchFamily="34" charset="-122"/>
                          <a:cs typeface="+mn-lt" pitchFamily="34" charset="-120"/>
                        </a:rPr>
                        <a:t>user (axis 1, axis 2)</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Finding Nemo</a:t>
                      </a:r>
                      <a:endParaRPr lang="en-US" sz="1050" dirty="0">
                        <a:latin typeface="+mn-lt" charset="0"/>
                        <a:ea typeface="+mn-lt" charset="0"/>
                        <a:cs typeface="+mn-lt" charset="0"/>
                      </a:endParaRPr>
                    </a:p>
                    <a:p>
                      <a:pPr algn="ctr" indent="0" marL="0">
                        <a:buNone/>
                      </a:pPr>
                      <a:r>
                        <a:rPr lang="en-US" sz="1050" b="1" dirty="0">
                          <a:solidFill>
                            <a:schemeClr val="bg1"/>
                          </a:solidFill>
                          <a:latin typeface="+mn-lt" pitchFamily="34" charset="0"/>
                          <a:ea typeface="+mn-lt" pitchFamily="34" charset="-122"/>
                          <a:cs typeface="+mn-lt" pitchFamily="34" charset="-120"/>
                        </a:rPr>
                        <a:t>(−0.9, 0.9)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Toy Story</a:t>
                      </a:r>
                      <a:endParaRPr lang="en-US" sz="1050" dirty="0">
                        <a:latin typeface="+mn-lt" charset="0"/>
                        <a:ea typeface="+mn-lt" charset="0"/>
                        <a:cs typeface="+mn-lt" charset="0"/>
                      </a:endParaRPr>
                    </a:p>
                    <a:p>
                      <a:pPr algn="ctr" indent="0" marL="0">
                        <a:buNone/>
                      </a:pPr>
                      <a:r>
                        <a:rPr lang="en-US" sz="1050" b="1" dirty="0">
                          <a:solidFill>
                            <a:schemeClr val="bg1"/>
                          </a:solidFill>
                          <a:latin typeface="+mn-lt" pitchFamily="34" charset="0"/>
                          <a:ea typeface="+mn-lt" pitchFamily="34" charset="-122"/>
                          <a:cs typeface="+mn-lt" pitchFamily="34" charset="-120"/>
                        </a:rPr>
                        <a:t>(−0.8, 0.7)</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Spirited Away</a:t>
                      </a:r>
                      <a:endParaRPr lang="en-US" sz="1050" dirty="0">
                        <a:latin typeface="+mn-lt" charset="0"/>
                        <a:ea typeface="+mn-lt" charset="0"/>
                        <a:cs typeface="+mn-lt" charset="0"/>
                      </a:endParaRPr>
                    </a:p>
                    <a:p>
                      <a:pPr algn="ctr" indent="0" marL="0">
                        <a:buNone/>
                      </a:pPr>
                      <a:r>
                        <a:rPr lang="en-US" sz="1050" b="1" dirty="0">
                          <a:solidFill>
                            <a:schemeClr val="bg1"/>
                          </a:solidFill>
                          <a:latin typeface="+mn-lt" pitchFamily="34" charset="0"/>
                          <a:ea typeface="+mn-lt" pitchFamily="34" charset="-122"/>
                          <a:cs typeface="+mn-lt" pitchFamily="34" charset="-120"/>
                        </a:rPr>
                        <a:t>(−0.6, −0.7)</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The Dark Knight</a:t>
                      </a:r>
                      <a:endParaRPr lang="en-US" sz="1050" dirty="0">
                        <a:latin typeface="+mn-lt" charset="0"/>
                        <a:ea typeface="+mn-lt" charset="0"/>
                        <a:cs typeface="+mn-lt" charset="0"/>
                      </a:endParaRPr>
                    </a:p>
                    <a:p>
                      <a:pPr algn="ctr" indent="0" marL="0">
                        <a:buNone/>
                      </a:pPr>
                      <a:r>
                        <a:rPr lang="en-US" sz="1050" b="1" dirty="0">
                          <a:solidFill>
                            <a:schemeClr val="bg1"/>
                          </a:solidFill>
                          <a:latin typeface="+mn-lt" pitchFamily="34" charset="0"/>
                          <a:ea typeface="+mn-lt" pitchFamily="34" charset="-122"/>
                          <a:cs typeface="+mn-lt" pitchFamily="34" charset="-120"/>
                        </a:rPr>
                        <a:t>(0.7, 0.9)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Pulp Fiction</a:t>
                      </a:r>
                      <a:endParaRPr lang="en-US" sz="1050" dirty="0">
                        <a:latin typeface="+mn-lt" charset="0"/>
                        <a:ea typeface="+mn-lt" charset="0"/>
                        <a:cs typeface="+mn-lt" charset="0"/>
                      </a:endParaRPr>
                    </a:p>
                    <a:p>
                      <a:pPr algn="ctr" indent="0" marL="0">
                        <a:buNone/>
                      </a:pPr>
                      <a:r>
                        <a:rPr lang="en-US" sz="1050" b="1" dirty="0">
                          <a:solidFill>
                            <a:schemeClr val="bg1"/>
                          </a:solidFill>
                          <a:latin typeface="+mn-lt" pitchFamily="34" charset="0"/>
                          <a:ea typeface="+mn-lt" pitchFamily="34" charset="-122"/>
                          <a:cs typeface="+mn-lt" pitchFamily="34" charset="-120"/>
                        </a:rPr>
                        <a:t>(0.8, −0.3)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Memento</a:t>
                      </a:r>
                      <a:endParaRPr lang="en-US" sz="1050" dirty="0">
                        <a:latin typeface="+mn-lt" charset="0"/>
                        <a:ea typeface="+mn-lt" charset="0"/>
                        <a:cs typeface="+mn-lt" charset="0"/>
                      </a:endParaRPr>
                    </a:p>
                    <a:p>
                      <a:pPr algn="ctr" indent="0" marL="0">
                        <a:buNone/>
                      </a:pPr>
                      <a:r>
                        <a:rPr lang="en-US" sz="1050" b="1" dirty="0">
                          <a:solidFill>
                            <a:schemeClr val="bg1"/>
                          </a:solidFill>
                          <a:latin typeface="+mn-lt" pitchFamily="34" charset="0"/>
                          <a:ea typeface="+mn-lt" pitchFamily="34" charset="-122"/>
                          <a:cs typeface="+mn-lt" pitchFamily="34" charset="-120"/>
                        </a:rPr>
                        <a:t>(0.7, −0.8)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r>
              <a:tr h="329184">
                <a:tc>
                  <a:txBody>
                    <a:bodyPr/>
                    <a:lstStyle/>
                    <a:p>
                      <a:pPr indent="0" marL="0">
                        <a:buNone/>
                      </a:pPr>
                      <a:r>
                        <a:rPr lang="en-US" sz="1050" b="1" dirty="0">
                          <a:solidFill>
                            <a:schemeClr val="tx1"/>
                          </a:solidFill>
                          <a:latin typeface="+mn-lt" pitchFamily="34" charset="0"/>
                          <a:ea typeface="+mn-lt" pitchFamily="34" charset="-122"/>
                          <a:cs typeface="+mn-lt" pitchFamily="34" charset="-120"/>
                        </a:rPr>
                        <a:t>A: kids + blockbusters  (−0.9, 0.8)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1.53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1.28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−0.02</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−0.96</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−1.27</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r>
              <a:tr h="329184">
                <a:tc>
                  <a:txBody>
                    <a:bodyPr/>
                    <a:lstStyle/>
                    <a:p>
                      <a:pPr indent="0" marL="0">
                        <a:buNone/>
                      </a:pPr>
                      <a:r>
                        <a:rPr lang="en-US" sz="1050" b="1" dirty="0">
                          <a:solidFill>
                            <a:schemeClr val="tx1"/>
                          </a:solidFill>
                          <a:latin typeface="+mn-lt" pitchFamily="34" charset="0"/>
                          <a:ea typeface="+mn-lt" pitchFamily="34" charset="-122"/>
                          <a:cs typeface="+mn-lt" pitchFamily="34" charset="-120"/>
                        </a:rPr>
                        <a:t>B: kids + arthouse  (−0.7, −0.8)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−0.00</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0.98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−1.21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−0.32</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0.15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chemeClr val="tx1"/>
                          </a:solidFill>
                          <a:latin typeface="+mn-lt" pitchFamily="34" charset="0"/>
                          <a:ea typeface="+mn-lt" pitchFamily="34" charset="-122"/>
                          <a:cs typeface="+mn-lt" pitchFamily="34" charset="-120"/>
                        </a:rPr>
                        <a:t>C: adult + blockbusters  (0.9, 0.8)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−0.16</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−1.10</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1.35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0.48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chemeClr val="tx1"/>
                          </a:solidFill>
                          <a:latin typeface="+mn-lt" pitchFamily="34" charset="0"/>
                          <a:ea typeface="+mn-lt" pitchFamily="34" charset="-122"/>
                          <a:cs typeface="+mn-lt" pitchFamily="34" charset="-120"/>
                        </a:rPr>
                        <a:t>D: adult + arthouse  (0.8, −0.9)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−1.53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−1.27</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0.15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−0.25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0.91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b="1" dirty="0">
                          <a:solidFill>
                            <a:schemeClr val="tx1"/>
                          </a:solidFill>
                          <a:latin typeface="+mn-lt" pitchFamily="34" charset="0"/>
                          <a:ea typeface="+mn-lt" pitchFamily="34" charset="-122"/>
                          <a:cs typeface="+mn-lt" pitchFamily="34" charset="-120"/>
                        </a:rPr>
                        <a:t>1.28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r>
              <a:tr h="329184">
                <a:tc>
                  <a:txBody>
                    <a:bodyPr/>
                    <a:lstStyle/>
                    <a:p>
                      <a:pPr indent="0" marL="0">
                        <a:buNone/>
                      </a:pPr>
                      <a:r>
                        <a:rPr lang="en-US" sz="1050" b="1" dirty="0">
                          <a:solidFill>
                            <a:schemeClr val="tx1"/>
                          </a:solidFill>
                          <a:latin typeface="+mn-lt" pitchFamily="34" charset="0"/>
                          <a:ea typeface="+mn-lt" pitchFamily="34" charset="-122"/>
                          <a:cs typeface="+mn-lt" pitchFamily="34" charset="-120"/>
                        </a:rPr>
                        <a:t>E: family blockbusters  (−0.2, 0.9)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0.99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0.79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−0.51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0.67</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CE6DC"/>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−0.43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−0.86</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r>
            </a:tbl>
          </a:graphicData>
        </a:graphic>
      </p:graphicFrame>
      <p:sp>
        <p:nvSpPr>
          <p:cNvPr id="22" name="Text 16"/>
          <p:cNvSpPr txBox="1"/>
          <p:nvPr/>
        </p:nvSpPr>
        <p:spPr>
          <a:xfrm>
            <a:off x="4754880" y="4261104"/>
            <a:ext cx="6858000" cy="228600"/>
          </a:xfrm>
          <a:prstGeom prst="rect">
            <a:avLst/>
          </a:prstGeom>
          <a:noFill/>
          <a:ln/>
        </p:spPr>
        <p:txBody>
          <a:bodyPr wrap="square" lIns="0" tIns="0" rIns="0" bIns="0" rtlCol="0" anchor="t"/>
          <a:lstStyle/>
          <a:p>
            <a:pPr indent="0" marL="0">
              <a:buNone/>
            </a:pPr>
            <a:r>
              <a:rPr lang="en-US" sz="1100" dirty="0">
                <a:solidFill>
                  <a:schemeClr val="accent5"/>
                </a:solidFill>
              </a:rPr>
              <a:t>Orange = likely to like (≥ 0.5), blue = likely to dislike (≤ −0.5)</a:t>
            </a:r>
            <a:endParaRPr lang="en-US" sz="1100" dirty="0"/>
          </a:p>
        </p:txBody>
      </p:sp>
      <p:sp>
        <p:nvSpPr>
          <p:cNvPr id="23" name="card"/>
          <p:cNvSpPr/>
          <p:nvPr/>
        </p:nvSpPr>
        <p:spPr>
          <a:xfrm>
            <a:off x="4754880" y="4617720"/>
            <a:ext cx="3154680" cy="1600200"/>
          </a:xfrm>
          <a:prstGeom prst="roundRect">
            <a:avLst>
              <a:gd name="adj" fmla="val 4571"/>
            </a:avLst>
          </a:prstGeom>
          <a:solidFill>
            <a:schemeClr val="bg2"/>
          </a:solidFill>
          <a:ln w="12700">
            <a:solidFill>
              <a:schemeClr val="bg2"/>
            </a:solidFill>
            <a:prstDash val="solid"/>
          </a:ln>
        </p:spPr>
      </p:sp>
      <p:sp>
        <p:nvSpPr>
          <p:cNvPr id="24" name="Text 18"/>
          <p:cNvSpPr txBox="1"/>
          <p:nvPr/>
        </p:nvSpPr>
        <p:spPr>
          <a:xfrm>
            <a:off x="4937760" y="4709160"/>
            <a:ext cx="2834640" cy="1417320"/>
          </a:xfrm>
          <a:prstGeom prst="rect">
            <a:avLst/>
          </a:prstGeom>
          <a:noFill/>
          <a:ln/>
        </p:spPr>
        <p:txBody>
          <a:bodyPr wrap="square" lIns="0" tIns="0" rIns="0" bIns="0" rtlCol="0" anchor="t"/>
          <a:lstStyle/>
          <a:p>
            <a:pPr indent="0" marL="0">
              <a:spcAft>
                <a:spcPts val="400"/>
              </a:spcAft>
              <a:buNone/>
            </a:pPr>
            <a:r>
              <a:rPr lang="en-US" sz="1200" b="1" dirty="0">
                <a:solidFill>
                  <a:schemeClr val="tx2"/>
                </a:solidFill>
              </a:rPr>
              <a:t>1-D only (kids ↔ adult)</a:t>
            </a:r>
            <a:endParaRPr lang="en-US" sz="1200" dirty="0"/>
          </a:p>
          <a:p>
            <a:pPr indent="0" marL="0">
              <a:spcAft>
                <a:spcPts val="400"/>
              </a:spcAft>
              <a:buNone/>
            </a:pPr>
            <a:r>
              <a:rPr lang="en-US" sz="1100" dirty="0">
                <a:solidFill>
                  <a:schemeClr val="accent5"/>
                </a:solidFill>
              </a:rPr>
              <a:t>score for The Dark Knight</a:t>
            </a:r>
            <a:endParaRPr lang="en-US" sz="1200" dirty="0"/>
          </a:p>
          <a:p>
            <a:pPr indent="0" marL="0">
              <a:spcAft>
                <a:spcPts val="400"/>
              </a:spcAft>
              <a:buNone/>
            </a:pPr>
            <a:r>
              <a:rPr lang="en-US" sz="2000" b="1" dirty="0">
                <a:solidFill>
                  <a:schemeClr val="tx2"/>
                </a:solidFill>
                <a:latin typeface="+mj-lt" pitchFamily="34" charset="0"/>
                <a:ea typeface="+mj-lt" pitchFamily="34" charset="-122"/>
                <a:cs typeface="+mj-lt" pitchFamily="34" charset="-120"/>
              </a:rPr>
              <a:t>C 0.63   ·   D 0.56</a:t>
            </a:r>
            <a:endParaRPr lang="en-US" sz="1200" dirty="0"/>
          </a:p>
          <a:p>
            <a:pPr indent="0" marL="0">
              <a:spcAft>
                <a:spcPts val="400"/>
              </a:spcAft>
              <a:buNone/>
            </a:pPr>
            <a:r>
              <a:rPr lang="en-US" sz="1100" dirty="0">
                <a:solidFill>
                  <a:schemeClr val="accent5"/>
                </a:solidFill>
              </a:rPr>
              <a:t>Blockbuster fan C and arthouse fan D get the same verdict</a:t>
            </a:r>
            <a:endParaRPr lang="en-US" sz="1200" dirty="0"/>
          </a:p>
        </p:txBody>
      </p:sp>
      <p:pic>
        <p:nvPicPr>
          <p:cNvPr id="25" name="arrow" descr="preencoded.png">    </p:cNvPr>
          <p:cNvPicPr>
            <a:picLocks noChangeAspect="1"/>
          </p:cNvPicPr>
          <p:nvPr/>
        </p:nvPicPr>
        <p:blipFill>
          <a:blip r:embed="rId4"/>
          <a:stretch>
            <a:fillRect/>
          </a:stretch>
        </p:blipFill>
        <p:spPr>
          <a:xfrm>
            <a:off x="8028432" y="5239512"/>
            <a:ext cx="347472" cy="347472"/>
          </a:xfrm>
          <a:prstGeom prst="rect">
            <a:avLst/>
          </a:prstGeom>
        </p:spPr>
      </p:pic>
      <p:sp>
        <p:nvSpPr>
          <p:cNvPr id="26" name="card"/>
          <p:cNvSpPr/>
          <p:nvPr/>
        </p:nvSpPr>
        <p:spPr>
          <a:xfrm>
            <a:off x="8485632" y="4617720"/>
            <a:ext cx="3154680" cy="1600200"/>
          </a:xfrm>
          <a:prstGeom prst="roundRect">
            <a:avLst>
              <a:gd name="adj" fmla="val 4571"/>
            </a:avLst>
          </a:prstGeom>
          <a:solidFill>
            <a:srgbClr val="FCE6DC"/>
          </a:solidFill>
          <a:ln w="12700">
            <a:solidFill>
              <a:srgbClr val="FCE6DC"/>
            </a:solidFill>
            <a:prstDash val="solid"/>
          </a:ln>
        </p:spPr>
      </p:sp>
      <p:sp>
        <p:nvSpPr>
          <p:cNvPr id="27" name="Text 20"/>
          <p:cNvSpPr txBox="1"/>
          <p:nvPr/>
        </p:nvSpPr>
        <p:spPr>
          <a:xfrm>
            <a:off x="8668512" y="4709160"/>
            <a:ext cx="2834640" cy="1417320"/>
          </a:xfrm>
          <a:prstGeom prst="rect">
            <a:avLst/>
          </a:prstGeom>
          <a:noFill/>
          <a:ln/>
        </p:spPr>
        <p:txBody>
          <a:bodyPr wrap="square" lIns="0" tIns="0" rIns="0" bIns="0" rtlCol="0" anchor="t"/>
          <a:lstStyle/>
          <a:p>
            <a:pPr indent="0" marL="0">
              <a:spcAft>
                <a:spcPts val="400"/>
              </a:spcAft>
              <a:buNone/>
            </a:pPr>
            <a:r>
              <a:rPr lang="en-US" sz="1200" b="1" dirty="0">
                <a:solidFill>
                  <a:schemeClr val="tx2"/>
                </a:solidFill>
              </a:rPr>
              <a:t>2-D (+ arthouse ↔ blockbuster)</a:t>
            </a:r>
            <a:endParaRPr lang="en-US" sz="1200" dirty="0"/>
          </a:p>
          <a:p>
            <a:pPr indent="0" marL="0">
              <a:spcAft>
                <a:spcPts val="400"/>
              </a:spcAft>
              <a:buNone/>
            </a:pPr>
            <a:r>
              <a:rPr lang="en-US" sz="1100" dirty="0">
                <a:solidFill>
                  <a:schemeClr val="accent5"/>
                </a:solidFill>
              </a:rPr>
              <a:t>score for The Dark Knight</a:t>
            </a:r>
            <a:endParaRPr lang="en-US" sz="1200" dirty="0"/>
          </a:p>
          <a:p>
            <a:pPr indent="0" marL="0">
              <a:spcAft>
                <a:spcPts val="400"/>
              </a:spcAft>
              <a:buNone/>
            </a:pPr>
            <a:r>
              <a:rPr lang="en-US" sz="2000" b="1" dirty="0">
                <a:solidFill>
                  <a:schemeClr val="accent2"/>
                </a:solidFill>
                <a:latin typeface="+mj-lt" pitchFamily="34" charset="0"/>
                <a:ea typeface="+mj-lt" pitchFamily="34" charset="-122"/>
                <a:cs typeface="+mj-lt" pitchFamily="34" charset="-120"/>
              </a:rPr>
              <a:t>C 1.35   ·   D −0.25</a:t>
            </a:r>
            <a:endParaRPr lang="en-US" sz="1200" dirty="0"/>
          </a:p>
          <a:p>
            <a:pPr indent="0" marL="0">
              <a:spcAft>
                <a:spcPts val="400"/>
              </a:spcAft>
              <a:buNone/>
            </a:pPr>
            <a:r>
              <a:rPr lang="en-US" sz="1100" dirty="0">
                <a:solidFill>
                  <a:schemeClr val="accent5"/>
                </a:solidFill>
              </a:rPr>
              <a:t>The second axis separates them</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2  ·  MEMORY-BASED CF: USER-BASED FILTERING</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User-based CF: borrow ratings from similar users</a:t>
            </a:r>
            <a:endParaRPr lang="en-US" sz="3600" dirty="0"/>
          </a:p>
        </p:txBody>
      </p:sp>
      <p:sp>
        <p:nvSpPr>
          <p:cNvPr id="4" name="stat card"/>
          <p:cNvSpPr/>
          <p:nvPr/>
        </p:nvSpPr>
        <p:spPr>
          <a:xfrm>
            <a:off x="548640" y="1508760"/>
            <a:ext cx="2606040" cy="1051560"/>
          </a:xfrm>
          <a:prstGeom prst="roundRect">
            <a:avLst>
              <a:gd name="adj" fmla="val 6957"/>
            </a:avLst>
          </a:prstGeom>
          <a:solidFill>
            <a:schemeClr val="bg2"/>
          </a:solidFill>
          <a:ln w="12700">
            <a:solidFill>
              <a:schemeClr val="bg2"/>
            </a:solidFill>
            <a:prstDash val="solid"/>
          </a:ln>
        </p:spPr>
      </p:sp>
      <p:sp>
        <p:nvSpPr>
          <p:cNvPr id="5" name="stat value"/>
          <p:cNvSpPr txBox="1"/>
          <p:nvPr/>
        </p:nvSpPr>
        <p:spPr>
          <a:xfrm>
            <a:off x="731520"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150 × 300</a:t>
            </a:r>
            <a:endParaRPr lang="en-US" sz="2800" dirty="0"/>
          </a:p>
        </p:txBody>
      </p:sp>
      <p:sp>
        <p:nvSpPr>
          <p:cNvPr id="6" name="stat label"/>
          <p:cNvSpPr txBox="1"/>
          <p:nvPr/>
        </p:nvSpPr>
        <p:spPr>
          <a:xfrm>
            <a:off x="731520"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core subset: most active users × most-rated movies, 43.4% filled</a:t>
            </a:r>
            <a:endParaRPr lang="en-US" sz="1200" dirty="0"/>
          </a:p>
        </p:txBody>
      </p:sp>
      <p:sp>
        <p:nvSpPr>
          <p:cNvPr id="7" name="stat card"/>
          <p:cNvSpPr/>
          <p:nvPr/>
        </p:nvSpPr>
        <p:spPr>
          <a:xfrm>
            <a:off x="3383280" y="1508760"/>
            <a:ext cx="2606040" cy="1051560"/>
          </a:xfrm>
          <a:prstGeom prst="roundRect">
            <a:avLst>
              <a:gd name="adj" fmla="val 6957"/>
            </a:avLst>
          </a:prstGeom>
          <a:solidFill>
            <a:schemeClr val="bg2"/>
          </a:solidFill>
          <a:ln w="12700">
            <a:solidFill>
              <a:schemeClr val="bg2"/>
            </a:solidFill>
            <a:prstDash val="solid"/>
          </a:ln>
        </p:spPr>
      </p:sp>
      <p:sp>
        <p:nvSpPr>
          <p:cNvPr id="8" name="stat value"/>
          <p:cNvSpPr txBox="1"/>
          <p:nvPr/>
        </p:nvSpPr>
        <p:spPr>
          <a:xfrm>
            <a:off x="3566160"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20</a:t>
            </a:r>
            <a:endParaRPr lang="en-US" sz="2800" dirty="0"/>
          </a:p>
        </p:txBody>
      </p:sp>
      <p:sp>
        <p:nvSpPr>
          <p:cNvPr id="9" name="stat label"/>
          <p:cNvSpPr txBox="1"/>
          <p:nvPr/>
        </p:nvSpPr>
        <p:spPr>
          <a:xfrm>
            <a:off x="3566160"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neighbours of user 63 who rated The Matrix (Pearson similarity)</a:t>
            </a:r>
            <a:endParaRPr lang="en-US" sz="1200" dirty="0"/>
          </a:p>
        </p:txBody>
      </p:sp>
      <p:sp>
        <p:nvSpPr>
          <p:cNvPr id="10" name="stat card"/>
          <p:cNvSpPr/>
          <p:nvPr/>
        </p:nvSpPr>
        <p:spPr>
          <a:xfrm>
            <a:off x="6208776" y="1508760"/>
            <a:ext cx="2606040" cy="1051560"/>
          </a:xfrm>
          <a:prstGeom prst="roundRect">
            <a:avLst>
              <a:gd name="adj" fmla="val 6957"/>
            </a:avLst>
          </a:prstGeom>
          <a:solidFill>
            <a:schemeClr val="bg2"/>
          </a:solidFill>
          <a:ln w="12700">
            <a:solidFill>
              <a:schemeClr val="bg2"/>
            </a:solidFill>
            <a:prstDash val="solid"/>
          </a:ln>
        </p:spPr>
      </p:sp>
      <p:sp>
        <p:nvSpPr>
          <p:cNvPr id="11" name="stat value"/>
          <p:cNvSpPr txBox="1"/>
          <p:nvPr/>
        </p:nvSpPr>
        <p:spPr>
          <a:xfrm>
            <a:off x="6391656" y="160020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3.91</a:t>
            </a:r>
            <a:endParaRPr lang="en-US" sz="2800" dirty="0"/>
          </a:p>
        </p:txBody>
      </p:sp>
      <p:sp>
        <p:nvSpPr>
          <p:cNvPr id="12" name="stat label"/>
          <p:cNvSpPr txBox="1"/>
          <p:nvPr/>
        </p:nvSpPr>
        <p:spPr>
          <a:xfrm>
            <a:off x="6391656"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predicted for user 63 on The Matrix; held-out true rating 3.5</a:t>
            </a:r>
            <a:endParaRPr lang="en-US" sz="1200" dirty="0"/>
          </a:p>
        </p:txBody>
      </p:sp>
      <p:sp>
        <p:nvSpPr>
          <p:cNvPr id="13" name="stat card"/>
          <p:cNvSpPr/>
          <p:nvPr/>
        </p:nvSpPr>
        <p:spPr>
          <a:xfrm>
            <a:off x="9043416" y="1508760"/>
            <a:ext cx="2606040" cy="1051560"/>
          </a:xfrm>
          <a:prstGeom prst="roundRect">
            <a:avLst>
              <a:gd name="adj" fmla="val 6957"/>
            </a:avLst>
          </a:prstGeom>
          <a:solidFill>
            <a:schemeClr val="bg2"/>
          </a:solidFill>
          <a:ln w="12700">
            <a:solidFill>
              <a:schemeClr val="bg2"/>
            </a:solidFill>
            <a:prstDash val="solid"/>
          </a:ln>
        </p:spPr>
      </p:sp>
      <p:sp>
        <p:nvSpPr>
          <p:cNvPr id="14" name="stat value"/>
          <p:cNvSpPr txBox="1"/>
          <p:nvPr/>
        </p:nvSpPr>
        <p:spPr>
          <a:xfrm>
            <a:off x="9226296"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185,745</a:t>
            </a:r>
            <a:endParaRPr lang="en-US" sz="2800" dirty="0"/>
          </a:p>
        </p:txBody>
      </p:sp>
      <p:sp>
        <p:nvSpPr>
          <p:cNvPr id="15" name="stat label"/>
          <p:cNvSpPr txBox="1"/>
          <p:nvPr/>
        </p:nvSpPr>
        <p:spPr>
          <a:xfrm>
            <a:off x="9226296"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user pairs to compare at 610 users; 5 × 10¹⁵ at 100 M users: O(m²)</a:t>
            </a:r>
            <a:endParaRPr lang="en-US" sz="1200" dirty="0"/>
          </a:p>
        </p:txBody>
      </p:sp>
      <p:sp>
        <p:nvSpPr>
          <p:cNvPr id="16" name="formula"/>
          <p:cNvSpPr/>
          <p:nvPr/>
        </p:nvSpPr>
        <p:spPr>
          <a:xfrm>
            <a:off x="548640" y="2788920"/>
            <a:ext cx="6035040" cy="868680"/>
          </a:xfrm>
          <a:prstGeom prst="roundRect">
            <a:avLst>
              <a:gd name="adj" fmla="val 8421"/>
            </a:avLst>
          </a:prstGeom>
          <a:solidFill>
            <a:srgbClr val="E3EEFB"/>
          </a:solidFill>
          <a:ln w="12700">
            <a:solidFill>
              <a:srgbClr val="E3EEFB"/>
            </a:solidFill>
            <a:prstDash val="solid"/>
          </a:ln>
        </p:spPr>
      </p:sp>
      <p:sp>
        <p:nvSpPr>
          <p:cNvPr id="17" name="Text 15"/>
          <p:cNvSpPr txBox="1"/>
          <p:nvPr/>
        </p:nvSpPr>
        <p:spPr>
          <a:xfrm>
            <a:off x="731520" y="2834640"/>
            <a:ext cx="5715000" cy="777240"/>
          </a:xfrm>
          <a:prstGeom prst="rect">
            <a:avLst/>
          </a:prstGeom>
          <a:noFill/>
          <a:ln/>
        </p:spPr>
        <p:txBody>
          <a:bodyPr wrap="square" lIns="0" tIns="0" rIns="0" bIns="0" rtlCol="0" anchor="ctr"/>
          <a:lstStyle/>
          <a:p>
            <a:pPr indent="0" marL="0">
              <a:buNone/>
            </a:pPr>
            <a:r>
              <a:rPr lang="en-US" sz="1250" b="1" dirty="0">
                <a:solidFill>
                  <a:schemeClr val="tx2"/>
                </a:solidFill>
              </a:rPr>
              <a:t>sim(u,v) = Cov(r_u, r_v) / (σ_u · σ_v)</a:t>
            </a:r>
            <a:endParaRPr lang="en-US" sz="1250" dirty="0"/>
          </a:p>
          <a:p>
            <a:pPr indent="0" marL="0">
              <a:buNone/>
            </a:pPr>
            <a:r>
              <a:rPr lang="en-US" sz="1250" b="1" dirty="0">
                <a:solidFill>
                  <a:schemeClr val="tx2"/>
                </a:solidFill>
              </a:rPr>
              <a:t>pred(u,i) = r̄_u + Σ_v sim(u,v)·(r_vi − r̄_v) / Σ_v |sim(u,v)|</a:t>
            </a:r>
            <a:endParaRPr lang="en-US" sz="1250" dirty="0"/>
          </a:p>
          <a:p>
            <a:pPr indent="0" marL="0">
              <a:buNone/>
            </a:pPr>
            <a:r>
              <a:rPr lang="en-US" sz="1050" dirty="0">
                <a:solidFill>
                  <a:schemeClr val="accent5"/>
                </a:solidFill>
              </a:rPr>
              <a:t>Pearson over co-rated movies only; centring on each user's mean corrects for generous vs harsh raters</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6035040" cy="914400"/>
        </p:xfrm>
        <a:graphic>
          <a:graphicData uri="http://schemas.openxmlformats.org/drawingml/2006/table">
            <a:tbl>
              <a:tblPr/>
              <a:tblGrid>
                <a:gridCol w="1417320"/>
                <a:gridCol w="914400"/>
                <a:gridCol w="731520"/>
                <a:gridCol w="868680"/>
                <a:gridCol w="1097280"/>
                <a:gridCol w="1005840"/>
              </a:tblGrid>
              <a:tr h="237744">
                <a:tc>
                  <a:txBody>
                    <a:bodyPr/>
                    <a:lstStyle/>
                    <a:p>
                      <a:pPr algn="l" indent="0" marL="0">
                        <a:buNone/>
                      </a:pPr>
                      <a:r>
                        <a:rPr lang="en-US" sz="1100" b="1" dirty="0">
                          <a:solidFill>
                            <a:schemeClr val="bg1"/>
                          </a:solidFill>
                          <a:latin typeface="+mn-lt" pitchFamily="34" charset="0"/>
                          <a:ea typeface="+mn-lt" pitchFamily="34" charset="-122"/>
                          <a:cs typeface="+mn-lt" pitchFamily="34" charset="-120"/>
                        </a:rPr>
                        <a:t>neighbour</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sim(u,v)</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r_vi</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r̄_v</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r_vi − r̄_v</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sim × dev</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r>
              <a:tr h="237744">
                <a:tc>
                  <a:txBody>
                    <a:bodyPr/>
                    <a:lstStyle/>
                    <a:p>
                      <a:pPr indent="0" marL="0">
                        <a:buNone/>
                      </a:pPr>
                      <a:r>
                        <a:rPr lang="en-US" sz="1100" dirty="0">
                          <a:solidFill>
                            <a:schemeClr val="tx1"/>
                          </a:solidFill>
                          <a:latin typeface="+mn-lt" pitchFamily="34" charset="0"/>
                          <a:ea typeface="+mn-lt" pitchFamily="34" charset="-122"/>
                          <a:cs typeface="+mn-lt" pitchFamily="34" charset="-120"/>
                        </a:rPr>
                        <a:t>user 219</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0.483</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5.0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3.503</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+1.497</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2"/>
                          </a:solidFill>
                          <a:latin typeface="+mn-lt" pitchFamily="34" charset="0"/>
                          <a:ea typeface="+mn-lt" pitchFamily="34" charset="-122"/>
                          <a:cs typeface="+mn-lt" pitchFamily="34" charset="-120"/>
                        </a:rPr>
                        <a:t>+0.723</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37744">
                <a:tc>
                  <a:txBody>
                    <a:bodyPr/>
                    <a:lstStyle/>
                    <a:p>
                      <a:pPr indent="0" marL="0">
                        <a:buNone/>
                      </a:pPr>
                      <a:r>
                        <a:rPr lang="en-US" sz="1100" dirty="0">
                          <a:solidFill>
                            <a:schemeClr val="tx1"/>
                          </a:solidFill>
                          <a:latin typeface="+mn-lt" pitchFamily="34" charset="0"/>
                          <a:ea typeface="+mn-lt" pitchFamily="34" charset="-122"/>
                          <a:cs typeface="+mn-lt" pitchFamily="34" charset="-120"/>
                        </a:rPr>
                        <a:t>user 509</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0.471</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3.5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3.495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+0.005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2"/>
                          </a:solidFill>
                          <a:latin typeface="+mn-lt" pitchFamily="34" charset="0"/>
                          <a:ea typeface="+mn-lt" pitchFamily="34" charset="-122"/>
                          <a:cs typeface="+mn-lt" pitchFamily="34" charset="-120"/>
                        </a:rPr>
                        <a:t>+0.002</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37744">
                <a:tc>
                  <a:txBody>
                    <a:bodyPr/>
                    <a:lstStyle/>
                    <a:p>
                      <a:pPr indent="0" marL="0">
                        <a:buNone/>
                      </a:pPr>
                      <a:r>
                        <a:rPr lang="en-US" sz="1100" dirty="0">
                          <a:solidFill>
                            <a:schemeClr val="tx1"/>
                          </a:solidFill>
                          <a:latin typeface="+mn-lt" pitchFamily="34" charset="0"/>
                          <a:ea typeface="+mn-lt" pitchFamily="34" charset="-122"/>
                          <a:cs typeface="+mn-lt" pitchFamily="34" charset="-120"/>
                        </a:rPr>
                        <a:t>user 160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0.440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4.0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3.288</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+0.712</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2"/>
                          </a:solidFill>
                          <a:latin typeface="+mn-lt" pitchFamily="34" charset="0"/>
                          <a:ea typeface="+mn-lt" pitchFamily="34" charset="-122"/>
                          <a:cs typeface="+mn-lt" pitchFamily="34" charset="-120"/>
                        </a:rPr>
                        <a:t>+0.313</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37744">
                <a:tc>
                  <a:txBody>
                    <a:bodyPr/>
                    <a:lstStyle/>
                    <a:p>
                      <a:pPr indent="0" marL="0">
                        <a:buNone/>
                      </a:pPr>
                      <a:r>
                        <a:rPr lang="en-US" sz="1100" dirty="0">
                          <a:solidFill>
                            <a:schemeClr val="tx1"/>
                          </a:solidFill>
                          <a:latin typeface="+mn-lt" pitchFamily="34" charset="0"/>
                          <a:ea typeface="+mn-lt" pitchFamily="34" charset="-122"/>
                          <a:cs typeface="+mn-lt" pitchFamily="34" charset="-120"/>
                        </a:rPr>
                        <a:t>user 254</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0.438</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5.0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4.146</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+0.854</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2"/>
                          </a:solidFill>
                          <a:latin typeface="+mn-lt" pitchFamily="34" charset="0"/>
                          <a:ea typeface="+mn-lt" pitchFamily="34" charset="-122"/>
                          <a:cs typeface="+mn-lt" pitchFamily="34" charset="-120"/>
                        </a:rPr>
                        <a:t>+0.375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37744">
                <a:tc>
                  <a:txBody>
                    <a:bodyPr/>
                    <a:lstStyle/>
                    <a:p>
                      <a:pPr indent="0" marL="0">
                        <a:buNone/>
                      </a:pPr>
                      <a:r>
                        <a:rPr lang="en-US" sz="1100" dirty="0">
                          <a:solidFill>
                            <a:schemeClr val="tx1"/>
                          </a:solidFill>
                          <a:latin typeface="+mn-lt" pitchFamily="34" charset="0"/>
                          <a:ea typeface="+mn-lt" pitchFamily="34" charset="-122"/>
                          <a:cs typeface="+mn-lt" pitchFamily="34" charset="-120"/>
                        </a:rPr>
                        <a:t>user 448</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0.437</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2.0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3.620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−1.620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1"/>
                          </a:solidFill>
                          <a:latin typeface="+mn-lt" pitchFamily="34" charset="0"/>
                          <a:ea typeface="+mn-lt" pitchFamily="34" charset="-122"/>
                          <a:cs typeface="+mn-lt" pitchFamily="34" charset="-120"/>
                        </a:rPr>
                        <a:t>−0.708</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37744">
                <a:tc>
                  <a:txBody>
                    <a:bodyPr/>
                    <a:lstStyle/>
                    <a:p>
                      <a:pPr indent="0" marL="0">
                        <a:buNone/>
                      </a:pPr>
                      <a:r>
                        <a:rPr lang="en-US" sz="1100" dirty="0">
                          <a:solidFill>
                            <a:schemeClr val="tx1"/>
                          </a:solidFill>
                          <a:latin typeface="+mn-lt" pitchFamily="34" charset="0"/>
                          <a:ea typeface="+mn-lt" pitchFamily="34" charset="-122"/>
                          <a:cs typeface="+mn-lt" pitchFamily="34" charset="-120"/>
                        </a:rPr>
                        <a:t>user 593</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0.434</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2.5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3.222</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−0.722</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1"/>
                          </a:solidFill>
                          <a:latin typeface="+mn-lt" pitchFamily="34" charset="0"/>
                          <a:ea typeface="+mn-lt" pitchFamily="34" charset="-122"/>
                          <a:cs typeface="+mn-lt" pitchFamily="34" charset="-120"/>
                        </a:rPr>
                        <a:t>−0.313</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37744">
                <a:tc>
                  <a:txBody>
                    <a:bodyPr/>
                    <a:lstStyle/>
                    <a:p>
                      <a:pPr indent="0" marL="0">
                        <a:buNone/>
                      </a:pPr>
                      <a:r>
                        <a:rPr lang="en-US" sz="1100" i="1" dirty="0">
                          <a:solidFill>
                            <a:schemeClr val="accent5"/>
                          </a:solidFill>
                          <a:latin typeface="+mn-lt" pitchFamily="34" charset="0"/>
                          <a:ea typeface="+mn-lt" pitchFamily="34" charset="-122"/>
                          <a:cs typeface="+mn-lt" pitchFamily="34" charset="-120"/>
                        </a:rPr>
                        <a:t>… 14 more neighbours</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19" name="Text 16"/>
          <p:cNvSpPr txBox="1"/>
          <p:nvPr/>
        </p:nvSpPr>
        <p:spPr>
          <a:xfrm>
            <a:off x="548640" y="5833872"/>
            <a:ext cx="6035040" cy="320040"/>
          </a:xfrm>
          <a:prstGeom prst="rect">
            <a:avLst/>
          </a:prstGeom>
          <a:noFill/>
          <a:ln/>
        </p:spPr>
        <p:txBody>
          <a:bodyPr wrap="square" lIns="0" tIns="0" rIns="0" bIns="0" rtlCol="0" anchor="ctr"/>
          <a:lstStyle/>
          <a:p>
            <a:pPr indent="0" marL="0">
              <a:buNone/>
            </a:pPr>
            <a:r>
              <a:rPr lang="en-US" sz="1300" b="1" dirty="0">
                <a:solidFill>
                  <a:schemeClr val="tx2"/>
                </a:solidFill>
              </a:rPr>
              <a:t>Hand-worked: </a:t>
            </a:r>
            <a:pPr indent="0" marL="0">
              <a:buNone/>
            </a:pPr>
            <a:r>
              <a:rPr lang="en-US" sz="1300" dirty="0">
                <a:solidFill>
                  <a:schemeClr val="tx1"/>
                </a:solidFill>
              </a:rPr>
              <a:t>3.597 + 2.429 / 7.745 = 3.597 + 0.314 = </a:t>
            </a:r>
            <a:pPr indent="0" marL="0">
              <a:buNone/>
            </a:pPr>
            <a:r>
              <a:rPr lang="en-US" sz="1300" b="1" dirty="0">
                <a:solidFill>
                  <a:schemeClr val="accent2"/>
                </a:solidFill>
              </a:rPr>
              <a:t>3.91</a:t>
            </a:r>
            <a:endParaRPr lang="en-US" sz="1300" dirty="0"/>
          </a:p>
        </p:txBody>
      </p:sp>
      <p:graphicFrame>
        <p:nvGraphicFramePr>
          <p:cNvPr id="20" name="Chart 0" descr=""/>
          <p:cNvGraphicFramePr/>
          <p:nvPr/>
        </p:nvGraphicFramePr>
        <p:xfrm>
          <a:off x="6903720" y="2743200"/>
          <a:ext cx="4754880" cy="260604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6903720" y="5440680"/>
            <a:ext cx="4754880" cy="777240"/>
          </a:xfrm>
          <a:prstGeom prst="rect">
            <a:avLst/>
          </a:prstGeom>
          <a:noFill/>
          <a:ln/>
        </p:spPr>
        <p:txBody>
          <a:bodyPr wrap="square" lIns="0" tIns="0" rIns="0" bIns="0" rtlCol="0" anchor="t"/>
          <a:lstStyle/>
          <a:p>
            <a:pPr indent="0" marL="0">
              <a:buNone/>
            </a:pPr>
            <a:r>
              <a:rPr lang="en-US" sz="1100" dirty="0">
                <a:solidFill>
                  <a:schemeClr val="accent5"/>
                </a:solidFill>
              </a:rPr>
              <a:t>CF moved the prediction up from the user's mean because the 20 neighbours rated The Matrix above their own averages; user 63 is lukewarm on it. One rating is an anecdote: on 13,579 test ratings user-based CF beats the user-mean baseline, RMSE 0.838 vs 0.913 (Exercise 1).</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3  ·  MEMORY-BASED CF: ITEM-BASED FILTERING</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Item-based CF: compare movies, not people</a:t>
            </a:r>
            <a:endParaRPr lang="en-US" sz="3600" dirty="0"/>
          </a:p>
        </p:txBody>
      </p:sp>
      <p:graphicFrame>
        <p:nvGraphicFramePr>
          <p:cNvPr id="4" name="Chart 0" descr=""/>
          <p:cNvGraphicFramePr/>
          <p:nvPr/>
        </p:nvGraphicFramePr>
        <p:xfrm>
          <a:off x="548640" y="1463040"/>
          <a:ext cx="521208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486400"/>
            <a:ext cx="5212080" cy="731520"/>
          </a:xfrm>
          <a:prstGeom prst="rect">
            <a:avLst/>
          </a:prstGeom>
          <a:noFill/>
          <a:ln/>
        </p:spPr>
        <p:txBody>
          <a:bodyPr wrap="square" lIns="0" tIns="0" rIns="0" bIns="0" rtlCol="0" anchor="t"/>
          <a:lstStyle/>
          <a:p>
            <a:pPr indent="0" marL="0">
              <a:buNone/>
            </a:pPr>
            <a:r>
              <a:rPr lang="en-US" sz="1100" dirty="0">
                <a:solidFill>
                  <a:schemeClr val="accent5"/>
                </a:solidFill>
              </a:rPr>
              <a:t>No genre data used. Mostly action / crime / thriller of the same era; the top match, Office Space (a comedy), shares The Matrix's audience, not its genre: behavioural similarity a content-based model can't see.</a:t>
            </a:r>
            <a:endParaRPr lang="en-US" sz="1100" dirty="0"/>
          </a:p>
        </p:txBody>
      </p:sp>
      <p:sp>
        <p:nvSpPr>
          <p:cNvPr id="6" name="formula"/>
          <p:cNvSpPr/>
          <p:nvPr/>
        </p:nvSpPr>
        <p:spPr>
          <a:xfrm>
            <a:off x="6035040" y="1508760"/>
            <a:ext cx="5605272" cy="960120"/>
          </a:xfrm>
          <a:prstGeom prst="roundRect">
            <a:avLst>
              <a:gd name="adj" fmla="val 7619"/>
            </a:avLst>
          </a:prstGeom>
          <a:solidFill>
            <a:srgbClr val="E3EEFB"/>
          </a:solidFill>
          <a:ln w="12700">
            <a:solidFill>
              <a:srgbClr val="E3EEFB"/>
            </a:solidFill>
            <a:prstDash val="solid"/>
          </a:ln>
        </p:spPr>
      </p:sp>
      <p:sp>
        <p:nvSpPr>
          <p:cNvPr id="7" name="Text 4"/>
          <p:cNvSpPr txBox="1"/>
          <p:nvPr/>
        </p:nvSpPr>
        <p:spPr>
          <a:xfrm>
            <a:off x="6217920" y="1554480"/>
            <a:ext cx="5303520" cy="868680"/>
          </a:xfrm>
          <a:prstGeom prst="rect">
            <a:avLst/>
          </a:prstGeom>
          <a:noFill/>
          <a:ln/>
        </p:spPr>
        <p:txBody>
          <a:bodyPr wrap="square" lIns="0" tIns="0" rIns="0" bIns="0" rtlCol="0" anchor="ctr"/>
          <a:lstStyle/>
          <a:p>
            <a:pPr indent="0" marL="0">
              <a:buNone/>
            </a:pPr>
            <a:r>
              <a:rPr lang="en-US" sz="1200" b="1" dirty="0">
                <a:solidFill>
                  <a:schemeClr val="tx2"/>
                </a:solidFill>
              </a:rPr>
              <a:t>adjcos(i,j) = Σ_u (r_ui − r̄_u)(r_uj − r̄_u) / ( √Σ_u (r_ui − r̄_u)² · √Σ_u (r_uj − r̄_u)² )</a:t>
            </a:r>
            <a:endParaRPr lang="en-US" sz="1200" dirty="0"/>
          </a:p>
          <a:p>
            <a:pPr indent="0" marL="0">
              <a:buNone/>
            </a:pPr>
            <a:r>
              <a:rPr lang="en-US" sz="1050" dirty="0">
                <a:solidFill>
                  <a:schemeClr val="accent5"/>
                </a:solidFill>
              </a:rPr>
              <a:t>over users who rated both movies; centred by each USER's mean (plain cosine on raw ratings is high for every pair, Exercise 5)</a:t>
            </a:r>
            <a:endParaRPr lang="en-US" sz="1200" dirty="0"/>
          </a:p>
        </p:txBody>
      </p:sp>
      <p:sp>
        <p:nvSpPr>
          <p:cNvPr id="8" name="prediction"/>
          <p:cNvSpPr/>
          <p:nvPr/>
        </p:nvSpPr>
        <p:spPr>
          <a:xfrm>
            <a:off x="6035040" y="2651760"/>
            <a:ext cx="5605272" cy="777240"/>
          </a:xfrm>
          <a:prstGeom prst="roundRect">
            <a:avLst>
              <a:gd name="adj" fmla="val 9412"/>
            </a:avLst>
          </a:prstGeom>
          <a:solidFill>
            <a:srgbClr val="FCE6DC"/>
          </a:solidFill>
          <a:ln w="12700">
            <a:solidFill>
              <a:srgbClr val="FCE6DC"/>
            </a:solidFill>
            <a:prstDash val="solid"/>
          </a:ln>
        </p:spPr>
      </p:sp>
      <p:sp>
        <p:nvSpPr>
          <p:cNvPr id="9" name="Text 6"/>
          <p:cNvSpPr txBox="1"/>
          <p:nvPr/>
        </p:nvSpPr>
        <p:spPr>
          <a:xfrm>
            <a:off x="6217920" y="2679192"/>
            <a:ext cx="914400" cy="73152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3.96</a:t>
            </a:r>
            <a:endParaRPr lang="en-US" sz="2800" dirty="0"/>
          </a:p>
        </p:txBody>
      </p:sp>
      <p:sp>
        <p:nvSpPr>
          <p:cNvPr id="10" name="Text 7"/>
          <p:cNvSpPr txBox="1"/>
          <p:nvPr/>
        </p:nvSpPr>
        <p:spPr>
          <a:xfrm>
            <a:off x="7178040" y="2679192"/>
            <a:ext cx="4343400" cy="731520"/>
          </a:xfrm>
          <a:prstGeom prst="rect">
            <a:avLst/>
          </a:prstGeom>
          <a:noFill/>
          <a:ln/>
        </p:spPr>
        <p:txBody>
          <a:bodyPr wrap="square" lIns="0" tIns="0" rIns="0" bIns="0" rtlCol="0" anchor="ctr"/>
          <a:lstStyle/>
          <a:p>
            <a:pPr indent="0" marL="0">
              <a:buNone/>
            </a:pPr>
            <a:r>
              <a:rPr lang="en-US" sz="1150" b="1" dirty="0">
                <a:solidFill>
                  <a:schemeClr val="tx2"/>
                </a:solidFill>
              </a:rPr>
              <a:t>predicted for user 63 on The Matrix (true 3.5)</a:t>
            </a:r>
            <a:endParaRPr lang="en-US" sz="1150" dirty="0"/>
          </a:p>
          <a:p>
            <a:pPr indent="0" marL="0">
              <a:buNone/>
            </a:pPr>
            <a:r>
              <a:rPr lang="en-US" sz="1150" dirty="0">
                <a:solidFill>
                  <a:schemeClr val="tx1"/>
                </a:solidFill>
              </a:rPr>
              <a:t>= Σ sim·r_uj 31.42 / Σ |sim| 7.94, over the 20 most similar movies user 63 rated</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35040" y="3584448"/>
          <a:ext cx="5605272" cy="914400"/>
        </p:xfrm>
        <a:graphic>
          <a:graphicData uri="http://schemas.openxmlformats.org/drawingml/2006/table">
            <a:tbl>
              <a:tblPr/>
              <a:tblGrid>
                <a:gridCol w="1325880"/>
                <a:gridCol w="2103120"/>
                <a:gridCol w="2176272"/>
              </a:tblGrid>
              <a:tr h="301752">
                <a:tc>
                  <a:txBody>
                    <a:bodyPr/>
                    <a:lstStyle/>
                    <a:p>
                      <a:pPr algn="l" indent="0" marL="0">
                        <a:buNone/>
                      </a:pP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latin typeface="+mn-lt" pitchFamily="34" charset="0"/>
                          <a:ea typeface="+mn-lt" pitchFamily="34" charset="-122"/>
                          <a:cs typeface="+mn-lt" pitchFamily="34" charset="-120"/>
                        </a:rPr>
                        <a:t>User-based CF</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latin typeface="+mn-lt" pitchFamily="34" charset="0"/>
                          <a:ea typeface="+mn-lt" pitchFamily="34" charset="-122"/>
                          <a:cs typeface="+mn-lt" pitchFamily="34" charset="-120"/>
                        </a:rPr>
                        <a:t>Item-based CF</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r>
              <a:tr h="301752">
                <a:tc>
                  <a:txBody>
                    <a:bodyPr/>
                    <a:lstStyle/>
                    <a:p>
                      <a:pPr indent="0" marL="0">
                        <a:buNone/>
                      </a:pPr>
                      <a:r>
                        <a:rPr lang="en-US" sz="1100" b="1" dirty="0">
                          <a:solidFill>
                            <a:schemeClr val="tx1"/>
                          </a:solidFill>
                          <a:latin typeface="+mn-lt" pitchFamily="34" charset="0"/>
                          <a:ea typeface="+mn-lt" pitchFamily="34" charset="-122"/>
                          <a:cs typeface="+mn-lt" pitchFamily="34" charset="-120"/>
                        </a:rPr>
                        <a:t>Neighbours</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similar users who rated movie i</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similar movies that user u rated</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01752">
                <a:tc>
                  <a:txBody>
                    <a:bodyPr/>
                    <a:lstStyle/>
                    <a:p>
                      <a:pPr indent="0" marL="0">
                        <a:buNone/>
                      </a:pPr>
                      <a:r>
                        <a:rPr lang="en-US" sz="1100" b="1" dirty="0">
                          <a:solidFill>
                            <a:schemeClr val="tx1"/>
                          </a:solidFill>
                          <a:latin typeface="+mn-lt" pitchFamily="34" charset="0"/>
                          <a:ea typeface="+mn-lt" pitchFamily="34" charset="-122"/>
                          <a:cs typeface="+mn-lt" pitchFamily="34" charset="-120"/>
                        </a:rPr>
                        <a:t>Similarity matrix</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m × m users (610 × 610)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n × n movies (9,724 × 9,724 here)</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01752">
                <a:tc>
                  <a:txBody>
                    <a:bodyPr/>
                    <a:lstStyle/>
                    <a:p>
                      <a:pPr indent="0" marL="0">
                        <a:buNone/>
                      </a:pPr>
                      <a:r>
                        <a:rPr lang="en-US" sz="1100" b="1" dirty="0">
                          <a:solidFill>
                            <a:schemeClr val="tx1"/>
                          </a:solidFill>
                          <a:latin typeface="+mn-lt" pitchFamily="34" charset="0"/>
                          <a:ea typeface="+mn-lt" pitchFamily="34" charset="-122"/>
                          <a:cs typeface="+mn-lt" pitchFamily="34" charset="-120"/>
                        </a:rPr>
                        <a:t>Exercise 1 RMSE</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0.838  ·  coverage 99.5%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0.852  ·  coverage 98.5%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01752">
                <a:tc>
                  <a:txBody>
                    <a:bodyPr/>
                    <a:lstStyle/>
                    <a:p>
                      <a:pPr indent="0" marL="0">
                        <a:buNone/>
                      </a:pPr>
                      <a:r>
                        <a:rPr lang="en-US" sz="1100" b="1" dirty="0">
                          <a:solidFill>
                            <a:schemeClr val="tx1"/>
                          </a:solidFill>
                          <a:latin typeface="+mn-lt" pitchFamily="34" charset="0"/>
                          <a:ea typeface="+mn-lt" pitchFamily="34" charset="-122"/>
                          <a:cs typeface="+mn-lt" pitchFamily="34" charset="-120"/>
                        </a:rPr>
                        <a:t>Stability, serving</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shifts with every rating; recompute online</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b="1" dirty="0">
                          <a:solidFill>
                            <a:schemeClr val="accent2"/>
                          </a:solidFill>
                          <a:latin typeface="+mn-lt" pitchFamily="34" charset="0"/>
                          <a:ea typeface="+mn-lt" pitchFamily="34" charset="-122"/>
                          <a:cs typeface="+mn-lt" pitchFamily="34" charset="-120"/>
                        </a:rPr>
                        <a:t>stable; precompute offline, serve by lookup</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01752">
                <a:tc>
                  <a:txBody>
                    <a:bodyPr/>
                    <a:lstStyle/>
                    <a:p>
                      <a:pPr indent="0" marL="0">
                        <a:buNone/>
                      </a:pPr>
                      <a:r>
                        <a:rPr lang="en-US" sz="1100" b="1" dirty="0">
                          <a:solidFill>
                            <a:schemeClr val="tx1"/>
                          </a:solidFill>
                          <a:latin typeface="+mn-lt" pitchFamily="34" charset="0"/>
                          <a:ea typeface="+mn-lt" pitchFamily="34" charset="-122"/>
                          <a:cs typeface="+mn-lt" pitchFamily="34" charset="-120"/>
                        </a:rPr>
                        <a:t>Explanation</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"users like you liked it"</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"because you rated X highly"</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12" name="Text 8"/>
          <p:cNvSpPr txBox="1"/>
          <p:nvPr/>
        </p:nvSpPr>
        <p:spPr>
          <a:xfrm>
            <a:off x="6035040" y="5833872"/>
            <a:ext cx="5605272" cy="411480"/>
          </a:xfrm>
          <a:prstGeom prst="rect">
            <a:avLst/>
          </a:prstGeom>
          <a:noFill/>
          <a:ln/>
        </p:spPr>
        <p:txBody>
          <a:bodyPr wrap="square" lIns="0" tIns="0" rIns="0" bIns="0" rtlCol="0" anchor="t"/>
          <a:lstStyle/>
          <a:p>
            <a:pPr indent="0" marL="0">
              <a:buNone/>
            </a:pPr>
            <a:r>
              <a:rPr lang="en-US" sz="1100" dirty="0">
                <a:solidFill>
                  <a:schemeClr val="accent5"/>
                </a:solidFill>
              </a:rPr>
              <a:t>Production prefers item-based (Amazon's "customers who bought this also bought") for its stability. Here it is slightly less accurate: many movies have only 20–50 raters.</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4  ·  MATRIX FACTORIZATION FUNDAMENTALS</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Learn U and V so that A ≈ U·V</a:t>
            </a:r>
            <a:pPr algn="l" indent="0" marL="0">
              <a:buNone/>
            </a:pPr>
            <a:r>
              <a:rPr lang="en-US" sz="3600" b="1" baseline="30000" dirty="0">
                <a:solidFill>
                  <a:schemeClr val="tx2"/>
                </a:solidFill>
              </a:rPr>
              <a:t>T</a:t>
            </a:r>
            <a:endParaRPr lang="en-US" sz="3600" dirty="0"/>
          </a:p>
        </p:txBody>
      </p:sp>
      <p:sp>
        <p:nvSpPr>
          <p:cNvPr id="4" name="stat card"/>
          <p:cNvSpPr/>
          <p:nvPr/>
        </p:nvSpPr>
        <p:spPr>
          <a:xfrm>
            <a:off x="548640" y="1508760"/>
            <a:ext cx="2606040" cy="1051560"/>
          </a:xfrm>
          <a:prstGeom prst="roundRect">
            <a:avLst>
              <a:gd name="adj" fmla="val 6957"/>
            </a:avLst>
          </a:prstGeom>
          <a:solidFill>
            <a:schemeClr val="bg2"/>
          </a:solidFill>
          <a:ln w="12700">
            <a:solidFill>
              <a:schemeClr val="bg2"/>
            </a:solidFill>
            <a:prstDash val="solid"/>
          </a:ln>
        </p:spPr>
      </p:sp>
      <p:sp>
        <p:nvSpPr>
          <p:cNvPr id="5" name="stat value"/>
          <p:cNvSpPr txBox="1"/>
          <p:nvPr/>
        </p:nvSpPr>
        <p:spPr>
          <a:xfrm>
            <a:off x="731520"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5,931,640</a:t>
            </a:r>
            <a:endParaRPr lang="en-US" sz="2800" dirty="0"/>
          </a:p>
        </p:txBody>
      </p:sp>
      <p:sp>
        <p:nvSpPr>
          <p:cNvPr id="6" name="stat label"/>
          <p:cNvSpPr txBox="1"/>
          <p:nvPr/>
        </p:nvSpPr>
        <p:spPr>
          <a:xfrm>
            <a:off x="731520"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cells in A (610 users × 9,724 movies); only 1.70% observed</a:t>
            </a:r>
            <a:endParaRPr lang="en-US" sz="1200" dirty="0"/>
          </a:p>
        </p:txBody>
      </p:sp>
      <p:sp>
        <p:nvSpPr>
          <p:cNvPr id="7" name="stat card"/>
          <p:cNvSpPr/>
          <p:nvPr/>
        </p:nvSpPr>
        <p:spPr>
          <a:xfrm>
            <a:off x="3383280" y="1508760"/>
            <a:ext cx="2606040" cy="1051560"/>
          </a:xfrm>
          <a:prstGeom prst="roundRect">
            <a:avLst>
              <a:gd name="adj" fmla="val 6957"/>
            </a:avLst>
          </a:prstGeom>
          <a:solidFill>
            <a:schemeClr val="bg2"/>
          </a:solidFill>
          <a:ln w="12700">
            <a:solidFill>
              <a:schemeClr val="bg2"/>
            </a:solidFill>
            <a:prstDash val="solid"/>
          </a:ln>
        </p:spPr>
      </p:sp>
      <p:sp>
        <p:nvSpPr>
          <p:cNvPr id="8" name="stat value"/>
          <p:cNvSpPr txBox="1"/>
          <p:nvPr/>
        </p:nvSpPr>
        <p:spPr>
          <a:xfrm>
            <a:off x="3566160"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206,680</a:t>
            </a:r>
            <a:endParaRPr lang="en-US" sz="2800" dirty="0"/>
          </a:p>
        </p:txBody>
      </p:sp>
      <p:sp>
        <p:nvSpPr>
          <p:cNvPr id="9" name="stat label"/>
          <p:cNvSpPr txBox="1"/>
          <p:nvPr/>
        </p:nvSpPr>
        <p:spPr>
          <a:xfrm>
            <a:off x="3566160"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parameters at d = 20 (U: 610 × 20, V: 9,724 × 20) = 3.5% of the cells</a:t>
            </a:r>
            <a:endParaRPr lang="en-US" sz="1200" dirty="0"/>
          </a:p>
        </p:txBody>
      </p:sp>
      <p:sp>
        <p:nvSpPr>
          <p:cNvPr id="10" name="stat card"/>
          <p:cNvSpPr/>
          <p:nvPr/>
        </p:nvSpPr>
        <p:spPr>
          <a:xfrm>
            <a:off x="6208776" y="1508760"/>
            <a:ext cx="2606040" cy="1051560"/>
          </a:xfrm>
          <a:prstGeom prst="roundRect">
            <a:avLst>
              <a:gd name="adj" fmla="val 6957"/>
            </a:avLst>
          </a:prstGeom>
          <a:solidFill>
            <a:schemeClr val="bg2"/>
          </a:solidFill>
          <a:ln w="12700">
            <a:solidFill>
              <a:schemeClr val="bg2"/>
            </a:solidFill>
            <a:prstDash val="solid"/>
          </a:ln>
        </p:spPr>
      </p:sp>
      <p:sp>
        <p:nvSpPr>
          <p:cNvPr id="11" name="stat value"/>
          <p:cNvSpPr txBox="1"/>
          <p:nvPr/>
        </p:nvSpPr>
        <p:spPr>
          <a:xfrm>
            <a:off x="6391656" y="160020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0.06★</a:t>
            </a:r>
            <a:endParaRPr lang="en-US" sz="2800" dirty="0"/>
          </a:p>
        </p:txBody>
      </p:sp>
      <p:sp>
        <p:nvSpPr>
          <p:cNvPr id="12" name="stat label"/>
          <p:cNvSpPr txBox="1"/>
          <p:nvPr/>
        </p:nvSpPr>
        <p:spPr>
          <a:xfrm>
            <a:off x="6391656"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average target if missing = 0 (real ratings average 3.50★)</a:t>
            </a:r>
            <a:endParaRPr lang="en-US" sz="1200" dirty="0"/>
          </a:p>
        </p:txBody>
      </p:sp>
      <p:sp>
        <p:nvSpPr>
          <p:cNvPr id="13" name="stat card"/>
          <p:cNvSpPr/>
          <p:nvPr/>
        </p:nvSpPr>
        <p:spPr>
          <a:xfrm>
            <a:off x="9043416" y="1508760"/>
            <a:ext cx="2606040" cy="1051560"/>
          </a:xfrm>
          <a:prstGeom prst="roundRect">
            <a:avLst>
              <a:gd name="adj" fmla="val 6957"/>
            </a:avLst>
          </a:prstGeom>
          <a:solidFill>
            <a:schemeClr val="bg2"/>
          </a:solidFill>
          <a:ln w="12700">
            <a:solidFill>
              <a:schemeClr val="bg2"/>
            </a:solidFill>
            <a:prstDash val="solid"/>
          </a:ln>
        </p:spPr>
      </p:sp>
      <p:sp>
        <p:nvSpPr>
          <p:cNvPr id="14" name="stat value"/>
          <p:cNvSpPr txBox="1"/>
          <p:nvPr/>
        </p:nvSpPr>
        <p:spPr>
          <a:xfrm>
            <a:off x="9226296"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d = 20</a:t>
            </a:r>
            <a:endParaRPr lang="en-US" sz="2800" dirty="0"/>
          </a:p>
        </p:txBody>
      </p:sp>
      <p:sp>
        <p:nvSpPr>
          <p:cNvPr id="15" name="stat label"/>
          <p:cNvSpPr txBox="1"/>
          <p:nvPr/>
        </p:nvSpPr>
        <p:spPr>
          <a:xfrm>
            <a:off x="9226296"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small d underfits, large d overfits (Exercise 2)</a:t>
            </a:r>
            <a:endParaRPr lang="en-US" sz="1200" dirty="0"/>
          </a:p>
        </p:txBody>
      </p:sp>
      <p:graphicFrame>
        <p:nvGraphicFramePr>
          <p:cNvPr id="16" name="Chart 0" descr=""/>
          <p:cNvGraphicFramePr/>
          <p:nvPr/>
        </p:nvGraphicFramePr>
        <p:xfrm>
          <a:off x="548640" y="2788920"/>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548640" y="5577840"/>
            <a:ext cx="5120640" cy="685800"/>
          </a:xfrm>
          <a:prstGeom prst="rect">
            <a:avLst/>
          </a:prstGeom>
          <a:noFill/>
          <a:ln/>
        </p:spPr>
        <p:txBody>
          <a:bodyPr wrap="square" lIns="0" tIns="0" rIns="0" bIns="0" rtlCol="0" anchor="t"/>
          <a:lstStyle/>
          <a:p>
            <a:pPr indent="0" marL="0">
              <a:buNone/>
            </a:pPr>
            <a:r>
              <a:rPr lang="en-US" sz="1100" dirty="0">
                <a:solidFill>
                  <a:schemeClr val="accent5"/>
                </a:solidFill>
              </a:rPr>
              <a:t>On a complete matrix SVD is ideal. Rank-k reconstruction RMSE: k=1 1.442 · k=2 0.802 · k=3 0.063 (within half-star rounding). σ1 is the "everyone rates ~3" level, σ2–σ3 the two taste axes.</a:t>
            </a:r>
            <a:endParaRPr lang="en-US" sz="1100" dirty="0"/>
          </a:p>
        </p:txBody>
      </p:sp>
      <p:graphicFrame>
        <p:nvGraphicFramePr>
          <p:cNvPr id="18" name="Chart 1" descr=""/>
          <p:cNvGraphicFramePr/>
          <p:nvPr/>
        </p:nvGraphicFramePr>
        <p:xfrm>
          <a:off x="6035040" y="2788920"/>
          <a:ext cx="5605272" cy="2743200"/>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6035040" y="5577840"/>
            <a:ext cx="5605272" cy="685800"/>
          </a:xfrm>
          <a:prstGeom prst="rect">
            <a:avLst/>
          </a:prstGeom>
          <a:noFill/>
          <a:ln/>
        </p:spPr>
        <p:txBody>
          <a:bodyPr wrap="square" lIns="0" tIns="0" rIns="0" bIns="0" rtlCol="0" anchor="t"/>
          <a:lstStyle/>
          <a:p>
            <a:pPr indent="0" marL="0">
              <a:buNone/>
            </a:pPr>
            <a:r>
              <a:rPr lang="en-US" sz="1100" dirty="0">
                <a:solidFill>
                  <a:schemeClr val="accent5"/>
                </a:solidFill>
              </a:rPr>
              <a:t>Zero-filled SVD predicts 0.33–0.89 for cells whose true mean is 3.15. Fitting only the observed cells (WALS, w0 = 0) with moderate λ recovers them (0.49); λ = 0.1 overfits: 22 parameters for 20 observations.</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5  ·  WEIGHTED MATRIX FACTORIZATION: SGD VS WALS</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Same objective, two optimizers: SGD vs WALS</a:t>
            </a:r>
            <a:endParaRPr lang="en-US" sz="3600" dirty="0"/>
          </a:p>
        </p:txBody>
      </p:sp>
      <p:sp>
        <p:nvSpPr>
          <p:cNvPr id="4" name="formula"/>
          <p:cNvSpPr/>
          <p:nvPr/>
        </p:nvSpPr>
        <p:spPr>
          <a:xfrm>
            <a:off x="548640" y="1508760"/>
            <a:ext cx="5120640" cy="1280160"/>
          </a:xfrm>
          <a:prstGeom prst="roundRect">
            <a:avLst>
              <a:gd name="adj" fmla="val 5714"/>
            </a:avLst>
          </a:prstGeom>
          <a:solidFill>
            <a:srgbClr val="E3EEFB"/>
          </a:solidFill>
          <a:ln w="12700">
            <a:solidFill>
              <a:srgbClr val="E3EEFB"/>
            </a:solidFill>
            <a:prstDash val="solid"/>
          </a:ln>
        </p:spPr>
      </p:sp>
      <p:sp>
        <p:nvSpPr>
          <p:cNvPr id="5" name="Text 3"/>
          <p:cNvSpPr txBox="1"/>
          <p:nvPr/>
        </p:nvSpPr>
        <p:spPr>
          <a:xfrm>
            <a:off x="731520" y="1572768"/>
            <a:ext cx="4800600" cy="1170432"/>
          </a:xfrm>
          <a:prstGeom prst="rect">
            <a:avLst/>
          </a:prstGeom>
          <a:noFill/>
          <a:ln/>
        </p:spPr>
        <p:txBody>
          <a:bodyPr wrap="square" lIns="0" tIns="0" rIns="0" bIns="0" rtlCol="0" anchor="t"/>
          <a:lstStyle/>
          <a:p>
            <a:pPr indent="0" marL="0">
              <a:spcAft>
                <a:spcPts val="300"/>
              </a:spcAft>
              <a:buNone/>
            </a:pPr>
            <a:r>
              <a:rPr lang="en-US" sz="1150" b="1" dirty="0">
                <a:solidFill>
                  <a:schemeClr val="tx2"/>
                </a:solidFill>
              </a:rPr>
              <a:t>min  Σ_obs (A_ij − ⟨U_i,V_j⟩)²  +  w0 · Σ_unobs ⟨U_i,V_j⟩²  +  λ(‖U‖² + ‖V‖²)</a:t>
            </a:r>
            <a:endParaRPr lang="en-US" sz="1150" dirty="0"/>
          </a:p>
          <a:p>
            <a:pPr marL="342900" indent="-342900">
              <a:spcAft>
                <a:spcPts val="300"/>
              </a:spcAft>
              <a:buSzPct val="100000"/>
              <a:buChar char="•"/>
            </a:pPr>
            <a:r>
              <a:rPr lang="en-US" sz="1150" dirty="0">
                <a:solidFill>
                  <a:schemeClr val="tx1"/>
                </a:solidFill>
              </a:rPr>
              <a:t>w0 = 0: observed only. On implicit data (all 1s) the all-ones embedding scores a perfect 0.000 loss and predicts "watch" for everything.</a:t>
            </a:r>
            <a:endParaRPr lang="en-US" sz="1150" dirty="0"/>
          </a:p>
          <a:p>
            <a:pPr marL="342900" indent="-342900">
              <a:spcAft>
                <a:spcPts val="300"/>
              </a:spcAft>
              <a:buSzPct val="100000"/>
              <a:buChar char="•"/>
            </a:pPr>
            <a:r>
              <a:rPr lang="en-US" sz="1150" dirty="0">
                <a:solidFill>
                  <a:schemeClr val="tx1"/>
                </a:solidFill>
              </a:rPr>
              <a:t>w0 = 0.1 charges that solution 72.0 (= 0.1 × 720 unobserved cells). w0 = 1 means "missing = 0".</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5120640" cy="914400"/>
        </p:xfrm>
        <a:graphic>
          <a:graphicData uri="http://schemas.openxmlformats.org/drawingml/2006/table">
            <a:tbl>
              <a:tblPr/>
              <a:tblGrid>
                <a:gridCol w="1280160"/>
                <a:gridCol w="1874520"/>
                <a:gridCol w="1965960"/>
              </a:tblGrid>
              <a:tr h="310896">
                <a:tc>
                  <a:txBody>
                    <a:bodyPr/>
                    <a:lstStyle/>
                    <a:p>
                      <a:pPr algn="l" indent="0" marL="0">
                        <a:buNone/>
                      </a:pP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l" indent="0" marL="0">
                        <a:buNone/>
                      </a:pPr>
                      <a:r>
                        <a:rPr lang="en-US" sz="1050" b="1" dirty="0">
                          <a:solidFill>
                            <a:schemeClr val="bg1"/>
                          </a:solidFill>
                          <a:latin typeface="+mn-lt" pitchFamily="34" charset="0"/>
                          <a:ea typeface="+mn-lt" pitchFamily="34" charset="-122"/>
                          <a:cs typeface="+mn-lt" pitchFamily="34" charset="-120"/>
                        </a:rPr>
                        <a:t>SGD</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l" indent="0" marL="0">
                        <a:buNone/>
                      </a:pPr>
                      <a:r>
                        <a:rPr lang="en-US" sz="1050" b="1" dirty="0">
                          <a:solidFill>
                            <a:schemeClr val="bg1"/>
                          </a:solidFill>
                          <a:latin typeface="+mn-lt" pitchFamily="34" charset="0"/>
                          <a:ea typeface="+mn-lt" pitchFamily="34" charset="-122"/>
                          <a:cs typeface="+mn-lt" pitchFamily="34" charset="-120"/>
                        </a:rPr>
                        <a:t>WALS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r>
              <a:tr h="310896">
                <a:tc>
                  <a:txBody>
                    <a:bodyPr/>
                    <a:lstStyle/>
                    <a:p>
                      <a:pPr indent="0" marL="0">
                        <a:buNone/>
                      </a:pPr>
                      <a:r>
                        <a:rPr lang="en-US" sz="1050" b="1" dirty="0">
                          <a:solidFill>
                            <a:schemeClr val="tx1"/>
                          </a:solidFill>
                          <a:latin typeface="+mn-lt" pitchFamily="34" charset="0"/>
                          <a:ea typeface="+mn-lt" pitchFamily="34" charset="-122"/>
                          <a:cs typeface="+mn-lt" pitchFamily="34" charset="-120"/>
                        </a:rPr>
                        <a:t>Update</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gradient step per cell</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exact solves, alternating U and V</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indent="0" marL="0">
                        <a:buNone/>
                      </a:pPr>
                      <a:r>
                        <a:rPr lang="en-US" sz="1050" b="1" dirty="0">
                          <a:solidFill>
                            <a:schemeClr val="tx1"/>
                          </a:solidFill>
                          <a:latin typeface="+mn-lt" pitchFamily="34" charset="0"/>
                          <a:ea typeface="+mn-lt" pitchFamily="34" charset="-122"/>
                          <a:cs typeface="+mn-lt" pitchFamily="34" charset="-120"/>
                        </a:rPr>
                        <a:t>Tuning</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learning rate decides speed</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no learning rate</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indent="0" marL="0">
                        <a:buNone/>
                      </a:pPr>
                      <a:r>
                        <a:rPr lang="en-US" sz="1050" b="1" dirty="0">
                          <a:solidFill>
                            <a:schemeClr val="tx1"/>
                          </a:solidFill>
                          <a:latin typeface="+mn-lt" pitchFamily="34" charset="0"/>
                          <a:ea typeface="+mn-lt" pitchFamily="34" charset="-122"/>
                          <a:cs typeface="+mn-lt" pitchFamily="34" charset="-120"/>
                        </a:rPr>
                        <a:t>Unobserved cells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must be sampled at scale</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closed form, almost free</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indent="0" marL="0">
                        <a:buNone/>
                      </a:pPr>
                      <a:r>
                        <a:rPr lang="en-US" sz="1050" b="1" dirty="0">
                          <a:solidFill>
                            <a:schemeClr val="tx1"/>
                          </a:solidFill>
                          <a:latin typeface="+mn-lt" pitchFamily="34" charset="0"/>
                          <a:ea typeface="+mn-lt" pitchFamily="34" charset="-122"/>
                          <a:cs typeface="+mn-lt" pitchFamily="34" charset="-120"/>
                        </a:rPr>
                        <a:t>Parallelism</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sequential (Hogwild is noisy)</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every user solve independent</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indent="0" marL="0">
                        <a:buNone/>
                      </a:pPr>
                      <a:r>
                        <a:rPr lang="en-US" sz="1050" b="1" dirty="0">
                          <a:solidFill>
                            <a:schemeClr val="tx1"/>
                          </a:solidFill>
                          <a:latin typeface="+mn-lt" pitchFamily="34" charset="0"/>
                          <a:ea typeface="+mn-lt" pitchFamily="34" charset="-122"/>
                          <a:cs typeface="+mn-lt" pitchFamily="34" charset="-120"/>
                        </a:rPr>
                        <a:t>Flexibility</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b="1" dirty="0">
                          <a:solidFill>
                            <a:schemeClr val="accent2"/>
                          </a:solidFill>
                          <a:latin typeface="+mn-lt" pitchFamily="34" charset="0"/>
                          <a:ea typeface="+mn-lt" pitchFamily="34" charset="-122"/>
                          <a:cs typeface="+mn-lt" pitchFamily="34" charset="-120"/>
                        </a:rPr>
                        <a:t>any loss, biases, side features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050" dirty="0">
                          <a:solidFill>
                            <a:schemeClr val="tx1"/>
                          </a:solidFill>
                          <a:latin typeface="+mn-lt" pitchFamily="34" charset="0"/>
                          <a:ea typeface="+mn-lt" pitchFamily="34" charset="-122"/>
                          <a:cs typeface="+mn-lt" pitchFamily="34" charset="-120"/>
                        </a:rPr>
                        <a:t>weighted squared loss only</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7" name="Text 4"/>
          <p:cNvSpPr txBox="1"/>
          <p:nvPr/>
        </p:nvSpPr>
        <p:spPr>
          <a:xfrm>
            <a:off x="548640" y="4983480"/>
            <a:ext cx="5120640" cy="502920"/>
          </a:xfrm>
          <a:prstGeom prst="rect">
            <a:avLst/>
          </a:prstGeom>
          <a:noFill/>
          <a:ln/>
        </p:spPr>
        <p:txBody>
          <a:bodyPr wrap="square" lIns="0" tIns="0" rIns="0" bIns="0" rtlCol="0" anchor="t"/>
          <a:lstStyle/>
          <a:p>
            <a:pPr indent="0" marL="0">
              <a:buNone/>
            </a:pPr>
            <a:r>
              <a:rPr lang="en-US" sz="1100" dirty="0">
                <a:solidFill>
                  <a:schemeClr val="accent5"/>
                </a:solidFill>
              </a:rPr>
              <a:t>w0 sweep (WALS, 5 seeds): watched-item score 0.99 → 0.53 as w0 goes 0 → 1; the hidden movie ranks ≈3rd of 18 at every w0 (random: 9.5).</a:t>
            </a:r>
            <a:endParaRPr lang="en-US" sz="1100" dirty="0"/>
          </a:p>
        </p:txBody>
      </p:sp>
      <p:graphicFrame>
        <p:nvGraphicFramePr>
          <p:cNvPr id="8" name="Chart 0" descr=""/>
          <p:cNvGraphicFramePr/>
          <p:nvPr/>
        </p:nvGraphicFramePr>
        <p:xfrm>
          <a:off x="5943600" y="1463040"/>
          <a:ext cx="5696712" cy="2880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943600" y="4434840"/>
          <a:ext cx="5696712" cy="914400"/>
        </p:xfrm>
        <a:graphic>
          <a:graphicData uri="http://schemas.openxmlformats.org/drawingml/2006/table">
            <a:tbl>
              <a:tblPr/>
              <a:tblGrid>
                <a:gridCol w="1371600"/>
                <a:gridCol w="1051560"/>
                <a:gridCol w="914400"/>
                <a:gridCol w="1444752"/>
                <a:gridCol w="914400"/>
              </a:tblGrid>
              <a:tr h="246888">
                <a:tc>
                  <a:txBody>
                    <a:bodyPr/>
                    <a:lstStyle/>
                    <a:p>
                      <a:pPr algn="l" indent="0" marL="0">
                        <a:buNone/>
                      </a:pPr>
                      <a:r>
                        <a:rPr lang="en-US" sz="1050" b="1" dirty="0">
                          <a:solidFill>
                            <a:schemeClr val="bg1"/>
                          </a:solidFill>
                          <a:latin typeface="+mn-lt" pitchFamily="34" charset="0"/>
                          <a:ea typeface="+mn-lt" pitchFamily="34" charset="-122"/>
                          <a:cs typeface="+mn-lt" pitchFamily="34" charset="-120"/>
                        </a:rPr>
                        <a:t>run</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050" b="1" dirty="0">
                          <a:solidFill>
                            <a:schemeClr val="bg1"/>
                          </a:solidFill>
                          <a:latin typeface="+mn-lt" pitchFamily="34" charset="0"/>
                          <a:ea typeface="+mn-lt" pitchFamily="34" charset="-122"/>
                          <a:cs typeface="+mn-lt" pitchFamily="34" charset="-120"/>
                        </a:rPr>
                        <a:t>final loss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050" b="1" dirty="0">
                          <a:solidFill>
                            <a:schemeClr val="bg1"/>
                          </a:solidFill>
                          <a:latin typeface="+mn-lt" pitchFamily="34" charset="0"/>
                          <a:ea typeface="+mn-lt" pitchFamily="34" charset="-122"/>
                          <a:cs typeface="+mn-lt" pitchFamily="34" charset="-120"/>
                        </a:rPr>
                        <a:t>time</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050" b="1" dirty="0">
                          <a:solidFill>
                            <a:schemeClr val="bg1"/>
                          </a:solidFill>
                          <a:latin typeface="+mn-lt" pitchFamily="34" charset="0"/>
                          <a:ea typeface="+mn-lt" pitchFamily="34" charset="-122"/>
                          <a:cs typeface="+mn-lt" pitchFamily="34" charset="-120"/>
                        </a:rPr>
                        <a:t>hidden-movie rank</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050" b="1" dirty="0">
                          <a:solidFill>
                            <a:schemeClr val="bg1"/>
                          </a:solidFill>
                          <a:latin typeface="+mn-lt" pitchFamily="34" charset="0"/>
                          <a:ea typeface="+mn-lt" pitchFamily="34" charset="-122"/>
                          <a:cs typeface="+mn-lt" pitchFamily="34" charset="-120"/>
                        </a:rPr>
                        <a:t>in top-3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r>
              <a:tr h="246888">
                <a:tc>
                  <a:txBody>
                    <a:bodyPr/>
                    <a:lstStyle/>
                    <a:p>
                      <a:pPr indent="0" marL="0">
                        <a:buNone/>
                      </a:pPr>
                      <a:r>
                        <a:rPr lang="en-US" sz="1050" b="1" dirty="0">
                          <a:solidFill>
                            <a:schemeClr val="tx1"/>
                          </a:solidFill>
                          <a:latin typeface="+mn-lt" pitchFamily="34" charset="0"/>
                          <a:ea typeface="+mn-lt" pitchFamily="34" charset="-122"/>
                          <a:cs typeface="+mn-lt" pitchFamily="34" charset="-120"/>
                        </a:rPr>
                        <a:t>WALS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b="1" dirty="0">
                          <a:solidFill>
                            <a:schemeClr val="accent2"/>
                          </a:solidFill>
                          <a:latin typeface="+mn-lt" pitchFamily="34" charset="0"/>
                          <a:ea typeface="+mn-lt" pitchFamily="34" charset="-122"/>
                          <a:cs typeface="+mn-lt" pitchFamily="34" charset="-120"/>
                        </a:rPr>
                        <a:t>29.81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0.13 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3.67</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48%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46888">
                <a:tc>
                  <a:txBody>
                    <a:bodyPr/>
                    <a:lstStyle/>
                    <a:p>
                      <a:pPr indent="0" marL="0">
                        <a:buNone/>
                      </a:pPr>
                      <a:r>
                        <a:rPr lang="en-US" sz="1050" b="1" dirty="0">
                          <a:solidFill>
                            <a:schemeClr val="tx1"/>
                          </a:solidFill>
                          <a:latin typeface="+mn-lt" pitchFamily="34" charset="0"/>
                          <a:ea typeface="+mn-lt" pitchFamily="34" charset="-122"/>
                          <a:cs typeface="+mn-lt" pitchFamily="34" charset="-120"/>
                        </a:rPr>
                        <a:t>SGD lr=0.01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58.28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0.97 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4.15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65%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46888">
                <a:tc>
                  <a:txBody>
                    <a:bodyPr/>
                    <a:lstStyle/>
                    <a:p>
                      <a:pPr indent="0" marL="0">
                        <a:buNone/>
                      </a:pPr>
                      <a:r>
                        <a:rPr lang="en-US" sz="1050" b="1" dirty="0">
                          <a:solidFill>
                            <a:schemeClr val="tx1"/>
                          </a:solidFill>
                          <a:latin typeface="+mn-lt" pitchFamily="34" charset="0"/>
                          <a:ea typeface="+mn-lt" pitchFamily="34" charset="-122"/>
                          <a:cs typeface="+mn-lt" pitchFamily="34" charset="-120"/>
                        </a:rPr>
                        <a:t>SGD lr=0.05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30.18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0.84 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b="1" dirty="0">
                          <a:solidFill>
                            <a:schemeClr val="accent2"/>
                          </a:solidFill>
                          <a:latin typeface="+mn-lt" pitchFamily="34" charset="0"/>
                          <a:ea typeface="+mn-lt" pitchFamily="34" charset="-122"/>
                          <a:cs typeface="+mn-lt" pitchFamily="34" charset="-120"/>
                        </a:rPr>
                        <a:t>2.85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75%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46888">
                <a:tc>
                  <a:txBody>
                    <a:bodyPr/>
                    <a:lstStyle/>
                    <a:p>
                      <a:pPr indent="0" marL="0">
                        <a:buNone/>
                      </a:pPr>
                      <a:r>
                        <a:rPr lang="en-US" sz="1050" b="1" dirty="0">
                          <a:solidFill>
                            <a:schemeClr val="tx1"/>
                          </a:solidFill>
                          <a:latin typeface="+mn-lt" pitchFamily="34" charset="0"/>
                          <a:ea typeface="+mn-lt" pitchFamily="34" charset="-122"/>
                          <a:cs typeface="+mn-lt" pitchFamily="34" charset="-120"/>
                        </a:rPr>
                        <a:t>SGD lr=0.2</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30.08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0.93 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3.70</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050" dirty="0">
                          <a:solidFill>
                            <a:schemeClr val="tx1"/>
                          </a:solidFill>
                          <a:latin typeface="+mn-lt" pitchFamily="34" charset="0"/>
                          <a:ea typeface="+mn-lt" pitchFamily="34" charset="-122"/>
                          <a:cs typeface="+mn-lt" pitchFamily="34" charset="-120"/>
                        </a:rPr>
                        <a:t>48%</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10" name="Text 5"/>
          <p:cNvSpPr txBox="1"/>
          <p:nvPr/>
        </p:nvSpPr>
        <p:spPr>
          <a:xfrm>
            <a:off x="5943600" y="5733288"/>
            <a:ext cx="5696712" cy="548640"/>
          </a:xfrm>
          <a:prstGeom prst="rect">
            <a:avLst/>
          </a:prstGeom>
          <a:noFill/>
          <a:ln/>
        </p:spPr>
        <p:txBody>
          <a:bodyPr wrap="square" lIns="0" tIns="0" rIns="0" bIns="0" rtlCol="0" anchor="t"/>
          <a:lstStyle/>
          <a:p>
            <a:pPr indent="0" marL="0">
              <a:buNone/>
            </a:pPr>
            <a:r>
              <a:rPr lang="en-US" sz="1100" dirty="0">
                <a:solidFill>
                  <a:schemeClr val="accent5"/>
                </a:solidFill>
              </a:rPr>
              <a:t>Toy: 40 users × 24 movies from the Phase 1 quadrants, one watched movie hidden per user. WALS reaches the lowest loss with no tuning; the lowest loss is not the best ranking. Squared loss scores values, not order → motivates BPR.</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5  ·  EXERCISES 1 &amp; 2  ·  RATING PREDICTION ON MOVIELENS</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Rating accuracy: biases do most of the work</a:t>
            </a:r>
            <a:endParaRPr lang="en-US" sz="3600" dirty="0"/>
          </a:p>
        </p:txBody>
      </p:sp>
      <p:sp>
        <p:nvSpPr>
          <p:cNvPr id="4" name="stat card"/>
          <p:cNvSpPr/>
          <p:nvPr/>
        </p:nvSpPr>
        <p:spPr>
          <a:xfrm>
            <a:off x="548640" y="1508760"/>
            <a:ext cx="2606040" cy="1051560"/>
          </a:xfrm>
          <a:prstGeom prst="roundRect">
            <a:avLst>
              <a:gd name="adj" fmla="val 6957"/>
            </a:avLst>
          </a:prstGeom>
          <a:solidFill>
            <a:schemeClr val="bg2"/>
          </a:solidFill>
          <a:ln w="12700">
            <a:solidFill>
              <a:schemeClr val="bg2"/>
            </a:solidFill>
            <a:prstDash val="solid"/>
          </a:ln>
        </p:spPr>
      </p:sp>
      <p:sp>
        <p:nvSpPr>
          <p:cNvPr id="5" name="stat value"/>
          <p:cNvSpPr txBox="1"/>
          <p:nvPr/>
        </p:nvSpPr>
        <p:spPr>
          <a:xfrm>
            <a:off x="731520" y="160020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0.8780</a:t>
            </a:r>
            <a:endParaRPr lang="en-US" sz="2800" dirty="0"/>
          </a:p>
        </p:txBody>
      </p:sp>
      <p:sp>
        <p:nvSpPr>
          <p:cNvPr id="6" name="stat label"/>
          <p:cNvSpPr txBox="1"/>
          <p:nvPr/>
        </p:nvSpPr>
        <p:spPr>
          <a:xfrm>
            <a:off x="731520"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surprise SVD test RMSE (d = 20, 20,168 test ratings)</a:t>
            </a:r>
            <a:endParaRPr lang="en-US" sz="1200" dirty="0"/>
          </a:p>
        </p:txBody>
      </p:sp>
      <p:sp>
        <p:nvSpPr>
          <p:cNvPr id="7" name="stat card"/>
          <p:cNvSpPr/>
          <p:nvPr/>
        </p:nvSpPr>
        <p:spPr>
          <a:xfrm>
            <a:off x="3383280" y="1508760"/>
            <a:ext cx="2606040" cy="1051560"/>
          </a:xfrm>
          <a:prstGeom prst="roundRect">
            <a:avLst>
              <a:gd name="adj" fmla="val 6957"/>
            </a:avLst>
          </a:prstGeom>
          <a:solidFill>
            <a:schemeClr val="bg2"/>
          </a:solidFill>
          <a:ln w="12700">
            <a:solidFill>
              <a:schemeClr val="bg2"/>
            </a:solidFill>
            <a:prstDash val="solid"/>
          </a:ln>
        </p:spPr>
      </p:sp>
      <p:sp>
        <p:nvSpPr>
          <p:cNvPr id="8" name="stat value"/>
          <p:cNvSpPr txBox="1"/>
          <p:nvPr/>
        </p:nvSpPr>
        <p:spPr>
          <a:xfrm>
            <a:off x="3566160"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0.8785</a:t>
            </a:r>
            <a:endParaRPr lang="en-US" sz="2800" dirty="0"/>
          </a:p>
        </p:txBody>
      </p:sp>
      <p:sp>
        <p:nvSpPr>
          <p:cNvPr id="9" name="stat label"/>
          <p:cNvSpPr txBox="1"/>
          <p:nvPr/>
        </p:nvSpPr>
        <p:spPr>
          <a:xfrm>
            <a:off x="3566160"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BaselineOnly μ + b_u + b_i, no embeddings at all</a:t>
            </a:r>
            <a:endParaRPr lang="en-US" sz="1200" dirty="0"/>
          </a:p>
        </p:txBody>
      </p:sp>
      <p:sp>
        <p:nvSpPr>
          <p:cNvPr id="10" name="stat card"/>
          <p:cNvSpPr/>
          <p:nvPr/>
        </p:nvSpPr>
        <p:spPr>
          <a:xfrm>
            <a:off x="6208776" y="1508760"/>
            <a:ext cx="2606040" cy="1051560"/>
          </a:xfrm>
          <a:prstGeom prst="roundRect">
            <a:avLst>
              <a:gd name="adj" fmla="val 6957"/>
            </a:avLst>
          </a:prstGeom>
          <a:solidFill>
            <a:schemeClr val="bg2"/>
          </a:solidFill>
          <a:ln w="12700">
            <a:solidFill>
              <a:schemeClr val="bg2"/>
            </a:solidFill>
            <a:prstDash val="solid"/>
          </a:ln>
        </p:spPr>
      </p:sp>
      <p:sp>
        <p:nvSpPr>
          <p:cNvPr id="11" name="stat value"/>
          <p:cNvSpPr txBox="1"/>
          <p:nvPr/>
        </p:nvSpPr>
        <p:spPr>
          <a:xfrm>
            <a:off x="6391656"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1.0446</a:t>
            </a:r>
            <a:endParaRPr lang="en-US" sz="2800" dirty="0"/>
          </a:p>
        </p:txBody>
      </p:sp>
      <p:sp>
        <p:nvSpPr>
          <p:cNvPr id="12" name="stat label"/>
          <p:cNvSpPr txBox="1"/>
          <p:nvPr/>
        </p:nvSpPr>
        <p:spPr>
          <a:xfrm>
            <a:off x="6391656"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predict the global mean: SVD is 16% better</a:t>
            </a:r>
            <a:endParaRPr lang="en-US" sz="1200" dirty="0"/>
          </a:p>
        </p:txBody>
      </p:sp>
      <p:sp>
        <p:nvSpPr>
          <p:cNvPr id="13" name="stat card"/>
          <p:cNvSpPr/>
          <p:nvPr/>
        </p:nvSpPr>
        <p:spPr>
          <a:xfrm>
            <a:off x="9043416" y="1508760"/>
            <a:ext cx="2606040" cy="1051560"/>
          </a:xfrm>
          <a:prstGeom prst="roundRect">
            <a:avLst>
              <a:gd name="adj" fmla="val 6957"/>
            </a:avLst>
          </a:prstGeom>
          <a:solidFill>
            <a:schemeClr val="bg2"/>
          </a:solidFill>
          <a:ln w="12700">
            <a:solidFill>
              <a:schemeClr val="bg2"/>
            </a:solidFill>
            <a:prstDash val="solid"/>
          </a:ln>
        </p:spPr>
      </p:sp>
      <p:sp>
        <p:nvSpPr>
          <p:cNvPr id="14" name="stat value"/>
          <p:cNvSpPr txBox="1"/>
          <p:nvPr/>
        </p:nvSpPr>
        <p:spPr>
          <a:xfrm>
            <a:off x="9226296" y="1600200"/>
            <a:ext cx="2240280" cy="530352"/>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0.6751</a:t>
            </a:r>
            <a:endParaRPr lang="en-US" sz="2800" dirty="0"/>
          </a:p>
        </p:txBody>
      </p:sp>
      <p:sp>
        <p:nvSpPr>
          <p:cNvPr id="15" name="stat label"/>
          <p:cNvSpPr txBox="1"/>
          <p:nvPr/>
        </p:nvSpPr>
        <p:spPr>
          <a:xfrm>
            <a:off x="9226296" y="2130552"/>
            <a:ext cx="2240280" cy="356616"/>
          </a:xfrm>
          <a:prstGeom prst="rect">
            <a:avLst/>
          </a:prstGeom>
          <a:noFill/>
          <a:ln/>
        </p:spPr>
        <p:txBody>
          <a:bodyPr wrap="square" lIns="0" tIns="0" rIns="0" bIns="0" rtlCol="0" anchor="t"/>
          <a:lstStyle/>
          <a:p>
            <a:pPr indent="0" marL="0">
              <a:buNone/>
            </a:pPr>
            <a:r>
              <a:rPr lang="en-US" sz="1200" dirty="0">
                <a:solidFill>
                  <a:schemeClr val="accent5"/>
                </a:solidFill>
              </a:rPr>
              <a:t>SVD MAE. Model: r̂ = μ + b_u + b_i + ⟨p_u, q_i⟩, trained by SGD</a:t>
            </a:r>
            <a:endParaRPr lang="en-US" sz="1200" dirty="0"/>
          </a:p>
        </p:txBody>
      </p:sp>
      <p:graphicFrame>
        <p:nvGraphicFramePr>
          <p:cNvPr id="16" name="Chart 0" descr=""/>
          <p:cNvGraphicFramePr/>
          <p:nvPr/>
        </p:nvGraphicFramePr>
        <p:xfrm>
          <a:off x="548640" y="2743200"/>
          <a:ext cx="5486400" cy="283464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548640" y="5623560"/>
            <a:ext cx="5486400" cy="640080"/>
          </a:xfrm>
          <a:prstGeom prst="rect">
            <a:avLst/>
          </a:prstGeom>
          <a:noFill/>
          <a:ln/>
        </p:spPr>
        <p:txBody>
          <a:bodyPr wrap="square" lIns="0" tIns="0" rIns="0" bIns="0" rtlCol="0" anchor="t"/>
          <a:lstStyle/>
          <a:p>
            <a:pPr indent="0" marL="0">
              <a:buNone/>
            </a:pPr>
            <a:r>
              <a:rPr lang="en-US" sz="1100" dirty="0">
                <a:solidFill>
                  <a:schemeClr val="accent5"/>
                </a:solidFill>
              </a:rPr>
              <a:t>54,319 train / 13,579 test ratings. MF 0.836 ≈ user-CF 0.838, both just ahead of the bias baseline 0.841; item-CF 0.852 falls behind it. MF scores every pair and predicts ~10× faster. Axis starts at 0.8.</a:t>
            </a:r>
            <a:endParaRPr lang="en-US" sz="1100" dirty="0"/>
          </a:p>
        </p:txBody>
      </p:sp>
      <p:graphicFrame>
        <p:nvGraphicFramePr>
          <p:cNvPr id="18" name="Chart 1" descr=""/>
          <p:cNvGraphicFramePr/>
          <p:nvPr/>
        </p:nvGraphicFramePr>
        <p:xfrm>
          <a:off x="6309360" y="2743200"/>
          <a:ext cx="5330952" cy="2834640"/>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6309360" y="5623560"/>
            <a:ext cx="5330952" cy="640080"/>
          </a:xfrm>
          <a:prstGeom prst="rect">
            <a:avLst/>
          </a:prstGeom>
          <a:noFill/>
          <a:ln/>
        </p:spPr>
        <p:txBody>
          <a:bodyPr wrap="square" lIns="0" tIns="0" rIns="0" bIns="0" rtlCol="0" anchor="t"/>
          <a:lstStyle/>
          <a:p>
            <a:pPr indent="0" marL="0">
              <a:buNone/>
            </a:pPr>
            <a:r>
              <a:rPr lang="en-US" sz="1100" dirty="0">
                <a:solidFill>
                  <a:schemeClr val="accent5"/>
                </a:solidFill>
              </a:rPr>
              <a:t>Test RMSE stays flat (0.877–0.881) while train RMSE falls 0.813 → 0.635: the widening gap is overfitting. Small d (5–20) is enough for 80k ratings.</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6  ·  IMPLICIT FEEDBACK &amp; ALTERNATING LEAST SQUARES</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Implicit feedback: confidence-weighted ALS</a:t>
            </a:r>
            <a:endParaRPr lang="en-US" sz="3600" dirty="0"/>
          </a:p>
        </p:txBody>
      </p:sp>
      <p:sp>
        <p:nvSpPr>
          <p:cNvPr id="4" name="Watched, never &quot;disliked&quot;"/>
          <p:cNvSpPr/>
          <p:nvPr/>
        </p:nvSpPr>
        <p:spPr>
          <a:xfrm>
            <a:off x="548640" y="1508760"/>
            <a:ext cx="4754880" cy="1371600"/>
          </a:xfrm>
          <a:prstGeom prst="roundRect">
            <a:avLst>
              <a:gd name="adj" fmla="val 5333"/>
            </a:avLst>
          </a:prstGeom>
          <a:solidFill>
            <a:schemeClr val="bg2"/>
          </a:solidFill>
          <a:ln w="12700">
            <a:solidFill>
              <a:schemeClr val="bg2"/>
            </a:solidFill>
            <a:prstDash val="solid"/>
          </a:ln>
        </p:spPr>
      </p:sp>
      <p:sp>
        <p:nvSpPr>
          <p:cNvPr id="5" name="icon circle"/>
          <p:cNvSpPr/>
          <p:nvPr/>
        </p:nvSpPr>
        <p:spPr>
          <a:xfrm>
            <a:off x="731520" y="1691640"/>
            <a:ext cx="384048" cy="384048"/>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823692" y="1783812"/>
            <a:ext cx="199705" cy="199705"/>
          </a:xfrm>
          <a:prstGeom prst="rect">
            <a:avLst/>
          </a:prstGeom>
        </p:spPr>
      </p:pic>
      <p:sp>
        <p:nvSpPr>
          <p:cNvPr id="7" name="Text 4"/>
          <p:cNvSpPr txBox="1"/>
          <p:nvPr/>
        </p:nvSpPr>
        <p:spPr>
          <a:xfrm>
            <a:off x="1234440" y="1691640"/>
            <a:ext cx="3886200" cy="384048"/>
          </a:xfrm>
          <a:prstGeom prst="rect">
            <a:avLst/>
          </a:prstGeom>
          <a:noFill/>
          <a:ln/>
        </p:spPr>
        <p:txBody>
          <a:bodyPr wrap="square" lIns="0" tIns="0" rIns="0" bIns="0" rtlCol="0" anchor="ctr"/>
          <a:lstStyle/>
          <a:p>
            <a:pPr indent="0" marL="0">
              <a:buNone/>
            </a:pPr>
            <a:r>
              <a:rPr lang="en-US" sz="1400" b="1" dirty="0">
                <a:solidFill>
                  <a:schemeClr val="tx2"/>
                </a:solidFill>
              </a:rPr>
              <a:t>Watched, never "disliked"</a:t>
            </a:r>
            <a:endParaRPr lang="en-US" sz="1400" dirty="0"/>
          </a:p>
        </p:txBody>
      </p:sp>
      <p:sp>
        <p:nvSpPr>
          <p:cNvPr id="8" name="Text 5"/>
          <p:cNvSpPr txBox="1"/>
          <p:nvPr/>
        </p:nvSpPr>
        <p:spPr>
          <a:xfrm>
            <a:off x="731520" y="2167128"/>
            <a:ext cx="4389120" cy="59436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With clicks and watches an empty cell may mean "not interested" or "never shown". There are no negative examples, only observed and unknown.</a:t>
            </a:r>
            <a:endParaRPr lang="en-US" sz="1200" dirty="0"/>
          </a:p>
        </p:txBody>
      </p:sp>
      <p:sp>
        <p:nvSpPr>
          <p:cNvPr id="9" name="Preference + confidence (Hu, Koren &amp; Volinsky)"/>
          <p:cNvSpPr/>
          <p:nvPr/>
        </p:nvSpPr>
        <p:spPr>
          <a:xfrm>
            <a:off x="548640" y="3017520"/>
            <a:ext cx="4754880" cy="1600200"/>
          </a:xfrm>
          <a:prstGeom prst="roundRect">
            <a:avLst>
              <a:gd name="adj" fmla="val 4571"/>
            </a:avLst>
          </a:prstGeom>
          <a:solidFill>
            <a:schemeClr val="bg2"/>
          </a:solidFill>
          <a:ln w="12700">
            <a:solidFill>
              <a:schemeClr val="bg2"/>
            </a:solidFill>
            <a:prstDash val="solid"/>
          </a:ln>
        </p:spPr>
      </p:sp>
      <p:sp>
        <p:nvSpPr>
          <p:cNvPr id="10" name="icon circle"/>
          <p:cNvSpPr/>
          <p:nvPr/>
        </p:nvSpPr>
        <p:spPr>
          <a:xfrm>
            <a:off x="731520" y="3200400"/>
            <a:ext cx="384048" cy="38404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823692" y="3292572"/>
            <a:ext cx="199705" cy="199705"/>
          </a:xfrm>
          <a:prstGeom prst="rect">
            <a:avLst/>
          </a:prstGeom>
        </p:spPr>
      </p:pic>
      <p:sp>
        <p:nvSpPr>
          <p:cNvPr id="12" name="Text 8"/>
          <p:cNvSpPr txBox="1"/>
          <p:nvPr/>
        </p:nvSpPr>
        <p:spPr>
          <a:xfrm>
            <a:off x="1234440" y="3200400"/>
            <a:ext cx="3886200" cy="384048"/>
          </a:xfrm>
          <a:prstGeom prst="rect">
            <a:avLst/>
          </a:prstGeom>
          <a:noFill/>
          <a:ln/>
        </p:spPr>
        <p:txBody>
          <a:bodyPr wrap="square" lIns="0" tIns="0" rIns="0" bIns="0" rtlCol="0" anchor="ctr"/>
          <a:lstStyle/>
          <a:p>
            <a:pPr indent="0" marL="0">
              <a:buNone/>
            </a:pPr>
            <a:r>
              <a:rPr lang="en-US" sz="1400" b="1" dirty="0">
                <a:solidFill>
                  <a:schemeClr val="tx2"/>
                </a:solidFill>
              </a:rPr>
              <a:t>Preference + confidence (Hu, Koren &amp; Volinsky)</a:t>
            </a:r>
            <a:endParaRPr lang="en-US" sz="1400" dirty="0"/>
          </a:p>
        </p:txBody>
      </p:sp>
      <p:sp>
        <p:nvSpPr>
          <p:cNvPr id="13" name="Text 9"/>
          <p:cNvSpPr txBox="1"/>
          <p:nvPr/>
        </p:nvSpPr>
        <p:spPr>
          <a:xfrm>
            <a:off x="731520" y="3675888"/>
            <a:ext cx="4389120" cy="8229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p_ui = 1 if watched, else 0</a:t>
            </a:r>
            <a:endParaRPr lang="en-US" sz="1200" dirty="0"/>
          </a:p>
          <a:p>
            <a:pPr marL="342900" indent="-342900">
              <a:spcAft>
                <a:spcPts val="300"/>
              </a:spcAft>
              <a:buSzPct val="100000"/>
              <a:buChar char="•"/>
            </a:pPr>
            <a:r>
              <a:rPr lang="en-US" sz="1200" dirty="0">
                <a:solidFill>
                  <a:schemeClr val="tx1"/>
                </a:solidFill>
              </a:rPr>
              <a:t>c_ui = 1 + α · rating  (stars as engagement strength)</a:t>
            </a:r>
            <a:endParaRPr lang="en-US" sz="1200" dirty="0"/>
          </a:p>
          <a:p>
            <a:pPr marL="342900" indent="-342900">
              <a:spcAft>
                <a:spcPts val="300"/>
              </a:spcAft>
              <a:buSzPct val="100000"/>
              <a:buChar char="•"/>
            </a:pPr>
            <a:r>
              <a:rPr lang="en-US" sz="1200" dirty="0">
                <a:solidFill>
                  <a:schemeClr val="tx1"/>
                </a:solidFill>
              </a:rPr>
              <a:t>unobserved: p = 0 with low confidence c = 1</a:t>
            </a:r>
            <a:endParaRPr lang="en-US" sz="1200" dirty="0"/>
          </a:p>
        </p:txBody>
      </p:sp>
      <p:sp>
        <p:nvSpPr>
          <p:cNvPr id="14" name="Fixed the reference code"/>
          <p:cNvSpPr/>
          <p:nvPr/>
        </p:nvSpPr>
        <p:spPr>
          <a:xfrm>
            <a:off x="548640" y="4754880"/>
            <a:ext cx="4754880" cy="1463040"/>
          </a:xfrm>
          <a:prstGeom prst="roundRect">
            <a:avLst>
              <a:gd name="adj" fmla="val 5000"/>
            </a:avLst>
          </a:prstGeom>
          <a:solidFill>
            <a:schemeClr val="bg2"/>
          </a:solidFill>
          <a:ln w="12700">
            <a:solidFill>
              <a:schemeClr val="bg2"/>
            </a:solidFill>
            <a:prstDash val="solid"/>
          </a:ln>
        </p:spPr>
      </p:sp>
      <p:sp>
        <p:nvSpPr>
          <p:cNvPr id="15" name="icon circle"/>
          <p:cNvSpPr/>
          <p:nvPr/>
        </p:nvSpPr>
        <p:spPr>
          <a:xfrm>
            <a:off x="731520" y="4937760"/>
            <a:ext cx="384048" cy="384048"/>
          </a:xfrm>
          <a:prstGeom prst="ellipse">
            <a:avLst/>
          </a:prstGeom>
          <a:solidFill>
            <a:schemeClr val="accent2"/>
          </a:solidFill>
          <a:ln w="12700">
            <a:solidFill>
              <a:schemeClr val="accent2"/>
            </a:solidFill>
            <a:prstDash val="solid"/>
          </a:ln>
        </p:spPr>
      </p:sp>
      <p:pic>
        <p:nvPicPr>
          <p:cNvPr id="16" name="icon" descr="preencoded.png">    </p:cNvPr>
          <p:cNvPicPr>
            <a:picLocks noChangeAspect="1"/>
          </p:cNvPicPr>
          <p:nvPr/>
        </p:nvPicPr>
        <p:blipFill>
          <a:blip r:embed="rId3"/>
          <a:stretch>
            <a:fillRect/>
          </a:stretch>
        </p:blipFill>
        <p:spPr>
          <a:xfrm>
            <a:off x="823692" y="5029932"/>
            <a:ext cx="199705" cy="199705"/>
          </a:xfrm>
          <a:prstGeom prst="rect">
            <a:avLst/>
          </a:prstGeom>
        </p:spPr>
      </p:pic>
      <p:sp>
        <p:nvSpPr>
          <p:cNvPr id="17" name="Text 12"/>
          <p:cNvSpPr txBox="1"/>
          <p:nvPr/>
        </p:nvSpPr>
        <p:spPr>
          <a:xfrm>
            <a:off x="1234440" y="4937760"/>
            <a:ext cx="3886200" cy="384048"/>
          </a:xfrm>
          <a:prstGeom prst="rect">
            <a:avLst/>
          </a:prstGeom>
          <a:noFill/>
          <a:ln/>
        </p:spPr>
        <p:txBody>
          <a:bodyPr wrap="square" lIns="0" tIns="0" rIns="0" bIns="0" rtlCol="0" anchor="ctr"/>
          <a:lstStyle/>
          <a:p>
            <a:pPr indent="0" marL="0">
              <a:buNone/>
            </a:pPr>
            <a:r>
              <a:rPr lang="en-US" sz="1400" b="1" dirty="0">
                <a:solidFill>
                  <a:schemeClr val="tx2"/>
                </a:solidFill>
              </a:rPr>
              <a:t>Fixed the reference code</a:t>
            </a:r>
            <a:endParaRPr lang="en-US" sz="1400" dirty="0"/>
          </a:p>
        </p:txBody>
      </p:sp>
      <p:sp>
        <p:nvSpPr>
          <p:cNvPr id="18" name="Text 13"/>
          <p:cNvSpPr txBox="1"/>
          <p:nvPr/>
        </p:nvSpPr>
        <p:spPr>
          <a:xfrm>
            <a:off x="731520" y="5413248"/>
            <a:ext cx="4389120" cy="685800"/>
          </a:xfrm>
          <a:prstGeom prst="rect">
            <a:avLst/>
          </a:prstGeom>
          <a:noFill/>
          <a:ln/>
        </p:spPr>
        <p:txBody>
          <a:bodyPr wrap="square" lIns="0" tIns="0" rIns="0" bIns="0" rtlCol="0" anchor="t"/>
          <a:lstStyle/>
          <a:p>
            <a:pPr indent="0" marL="0">
              <a:spcAft>
                <a:spcPts val="300"/>
              </a:spcAft>
              <a:buNone/>
            </a:pPr>
            <a:r>
              <a:rPr lang="en-US" sz="1150" dirty="0">
                <a:solidFill>
                  <a:schemeClr val="tx1"/>
                </a:solidFill>
              </a:rPr>
              <a:t>Raw IDs built a 611 × 193,610 matrix (183,886 empty columns) and fed raw stars as confidence. Now: contiguous IDs → 610 × 9,724, confidence 1 + α·r built explicitly.</a:t>
            </a:r>
            <a:endParaRPr lang="en-US" sz="1150" dirty="0"/>
          </a:p>
        </p:txBody>
      </p:sp>
      <p:graphicFrame>
        <p:nvGraphicFramePr>
          <p:cNvPr id="19" name="Chart 0" descr=""/>
          <p:cNvGraphicFramePr/>
          <p:nvPr/>
        </p:nvGraphicFramePr>
        <p:xfrm>
          <a:off x="5577840" y="1463040"/>
          <a:ext cx="6062472" cy="3383280"/>
        </p:xfrm>
        <a:graphic xmlns:a="http://schemas.openxmlformats.org/drawingml/2006/main">
          <a:graphicData uri="http://schemas.openxmlformats.org/drawingml/2006/chart">
            <c:chart xmlns:c="http://schemas.openxmlformats.org/drawingml/2006/chart" r:id="rId4"/>
          </a:graphicData>
        </a:graphic>
      </p:graphicFrame>
      <p:sp>
        <p:nvSpPr>
          <p:cNvPr id="20" name="stat card"/>
          <p:cNvSpPr/>
          <p:nvPr/>
        </p:nvSpPr>
        <p:spPr>
          <a:xfrm>
            <a:off x="5577840" y="4983480"/>
            <a:ext cx="2880360" cy="1234440"/>
          </a:xfrm>
          <a:prstGeom prst="roundRect">
            <a:avLst>
              <a:gd name="adj" fmla="val 5926"/>
            </a:avLst>
          </a:prstGeom>
          <a:solidFill>
            <a:schemeClr val="bg2"/>
          </a:solidFill>
          <a:ln w="12700">
            <a:solidFill>
              <a:schemeClr val="bg2"/>
            </a:solidFill>
            <a:prstDash val="solid"/>
          </a:ln>
        </p:spPr>
      </p:sp>
      <p:sp>
        <p:nvSpPr>
          <p:cNvPr id="21" name="stat value"/>
          <p:cNvSpPr txBox="1"/>
          <p:nvPr/>
        </p:nvSpPr>
        <p:spPr>
          <a:xfrm>
            <a:off x="5760720" y="5074920"/>
            <a:ext cx="251460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+75%</a:t>
            </a:r>
            <a:endParaRPr lang="en-US" sz="2800" dirty="0"/>
          </a:p>
        </p:txBody>
      </p:sp>
      <p:sp>
        <p:nvSpPr>
          <p:cNvPr id="22" name="stat label"/>
          <p:cNvSpPr txBox="1"/>
          <p:nvPr/>
        </p:nvSpPr>
        <p:spPr>
          <a:xfrm>
            <a:off x="5760720" y="5605272"/>
            <a:ext cx="2514600" cy="539496"/>
          </a:xfrm>
          <a:prstGeom prst="rect">
            <a:avLst/>
          </a:prstGeom>
          <a:noFill/>
          <a:ln/>
        </p:spPr>
        <p:txBody>
          <a:bodyPr wrap="square" lIns="0" tIns="0" rIns="0" bIns="0" rtlCol="0" anchor="t"/>
          <a:lstStyle/>
          <a:p>
            <a:pPr indent="0" marL="0">
              <a:buNone/>
            </a:pPr>
            <a:r>
              <a:rPr lang="en-US" sz="1200" dirty="0">
                <a:solidFill>
                  <a:schemeClr val="accent5"/>
                </a:solidFill>
              </a:rPr>
              <a:t>precision@10 of ALS (α = 1) over the popularity baseline</a:t>
            </a:r>
            <a:endParaRPr lang="en-US" sz="1200" dirty="0"/>
          </a:p>
        </p:txBody>
      </p:sp>
      <p:sp>
        <p:nvSpPr>
          <p:cNvPr id="23" name="card"/>
          <p:cNvSpPr/>
          <p:nvPr/>
        </p:nvSpPr>
        <p:spPr>
          <a:xfrm>
            <a:off x="8641080" y="4983480"/>
            <a:ext cx="2999232" cy="1234440"/>
          </a:xfrm>
          <a:prstGeom prst="roundRect">
            <a:avLst>
              <a:gd name="adj" fmla="val 5926"/>
            </a:avLst>
          </a:prstGeom>
          <a:solidFill>
            <a:schemeClr val="bg2"/>
          </a:solidFill>
          <a:ln w="12700">
            <a:solidFill>
              <a:schemeClr val="bg2"/>
            </a:solidFill>
            <a:prstDash val="solid"/>
          </a:ln>
        </p:spPr>
      </p:sp>
      <p:sp>
        <p:nvSpPr>
          <p:cNvPr id="24" name="Text 18"/>
          <p:cNvSpPr txBox="1"/>
          <p:nvPr/>
        </p:nvSpPr>
        <p:spPr>
          <a:xfrm>
            <a:off x="8796528" y="5047488"/>
            <a:ext cx="2724912" cy="1115568"/>
          </a:xfrm>
          <a:prstGeom prst="rect">
            <a:avLst/>
          </a:prstGeom>
          <a:noFill/>
          <a:ln/>
        </p:spPr>
        <p:txBody>
          <a:bodyPr wrap="square" lIns="0" tIns="0" rIns="0" bIns="0" rtlCol="0" anchor="ctr"/>
          <a:lstStyle/>
          <a:p>
            <a:pPr indent="0" marL="0">
              <a:buNone/>
            </a:pPr>
            <a:r>
              <a:rPr lang="en-US" sz="1100" b="1" dirty="0">
                <a:solidFill>
                  <a:schemeClr val="tx2"/>
                </a:solidFill>
              </a:rPr>
              <a:t>α acts like 1 / w0. </a:t>
            </a:r>
            <a:pPr indent="0" marL="0">
              <a:buNone/>
            </a:pPr>
            <a:r>
              <a:rPr lang="en-US" sz="1100" dirty="0">
                <a:solidFill>
                  <a:schemeClr val="tx1"/>
                </a:solidFill>
              </a:rPr>
              <a:t>α = 40 weights watched cells 21–201× (effective w0 ≈ 0.005–0.05), close to observed-only, and falls below popularity.</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6  ·  TOP-10 RECOMMENDATIONS &amp; LEARNED EMBEDDINGS</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ALS recommendations follow each user's taste</a:t>
            </a:r>
            <a:endParaRPr lang="en-US" sz="3600" dirty="0"/>
          </a:p>
        </p:txBody>
      </p:sp>
      <p:sp>
        <p:nvSpPr>
          <p:cNvPr id="4" name="card"/>
          <p:cNvSpPr/>
          <p:nvPr/>
        </p:nvSpPr>
        <p:spPr>
          <a:xfrm>
            <a:off x="548640" y="1508760"/>
            <a:ext cx="3657600" cy="4709160"/>
          </a:xfrm>
          <a:prstGeom prst="roundRect">
            <a:avLst>
              <a:gd name="adj" fmla="val 2000"/>
            </a:avLst>
          </a:prstGeom>
          <a:solidFill>
            <a:schemeClr val="bg2"/>
          </a:solidFill>
          <a:ln w="12700">
            <a:solidFill>
              <a:schemeClr val="bg2"/>
            </a:solidFill>
            <a:prstDash val="solid"/>
          </a:ln>
        </p:spPr>
      </p:sp>
      <p:sp>
        <p:nvSpPr>
          <p:cNvPr id="5" name="icon circle"/>
          <p:cNvSpPr/>
          <p:nvPr/>
        </p:nvSpPr>
        <p:spPr>
          <a:xfrm>
            <a:off x="731520" y="1664208"/>
            <a:ext cx="384048" cy="384048"/>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823692" y="1756380"/>
            <a:ext cx="199705" cy="199705"/>
          </a:xfrm>
          <a:prstGeom prst="rect">
            <a:avLst/>
          </a:prstGeom>
        </p:spPr>
      </p:pic>
      <p:sp>
        <p:nvSpPr>
          <p:cNvPr id="7" name="Text 4"/>
          <p:cNvSpPr txBox="1"/>
          <p:nvPr/>
        </p:nvSpPr>
        <p:spPr>
          <a:xfrm>
            <a:off x="1234440" y="1664208"/>
            <a:ext cx="2834640" cy="384048"/>
          </a:xfrm>
          <a:prstGeom prst="rect">
            <a:avLst/>
          </a:prstGeom>
          <a:noFill/>
          <a:ln/>
        </p:spPr>
        <p:txBody>
          <a:bodyPr wrap="square" lIns="0" tIns="0" rIns="0" bIns="0" rtlCol="0" anchor="ctr"/>
          <a:lstStyle/>
          <a:p>
            <a:pPr indent="0" marL="0">
              <a:buNone/>
            </a:pPr>
            <a:r>
              <a:rPr lang="en-US" sz="1400" b="1" dirty="0">
                <a:solidFill>
                  <a:schemeClr val="tx2"/>
                </a:solidFill>
              </a:rPr>
              <a:t>User 401 · children's &amp; animation</a:t>
            </a:r>
            <a:endParaRPr lang="en-US" sz="1400" dirty="0"/>
          </a:p>
        </p:txBody>
      </p:sp>
      <p:sp>
        <p:nvSpPr>
          <p:cNvPr id="8" name="Text 5"/>
          <p:cNvSpPr txBox="1"/>
          <p:nvPr/>
        </p:nvSpPr>
        <p:spPr>
          <a:xfrm>
            <a:off x="731520" y="2103120"/>
            <a:ext cx="3291840" cy="274320"/>
          </a:xfrm>
          <a:prstGeom prst="rect">
            <a:avLst/>
          </a:prstGeom>
          <a:noFill/>
          <a:ln/>
        </p:spPr>
        <p:txBody>
          <a:bodyPr wrap="square" lIns="0" tIns="0" rIns="0" bIns="0" rtlCol="0" anchor="ctr"/>
          <a:lstStyle/>
          <a:p>
            <a:pPr indent="0" marL="0">
              <a:buNone/>
            </a:pPr>
            <a:r>
              <a:rPr lang="en-US" sz="1100" dirty="0">
                <a:solidFill>
                  <a:schemeClr val="accent5"/>
                </a:solidFill>
              </a:rPr>
              <a:t>72 movies watched · Animation 17% · Adventure 15% · Children 15%</a:t>
            </a:r>
            <a:endParaRPr lang="en-US" sz="1100" dirty="0"/>
          </a:p>
        </p:txBody>
      </p:sp>
      <p:sp>
        <p:nvSpPr>
          <p:cNvPr id="9" name="Text 6"/>
          <p:cNvSpPr txBox="1"/>
          <p:nvPr/>
        </p:nvSpPr>
        <p:spPr>
          <a:xfrm>
            <a:off x="731520" y="2468880"/>
            <a:ext cx="3337560" cy="2743200"/>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150" dirty="0">
                <a:solidFill>
                  <a:schemeClr val="tx1"/>
                </a:solidFill>
              </a:rPr>
              <a:t>Spirited Away (2001)</a:t>
            </a:r>
            <a:endParaRPr lang="en-US" sz="1150" dirty="0"/>
          </a:p>
          <a:p>
            <a:pPr marL="342900" indent="-342900">
              <a:spcAft>
                <a:spcPts val="200"/>
              </a:spcAft>
              <a:buSzPct val="100000"/>
              <a:buFont typeface="+mj-lt"/>
              <a:buAutoNum type="arabicPeriod" startAt="1"/>
            </a:pPr>
            <a:r>
              <a:rPr lang="en-US" sz="1150" dirty="0">
                <a:solidFill>
                  <a:schemeClr val="tx1"/>
                </a:solidFill>
              </a:rPr>
              <a:t>Harry Potter and the Sorcerer's Stone (2001)</a:t>
            </a:r>
            <a:endParaRPr lang="en-US" sz="1150" dirty="0"/>
          </a:p>
          <a:p>
            <a:pPr marL="342900" indent="-342900">
              <a:spcAft>
                <a:spcPts val="200"/>
              </a:spcAft>
              <a:buSzPct val="100000"/>
              <a:buFont typeface="+mj-lt"/>
              <a:buAutoNum type="arabicPeriod" startAt="1"/>
            </a:pPr>
            <a:r>
              <a:rPr lang="en-US" sz="1150" dirty="0">
                <a:solidFill>
                  <a:schemeClr val="tx1"/>
                </a:solidFill>
              </a:rPr>
              <a:t>Harry Potter and the Prisoner of Azkaban (2004)</a:t>
            </a:r>
            <a:endParaRPr lang="en-US" sz="1150" dirty="0"/>
          </a:p>
          <a:p>
            <a:pPr marL="342900" indent="-342900">
              <a:spcAft>
                <a:spcPts val="200"/>
              </a:spcAft>
              <a:buSzPct val="100000"/>
              <a:buFont typeface="+mj-lt"/>
              <a:buAutoNum type="arabicPeriod" startAt="1"/>
            </a:pPr>
            <a:r>
              <a:rPr lang="en-US" sz="1150" dirty="0">
                <a:solidFill>
                  <a:schemeClr val="tx1"/>
                </a:solidFill>
              </a:rPr>
              <a:t>Harry Potter and the Chamber of Secrets (2002)</a:t>
            </a:r>
            <a:endParaRPr lang="en-US" sz="1150" dirty="0"/>
          </a:p>
          <a:p>
            <a:pPr marL="342900" indent="-342900">
              <a:spcAft>
                <a:spcPts val="200"/>
              </a:spcAft>
              <a:buSzPct val="100000"/>
              <a:buFont typeface="+mj-lt"/>
              <a:buAutoNum type="arabicPeriod" startAt="1"/>
            </a:pPr>
            <a:r>
              <a:rPr lang="en-US" sz="1150" dirty="0">
                <a:solidFill>
                  <a:schemeClr val="tx1"/>
                </a:solidFill>
              </a:rPr>
              <a:t>Harry Potter and the Half-Blood Prince (2009)</a:t>
            </a:r>
            <a:endParaRPr lang="en-US" sz="1150" dirty="0"/>
          </a:p>
          <a:p>
            <a:pPr marL="342900" indent="-342900">
              <a:spcAft>
                <a:spcPts val="200"/>
              </a:spcAft>
              <a:buSzPct val="100000"/>
              <a:buFont typeface="+mj-lt"/>
              <a:buAutoNum type="arabicPeriod" startAt="1"/>
            </a:pPr>
            <a:r>
              <a:rPr lang="en-US" sz="1150" dirty="0">
                <a:solidFill>
                  <a:schemeClr val="tx1"/>
                </a:solidFill>
              </a:rPr>
              <a:t>The Dark Knight (2008)</a:t>
            </a:r>
            <a:endParaRPr lang="en-US" sz="1150" dirty="0"/>
          </a:p>
          <a:p>
            <a:pPr marL="342900" indent="-342900">
              <a:spcAft>
                <a:spcPts val="200"/>
              </a:spcAft>
              <a:buSzPct val="100000"/>
              <a:buFont typeface="+mj-lt"/>
              <a:buAutoNum type="arabicPeriod" startAt="1"/>
            </a:pPr>
            <a:r>
              <a:rPr lang="en-US" sz="1150" dirty="0">
                <a:solidFill>
                  <a:schemeClr val="tx1"/>
                </a:solidFill>
              </a:rPr>
              <a:t>Inception (2010)</a:t>
            </a:r>
            <a:endParaRPr lang="en-US" sz="1150" dirty="0"/>
          </a:p>
          <a:p>
            <a:pPr marL="342900" indent="-342900">
              <a:spcAft>
                <a:spcPts val="200"/>
              </a:spcAft>
              <a:buSzPct val="100000"/>
              <a:buFont typeface="+mj-lt"/>
              <a:buAutoNum type="arabicPeriod" startAt="1"/>
            </a:pPr>
            <a:r>
              <a:rPr lang="en-US" sz="1150" dirty="0">
                <a:solidFill>
                  <a:schemeClr val="tx1"/>
                </a:solidFill>
              </a:rPr>
              <a:t>Harry Potter and the Goblet of Fire (2005)</a:t>
            </a:r>
            <a:endParaRPr lang="en-US" sz="1150" dirty="0"/>
          </a:p>
          <a:p>
            <a:pPr marL="342900" indent="-342900">
              <a:spcAft>
                <a:spcPts val="200"/>
              </a:spcAft>
              <a:buSzPct val="100000"/>
              <a:buFont typeface="+mj-lt"/>
              <a:buAutoNum type="arabicPeriod" startAt="1"/>
            </a:pPr>
            <a:r>
              <a:rPr lang="en-US" sz="1150" dirty="0">
                <a:solidFill>
                  <a:schemeClr val="tx1"/>
                </a:solidFill>
              </a:rPr>
              <a:t>The Matrix (1999)</a:t>
            </a:r>
            <a:endParaRPr lang="en-US" sz="1150" dirty="0"/>
          </a:p>
          <a:p>
            <a:pPr marL="342900" indent="-342900">
              <a:spcAft>
                <a:spcPts val="200"/>
              </a:spcAft>
              <a:buSzPct val="100000"/>
              <a:buFont typeface="+mj-lt"/>
              <a:buAutoNum type="arabicPeriod" startAt="1"/>
            </a:pPr>
            <a:r>
              <a:rPr lang="en-US" sz="1150" dirty="0">
                <a:solidFill>
                  <a:schemeClr val="tx1"/>
                </a:solidFill>
              </a:rPr>
              <a:t>The Shawshank Redemption (1994)</a:t>
            </a:r>
            <a:endParaRPr lang="en-US" sz="1150" dirty="0"/>
          </a:p>
        </p:txBody>
      </p:sp>
      <p:sp>
        <p:nvSpPr>
          <p:cNvPr id="10" name="Text 7"/>
          <p:cNvSpPr txBox="1"/>
          <p:nvPr/>
        </p:nvSpPr>
        <p:spPr>
          <a:xfrm>
            <a:off x="731520" y="5074920"/>
            <a:ext cx="3337560" cy="45720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60%</a:t>
            </a:r>
            <a:pPr indent="0" marL="0">
              <a:buNone/>
            </a:pPr>
            <a:r>
              <a:rPr lang="en-US" sz="1100" dirty="0">
                <a:solidFill>
                  <a:schemeClr val="tx1"/>
                </a:solidFill>
              </a:rPr>
              <a:t>  share a top-3 genre (popularity list: 20%)</a:t>
            </a:r>
            <a:endParaRPr lang="en-US" sz="2400" dirty="0"/>
          </a:p>
        </p:txBody>
      </p:sp>
      <p:sp>
        <p:nvSpPr>
          <p:cNvPr id="11" name="Text 8"/>
          <p:cNvSpPr txBox="1"/>
          <p:nvPr/>
        </p:nvSpPr>
        <p:spPr>
          <a:xfrm>
            <a:off x="731520" y="5623560"/>
            <a:ext cx="3337560" cy="457200"/>
          </a:xfrm>
          <a:prstGeom prst="rect">
            <a:avLst/>
          </a:prstGeom>
          <a:noFill/>
          <a:ln/>
        </p:spPr>
        <p:txBody>
          <a:bodyPr wrap="square" lIns="0" tIns="0" rIns="0" bIns="0" rtlCol="0" anchor="ctr"/>
          <a:lstStyle/>
          <a:p>
            <a:pPr indent="0" marL="0">
              <a:buNone/>
            </a:pPr>
            <a:r>
              <a:rPr lang="en-US" sz="1050" i="1" dirty="0">
                <a:solidFill>
                  <a:schemeClr val="accent5"/>
                </a:solidFill>
              </a:rPr>
              <a:t>explain(): Spirited Away ← Howl's Moving Castle, WALL·E, Up</a:t>
            </a:r>
            <a:endParaRPr lang="en-US" sz="1050" dirty="0"/>
          </a:p>
        </p:txBody>
      </p:sp>
      <p:sp>
        <p:nvSpPr>
          <p:cNvPr id="12" name="card"/>
          <p:cNvSpPr/>
          <p:nvPr/>
        </p:nvSpPr>
        <p:spPr>
          <a:xfrm>
            <a:off x="4389120" y="1508760"/>
            <a:ext cx="3657600" cy="4709160"/>
          </a:xfrm>
          <a:prstGeom prst="roundRect">
            <a:avLst>
              <a:gd name="adj" fmla="val 2000"/>
            </a:avLst>
          </a:prstGeom>
          <a:solidFill>
            <a:schemeClr val="bg2"/>
          </a:solidFill>
          <a:ln w="12700">
            <a:solidFill>
              <a:schemeClr val="bg2"/>
            </a:solidFill>
            <a:prstDash val="solid"/>
          </a:ln>
        </p:spPr>
      </p:sp>
      <p:sp>
        <p:nvSpPr>
          <p:cNvPr id="13" name="icon circle"/>
          <p:cNvSpPr/>
          <p:nvPr/>
        </p:nvSpPr>
        <p:spPr>
          <a:xfrm>
            <a:off x="4572000" y="1664208"/>
            <a:ext cx="384048" cy="384048"/>
          </a:xfrm>
          <a:prstGeom prst="ellipse">
            <a:avLst/>
          </a:prstGeom>
          <a:solidFill>
            <a:schemeClr val="accent2"/>
          </a:solidFill>
          <a:ln w="12700">
            <a:solidFill>
              <a:schemeClr val="accent2"/>
            </a:solidFill>
            <a:prstDash val="solid"/>
          </a:ln>
        </p:spPr>
      </p:sp>
      <p:pic>
        <p:nvPicPr>
          <p:cNvPr id="14" name="icon" descr="preencoded.png">    </p:cNvPr>
          <p:cNvPicPr>
            <a:picLocks noChangeAspect="1"/>
          </p:cNvPicPr>
          <p:nvPr/>
        </p:nvPicPr>
        <p:blipFill>
          <a:blip r:embed="rId2"/>
          <a:stretch>
            <a:fillRect/>
          </a:stretch>
        </p:blipFill>
        <p:spPr>
          <a:xfrm>
            <a:off x="4664172" y="1756380"/>
            <a:ext cx="199705" cy="199705"/>
          </a:xfrm>
          <a:prstGeom prst="rect">
            <a:avLst/>
          </a:prstGeom>
        </p:spPr>
      </p:pic>
      <p:sp>
        <p:nvSpPr>
          <p:cNvPr id="15" name="Text 11"/>
          <p:cNvSpPr txBox="1"/>
          <p:nvPr/>
        </p:nvSpPr>
        <p:spPr>
          <a:xfrm>
            <a:off x="5074920" y="1664208"/>
            <a:ext cx="2834640" cy="384048"/>
          </a:xfrm>
          <a:prstGeom prst="rect">
            <a:avLst/>
          </a:prstGeom>
          <a:noFill/>
          <a:ln/>
        </p:spPr>
        <p:txBody>
          <a:bodyPr wrap="square" lIns="0" tIns="0" rIns="0" bIns="0" rtlCol="0" anchor="ctr"/>
          <a:lstStyle/>
          <a:p>
            <a:pPr indent="0" marL="0">
              <a:buNone/>
            </a:pPr>
            <a:r>
              <a:rPr lang="en-US" sz="1400" b="1" dirty="0">
                <a:solidFill>
                  <a:schemeClr val="tx2"/>
                </a:solidFill>
              </a:rPr>
              <a:t>User 571 · horror fan</a:t>
            </a:r>
            <a:endParaRPr lang="en-US" sz="1400" dirty="0"/>
          </a:p>
        </p:txBody>
      </p:sp>
      <p:sp>
        <p:nvSpPr>
          <p:cNvPr id="16" name="Text 12"/>
          <p:cNvSpPr txBox="1"/>
          <p:nvPr/>
        </p:nvSpPr>
        <p:spPr>
          <a:xfrm>
            <a:off x="4572000" y="2103120"/>
            <a:ext cx="3291840" cy="274320"/>
          </a:xfrm>
          <a:prstGeom prst="rect">
            <a:avLst/>
          </a:prstGeom>
          <a:noFill/>
          <a:ln/>
        </p:spPr>
        <p:txBody>
          <a:bodyPr wrap="square" lIns="0" tIns="0" rIns="0" bIns="0" rtlCol="0" anchor="ctr"/>
          <a:lstStyle/>
          <a:p>
            <a:pPr indent="0" marL="0">
              <a:buNone/>
            </a:pPr>
            <a:r>
              <a:rPr lang="en-US" sz="1100" dirty="0">
                <a:solidFill>
                  <a:schemeClr val="accent5"/>
                </a:solidFill>
              </a:rPr>
              <a:t>112 movies watched · Horror 43% · Thriller 17% · Sci‑Fi 9%</a:t>
            </a:r>
            <a:endParaRPr lang="en-US" sz="1100" dirty="0"/>
          </a:p>
        </p:txBody>
      </p:sp>
      <p:sp>
        <p:nvSpPr>
          <p:cNvPr id="17" name="Text 13"/>
          <p:cNvSpPr txBox="1"/>
          <p:nvPr/>
        </p:nvSpPr>
        <p:spPr>
          <a:xfrm>
            <a:off x="4572000" y="2468880"/>
            <a:ext cx="3337560" cy="2743200"/>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150" dirty="0">
                <a:solidFill>
                  <a:schemeClr val="tx1"/>
                </a:solidFill>
              </a:rPr>
              <a:t>The Exorcist (1973)</a:t>
            </a:r>
            <a:endParaRPr lang="en-US" sz="1150" dirty="0"/>
          </a:p>
          <a:p>
            <a:pPr marL="342900" indent="-342900">
              <a:spcAft>
                <a:spcPts val="200"/>
              </a:spcAft>
              <a:buSzPct val="100000"/>
              <a:buFont typeface="+mj-lt"/>
              <a:buAutoNum type="arabicPeriod" startAt="1"/>
            </a:pPr>
            <a:r>
              <a:rPr lang="en-US" sz="1150" dirty="0">
                <a:solidFill>
                  <a:schemeClr val="tx1"/>
                </a:solidFill>
              </a:rPr>
              <a:t>Friday the 13th (1980)</a:t>
            </a:r>
            <a:endParaRPr lang="en-US" sz="1150" dirty="0"/>
          </a:p>
          <a:p>
            <a:pPr marL="342900" indent="-342900">
              <a:spcAft>
                <a:spcPts val="200"/>
              </a:spcAft>
              <a:buSzPct val="100000"/>
              <a:buFont typeface="+mj-lt"/>
              <a:buAutoNum type="arabicPeriod" startAt="1"/>
            </a:pPr>
            <a:r>
              <a:rPr lang="en-US" sz="1150" dirty="0">
                <a:solidFill>
                  <a:schemeClr val="tx1"/>
                </a:solidFill>
              </a:rPr>
              <a:t>The Fly (1986)</a:t>
            </a:r>
            <a:endParaRPr lang="en-US" sz="1150" dirty="0"/>
          </a:p>
          <a:p>
            <a:pPr marL="342900" indent="-342900">
              <a:spcAft>
                <a:spcPts val="200"/>
              </a:spcAft>
              <a:buSzPct val="100000"/>
              <a:buFont typeface="+mj-lt"/>
              <a:buAutoNum type="arabicPeriod" startAt="1"/>
            </a:pPr>
            <a:r>
              <a:rPr lang="en-US" sz="1150" dirty="0">
                <a:solidFill>
                  <a:schemeClr val="tx1"/>
                </a:solidFill>
              </a:rPr>
              <a:t>An American Werewolf in London (1981)</a:t>
            </a:r>
            <a:endParaRPr lang="en-US" sz="1150" dirty="0"/>
          </a:p>
          <a:p>
            <a:pPr marL="342900" indent="-342900">
              <a:spcAft>
                <a:spcPts val="200"/>
              </a:spcAft>
              <a:buSzPct val="100000"/>
              <a:buFont typeface="+mj-lt"/>
              <a:buAutoNum type="arabicPeriod" startAt="1"/>
            </a:pPr>
            <a:r>
              <a:rPr lang="en-US" sz="1150" dirty="0">
                <a:solidFill>
                  <a:schemeClr val="tx1"/>
                </a:solidFill>
              </a:rPr>
              <a:t>A Nightmare on Elm Street (1984)</a:t>
            </a:r>
            <a:endParaRPr lang="en-US" sz="1150" dirty="0"/>
          </a:p>
          <a:p>
            <a:pPr marL="342900" indent="-342900">
              <a:spcAft>
                <a:spcPts val="200"/>
              </a:spcAft>
              <a:buSzPct val="100000"/>
              <a:buFont typeface="+mj-lt"/>
              <a:buAutoNum type="arabicPeriod" startAt="1"/>
            </a:pPr>
            <a:r>
              <a:rPr lang="en-US" sz="1150" dirty="0">
                <a:solidFill>
                  <a:schemeClr val="tx1"/>
                </a:solidFill>
              </a:rPr>
              <a:t>Halloween (1978)</a:t>
            </a:r>
            <a:endParaRPr lang="en-US" sz="1150" dirty="0"/>
          </a:p>
          <a:p>
            <a:pPr marL="342900" indent="-342900">
              <a:spcAft>
                <a:spcPts val="200"/>
              </a:spcAft>
              <a:buSzPct val="100000"/>
              <a:buFont typeface="+mj-lt"/>
              <a:buAutoNum type="arabicPeriod" startAt="1"/>
            </a:pPr>
            <a:r>
              <a:rPr lang="en-US" sz="1150" dirty="0">
                <a:solidFill>
                  <a:schemeClr val="tx1"/>
                </a:solidFill>
              </a:rPr>
              <a:t>Deliverance (1972)</a:t>
            </a:r>
            <a:endParaRPr lang="en-US" sz="1150" dirty="0"/>
          </a:p>
          <a:p>
            <a:pPr marL="342900" indent="-342900">
              <a:spcAft>
                <a:spcPts val="200"/>
              </a:spcAft>
              <a:buSzPct val="100000"/>
              <a:buFont typeface="+mj-lt"/>
              <a:buAutoNum type="arabicPeriod" startAt="1"/>
            </a:pPr>
            <a:r>
              <a:rPr lang="en-US" sz="1150" dirty="0">
                <a:solidFill>
                  <a:schemeClr val="tx1"/>
                </a:solidFill>
              </a:rPr>
              <a:t>Aliens (1986)</a:t>
            </a:r>
            <a:endParaRPr lang="en-US" sz="1150" dirty="0"/>
          </a:p>
          <a:p>
            <a:pPr marL="342900" indent="-342900">
              <a:spcAft>
                <a:spcPts val="200"/>
              </a:spcAft>
              <a:buSzPct val="100000"/>
              <a:buFont typeface="+mj-lt"/>
              <a:buAutoNum type="arabicPeriod" startAt="1"/>
            </a:pPr>
            <a:r>
              <a:rPr lang="en-US" sz="1150" dirty="0">
                <a:solidFill>
                  <a:schemeClr val="tx1"/>
                </a:solidFill>
              </a:rPr>
              <a:t>The Others (2001)</a:t>
            </a:r>
            <a:endParaRPr lang="en-US" sz="1150" dirty="0"/>
          </a:p>
          <a:p>
            <a:pPr marL="342900" indent="-342900">
              <a:spcAft>
                <a:spcPts val="200"/>
              </a:spcAft>
              <a:buSzPct val="100000"/>
              <a:buFont typeface="+mj-lt"/>
              <a:buAutoNum type="arabicPeriod" startAt="1"/>
            </a:pPr>
            <a:r>
              <a:rPr lang="en-US" sz="1150" dirty="0">
                <a:solidFill>
                  <a:schemeClr val="tx1"/>
                </a:solidFill>
              </a:rPr>
              <a:t>The NeverEnding Story (1984)</a:t>
            </a:r>
            <a:endParaRPr lang="en-US" sz="1150" dirty="0"/>
          </a:p>
        </p:txBody>
      </p:sp>
      <p:sp>
        <p:nvSpPr>
          <p:cNvPr id="18" name="Text 14"/>
          <p:cNvSpPr txBox="1"/>
          <p:nvPr/>
        </p:nvSpPr>
        <p:spPr>
          <a:xfrm>
            <a:off x="4572000" y="5074920"/>
            <a:ext cx="3337560" cy="45720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90%</a:t>
            </a:r>
            <a:pPr indent="0" marL="0">
              <a:buNone/>
            </a:pPr>
            <a:r>
              <a:rPr lang="en-US" sz="1100" dirty="0">
                <a:solidFill>
                  <a:schemeClr val="tx1"/>
                </a:solidFill>
              </a:rPr>
              <a:t>  share a top-3 genre (popularity list: 60%)</a:t>
            </a:r>
            <a:endParaRPr lang="en-US" sz="2400" dirty="0"/>
          </a:p>
        </p:txBody>
      </p:sp>
      <p:sp>
        <p:nvSpPr>
          <p:cNvPr id="19" name="Text 15"/>
          <p:cNvSpPr txBox="1"/>
          <p:nvPr/>
        </p:nvSpPr>
        <p:spPr>
          <a:xfrm>
            <a:off x="4572000" y="5623560"/>
            <a:ext cx="3337560" cy="457200"/>
          </a:xfrm>
          <a:prstGeom prst="rect">
            <a:avLst/>
          </a:prstGeom>
          <a:noFill/>
          <a:ln/>
        </p:spPr>
        <p:txBody>
          <a:bodyPr wrap="square" lIns="0" tIns="0" rIns="0" bIns="0" rtlCol="0" anchor="ctr"/>
          <a:lstStyle/>
          <a:p>
            <a:pPr indent="0" marL="0">
              <a:buNone/>
            </a:pPr>
            <a:r>
              <a:rPr lang="en-US" sz="1050" i="1" dirty="0">
                <a:solidFill>
                  <a:schemeClr val="accent5"/>
                </a:solidFill>
              </a:rPr>
              <a:t>Classic horror throughout, in line with a history of The Shining, The Omen and Night of the Living Dead</a:t>
            </a:r>
            <a:endParaRPr lang="en-US" sz="1050" dirty="0"/>
          </a:p>
        </p:txBody>
      </p:sp>
      <p:sp>
        <p:nvSpPr>
          <p:cNvPr id="20" name="card"/>
          <p:cNvSpPr/>
          <p:nvPr/>
        </p:nvSpPr>
        <p:spPr>
          <a:xfrm>
            <a:off x="8229600" y="1508760"/>
            <a:ext cx="3410712" cy="4709160"/>
          </a:xfrm>
          <a:prstGeom prst="roundRect">
            <a:avLst>
              <a:gd name="adj" fmla="val 2145"/>
            </a:avLst>
          </a:prstGeom>
          <a:solidFill>
            <a:schemeClr val="tx2"/>
          </a:solidFill>
          <a:ln w="12700">
            <a:solidFill>
              <a:schemeClr val="tx2"/>
            </a:solidFill>
            <a:prstDash val="solid"/>
          </a:ln>
        </p:spPr>
      </p:sp>
      <p:sp>
        <p:nvSpPr>
          <p:cNvPr id="21" name="icon circle"/>
          <p:cNvSpPr/>
          <p:nvPr/>
        </p:nvSpPr>
        <p:spPr>
          <a:xfrm>
            <a:off x="8412480" y="1664208"/>
            <a:ext cx="384048" cy="384048"/>
          </a:xfrm>
          <a:prstGeom prst="ellipse">
            <a:avLst/>
          </a:prstGeom>
          <a:solidFill>
            <a:schemeClr val="accent2"/>
          </a:solidFill>
          <a:ln w="12700">
            <a:solidFill>
              <a:schemeClr val="accent2"/>
            </a:solidFill>
            <a:prstDash val="solid"/>
          </a:ln>
        </p:spPr>
      </p:sp>
      <p:pic>
        <p:nvPicPr>
          <p:cNvPr id="22" name="icon" descr="preencoded.png">    </p:cNvPr>
          <p:cNvPicPr>
            <a:picLocks noChangeAspect="1"/>
          </p:cNvPicPr>
          <p:nvPr/>
        </p:nvPicPr>
        <p:blipFill>
          <a:blip r:embed="rId3"/>
          <a:stretch>
            <a:fillRect/>
          </a:stretch>
        </p:blipFill>
        <p:spPr>
          <a:xfrm>
            <a:off x="8504652" y="1756380"/>
            <a:ext cx="199705" cy="199705"/>
          </a:xfrm>
          <a:prstGeom prst="rect">
            <a:avLst/>
          </a:prstGeom>
        </p:spPr>
      </p:pic>
      <p:sp>
        <p:nvSpPr>
          <p:cNvPr id="23" name="Text 18"/>
          <p:cNvSpPr txBox="1"/>
          <p:nvPr/>
        </p:nvSpPr>
        <p:spPr>
          <a:xfrm>
            <a:off x="8915400" y="1627632"/>
            <a:ext cx="2606040" cy="457200"/>
          </a:xfrm>
          <a:prstGeom prst="rect">
            <a:avLst/>
          </a:prstGeom>
          <a:noFill/>
          <a:ln/>
        </p:spPr>
        <p:txBody>
          <a:bodyPr wrap="square" lIns="0" tIns="0" rIns="0" bIns="0" rtlCol="0" anchor="ctr"/>
          <a:lstStyle/>
          <a:p>
            <a:pPr indent="0" marL="0">
              <a:buNone/>
            </a:pPr>
            <a:r>
              <a:rPr lang="en-US" sz="1300" b="1" dirty="0">
                <a:solidFill>
                  <a:schemeClr val="bg1"/>
                </a:solidFill>
              </a:rPr>
              <a:t>Learned embeddings: nearest neighbours</a:t>
            </a:r>
            <a:endParaRPr lang="en-US" sz="1300" dirty="0"/>
          </a:p>
        </p:txBody>
      </p:sp>
      <p:sp>
        <p:nvSpPr>
          <p:cNvPr id="24" name="Text 19"/>
          <p:cNvSpPr txBox="1"/>
          <p:nvPr/>
        </p:nvSpPr>
        <p:spPr>
          <a:xfrm>
            <a:off x="8412480" y="2176272"/>
            <a:ext cx="3090672" cy="3977640"/>
          </a:xfrm>
          <a:prstGeom prst="rect">
            <a:avLst/>
          </a:prstGeom>
          <a:noFill/>
          <a:ln/>
        </p:spPr>
        <p:txBody>
          <a:bodyPr wrap="square" lIns="0" tIns="0" rIns="0" bIns="0" rtlCol="0" anchor="t"/>
          <a:lstStyle/>
          <a:p>
            <a:pPr indent="0" marL="0">
              <a:spcAft>
                <a:spcPts val="200"/>
              </a:spcAft>
              <a:buNone/>
            </a:pPr>
            <a:r>
              <a:rPr lang="en-US" sz="1100" b="1" dirty="0">
                <a:solidFill>
                  <a:schemeClr val="accent2"/>
                </a:solidFill>
              </a:rPr>
              <a:t>The Shining →</a:t>
            </a:r>
            <a:endParaRPr lang="en-US" sz="1100" dirty="0"/>
          </a:p>
          <a:p>
            <a:pPr indent="0" marL="0">
              <a:spcAft>
                <a:spcPts val="200"/>
              </a:spcAft>
              <a:buNone/>
            </a:pPr>
            <a:r>
              <a:rPr lang="en-US" sz="1100" dirty="0">
                <a:solidFill>
                  <a:schemeClr val="bg1"/>
                </a:solidFill>
              </a:rPr>
              <a:t>Psycho  0.84</a:t>
            </a:r>
            <a:endParaRPr lang="en-US" sz="1100" dirty="0"/>
          </a:p>
          <a:p>
            <a:pPr indent="0" marL="0">
              <a:spcAft>
                <a:spcPts val="200"/>
              </a:spcAft>
              <a:buNone/>
            </a:pPr>
            <a:r>
              <a:rPr lang="en-US" sz="1100" dirty="0">
                <a:solidFill>
                  <a:schemeClr val="bg1"/>
                </a:solidFill>
              </a:rPr>
              <a:t>Reservoir Dogs  0.76</a:t>
            </a:r>
            <a:endParaRPr lang="en-US" sz="1100" dirty="0"/>
          </a:p>
          <a:p>
            <a:pPr indent="0" marL="0">
              <a:spcAft>
                <a:spcPts val="200"/>
              </a:spcAft>
              <a:buNone/>
            </a:pPr>
            <a:r>
              <a:rPr lang="en-US" sz="1100" dirty="0">
                <a:solidFill>
                  <a:schemeClr val="bg1"/>
                </a:solidFill>
              </a:rPr>
              <a:t>Full Metal Jacket *  0.74</a:t>
            </a:r>
            <a:endParaRPr lang="en-US" sz="1100" dirty="0"/>
          </a:p>
          <a:p>
            <a:pPr indent="0" marL="0">
              <a:spcAft>
                <a:spcPts val="200"/>
              </a:spcAft>
              <a:buNone/>
            </a:pPr>
            <a:r>
              <a:rPr lang="en-US" sz="1100" dirty="0">
                <a:solidFill>
                  <a:schemeClr val="bg1"/>
                </a:solidFill>
              </a:rPr>
              <a:t>2001: A Space Odyssey *  0.74</a:t>
            </a:r>
            <a:endParaRPr lang="en-US" sz="1100" dirty="0"/>
          </a:p>
          <a:p>
            <a:pPr indent="0" marL="0">
              <a:spcAft>
                <a:spcPts val="200"/>
              </a:spcAft>
              <a:buNone/>
            </a:pPr>
            <a:r>
              <a:rPr lang="en-US" sz="1100" dirty="0">
                <a:solidFill>
                  <a:schemeClr val="bg1"/>
                </a:solidFill>
              </a:rPr>
              <a:t>The Blair Witch Project  0.73</a:t>
            </a:r>
            <a:endParaRPr lang="en-US" sz="1100" dirty="0"/>
          </a:p>
          <a:p>
            <a:pPr indent="0" marL="0">
              <a:spcAft>
                <a:spcPts val="200"/>
              </a:spcAft>
              <a:buNone/>
            </a:pPr>
            <a:r>
              <a:rPr lang="en-US" sz="1000" i="1" dirty="0">
                <a:solidFill>
                  <a:schemeClr val="bg2"/>
                </a:solidFill>
              </a:rPr>
              <a:t>* Kubrick films: a director axis found from viewing alone</a:t>
            </a:r>
            <a:endParaRPr lang="en-US" sz="1100" dirty="0"/>
          </a:p>
          <a:p>
            <a:pPr indent="0" marL="0">
              <a:spcAft>
                <a:spcPts val="200"/>
              </a:spcAft>
              <a:buNone/>
            </a:pPr>
            <a:r>
              <a:rPr lang="en-US" sz="1100" b="1" dirty="0">
                <a:solidFill>
                  <a:schemeClr val="accent2"/>
                </a:solidFill>
              </a:rPr>
              <a:t>The Matrix →</a:t>
            </a:r>
            <a:endParaRPr lang="en-US" sz="1100" dirty="0"/>
          </a:p>
          <a:p>
            <a:pPr indent="0" marL="0">
              <a:spcAft>
                <a:spcPts val="200"/>
              </a:spcAft>
              <a:buNone/>
            </a:pPr>
            <a:r>
              <a:rPr lang="en-US" sz="1100" dirty="0">
                <a:solidFill>
                  <a:schemeClr val="bg1"/>
                </a:solidFill>
              </a:rPr>
              <a:t>The Sixth Sense  0.95</a:t>
            </a:r>
            <a:endParaRPr lang="en-US" sz="1100" dirty="0"/>
          </a:p>
          <a:p>
            <a:pPr indent="0" marL="0">
              <a:spcAft>
                <a:spcPts val="200"/>
              </a:spcAft>
              <a:buNone/>
            </a:pPr>
            <a:r>
              <a:rPr lang="en-US" sz="1100" dirty="0">
                <a:solidFill>
                  <a:schemeClr val="bg1"/>
                </a:solidFill>
              </a:rPr>
              <a:t>Gladiator  0.94</a:t>
            </a:r>
            <a:endParaRPr lang="en-US" sz="1100" dirty="0"/>
          </a:p>
          <a:p>
            <a:pPr indent="0" marL="0">
              <a:spcAft>
                <a:spcPts val="200"/>
              </a:spcAft>
              <a:buNone/>
            </a:pPr>
            <a:r>
              <a:rPr lang="en-US" sz="1100" dirty="0">
                <a:solidFill>
                  <a:schemeClr val="bg1"/>
                </a:solidFill>
              </a:rPr>
              <a:t>Saving Private Ryan  0.94</a:t>
            </a:r>
            <a:endParaRPr lang="en-US" sz="1100" dirty="0"/>
          </a:p>
          <a:p>
            <a:pPr indent="0" marL="0">
              <a:spcAft>
                <a:spcPts val="200"/>
              </a:spcAft>
              <a:buNone/>
            </a:pPr>
            <a:r>
              <a:rPr lang="en-US" sz="1100" dirty="0">
                <a:solidFill>
                  <a:schemeClr val="bg1"/>
                </a:solidFill>
              </a:rPr>
              <a:t>Star Wars: Episode V - The Empire Strikes Back  0.91</a:t>
            </a:r>
            <a:endParaRPr lang="en-US" sz="1100" dirty="0"/>
          </a:p>
          <a:p>
            <a:pPr indent="0" marL="0">
              <a:spcAft>
                <a:spcPts val="200"/>
              </a:spcAft>
              <a:buNone/>
            </a:pPr>
            <a:r>
              <a:rPr lang="en-US" sz="1000" i="1" dirty="0">
                <a:solidFill>
                  <a:schemeClr val="bg2"/>
                </a:solidFill>
              </a:rPr>
              <a:t>late-90s hits with the same audience</a:t>
            </a:r>
            <a:endParaRPr lang="en-US" sz="1100" dirty="0"/>
          </a:p>
          <a:p>
            <a:pPr indent="0" marL="0">
              <a:spcAft>
                <a:spcPts val="200"/>
              </a:spcAft>
              <a:buNone/>
            </a:pPr>
            <a:r>
              <a:rPr lang="en-US" sz="1100" b="1" dirty="0">
                <a:solidFill>
                  <a:schemeClr val="accent2"/>
                </a:solidFill>
              </a:rPr>
              <a:t>Toy Story →</a:t>
            </a:r>
            <a:endParaRPr lang="en-US" sz="1100" dirty="0"/>
          </a:p>
          <a:p>
            <a:pPr indent="0" marL="0">
              <a:spcAft>
                <a:spcPts val="200"/>
              </a:spcAft>
              <a:buNone/>
            </a:pPr>
            <a:r>
              <a:rPr lang="en-US" sz="1100" dirty="0">
                <a:solidFill>
                  <a:schemeClr val="bg1"/>
                </a:solidFill>
              </a:rPr>
              <a:t>Forrest Gump  0.86</a:t>
            </a:r>
            <a:endParaRPr lang="en-US" sz="1100" dirty="0"/>
          </a:p>
          <a:p>
            <a:pPr indent="0" marL="0">
              <a:spcAft>
                <a:spcPts val="200"/>
              </a:spcAft>
              <a:buNone/>
            </a:pPr>
            <a:r>
              <a:rPr lang="en-US" sz="1100" dirty="0">
                <a:solidFill>
                  <a:schemeClr val="bg1"/>
                </a:solidFill>
              </a:rPr>
              <a:t>Jurassic Park  0.84</a:t>
            </a:r>
            <a:endParaRPr lang="en-US" sz="1100" dirty="0"/>
          </a:p>
          <a:p>
            <a:pPr indent="0" marL="0">
              <a:spcAft>
                <a:spcPts val="200"/>
              </a:spcAft>
              <a:buNone/>
            </a:pPr>
            <a:r>
              <a:rPr lang="en-US" sz="1100" dirty="0">
                <a:solidFill>
                  <a:schemeClr val="bg1"/>
                </a:solidFill>
              </a:rPr>
              <a:t>The Silence of the Lambs  0.82</a:t>
            </a:r>
            <a:endParaRPr lang="en-US" sz="1100" dirty="0"/>
          </a:p>
          <a:p>
            <a:pPr indent="0" marL="0">
              <a:spcAft>
                <a:spcPts val="200"/>
              </a:spcAft>
              <a:buNone/>
            </a:pPr>
            <a:r>
              <a:rPr lang="en-US" sz="1000" i="1" dirty="0">
                <a:solidFill>
                  <a:schemeClr val="bg2"/>
                </a:solidFill>
              </a:rPr>
              <a:t>mainstream-90s axis, not "kids": learned axes need no human name</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7  ·  EXERCISE 4  ·  BAYESIAN PERSONALIZED RANKING</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BPR optimizes ranking, yet ALS ranks better here</a:t>
            </a:r>
            <a:endParaRPr lang="en-US" sz="3600" dirty="0"/>
          </a:p>
        </p:txBody>
      </p:sp>
      <p:sp>
        <p:nvSpPr>
          <p:cNvPr id="4" name="BPR formula"/>
          <p:cNvSpPr/>
          <p:nvPr/>
        </p:nvSpPr>
        <p:spPr>
          <a:xfrm>
            <a:off x="548640" y="1508760"/>
            <a:ext cx="3611880" cy="4709160"/>
          </a:xfrm>
          <a:prstGeom prst="roundRect">
            <a:avLst>
              <a:gd name="adj" fmla="val 2025"/>
            </a:avLst>
          </a:prstGeom>
          <a:solidFill>
            <a:srgbClr val="E3EEFB"/>
          </a:solidFill>
          <a:ln w="12700">
            <a:solidFill>
              <a:srgbClr val="E3EEFB"/>
            </a:solidFill>
            <a:prstDash val="solid"/>
          </a:ln>
        </p:spPr>
      </p:sp>
      <p:sp>
        <p:nvSpPr>
          <p:cNvPr id="5" name="Text 3"/>
          <p:cNvSpPr txBox="1"/>
          <p:nvPr/>
        </p:nvSpPr>
        <p:spPr>
          <a:xfrm>
            <a:off x="731520" y="1600200"/>
            <a:ext cx="3291840" cy="2011680"/>
          </a:xfrm>
          <a:prstGeom prst="rect">
            <a:avLst/>
          </a:prstGeom>
          <a:noFill/>
          <a:ln/>
        </p:spPr>
        <p:txBody>
          <a:bodyPr wrap="square" lIns="0" tIns="0" rIns="0" bIns="0" rtlCol="0" anchor="t"/>
          <a:lstStyle/>
          <a:p>
            <a:pPr indent="0" marL="0">
              <a:spcAft>
                <a:spcPts val="300"/>
              </a:spcAft>
              <a:buNone/>
            </a:pPr>
            <a:r>
              <a:rPr lang="en-US" sz="1200" b="1" dirty="0">
                <a:solidFill>
                  <a:schemeClr val="tx2"/>
                </a:solidFill>
              </a:rPr>
              <a:t>Assumption</a:t>
            </a:r>
            <a:endParaRPr lang="en-US" sz="1200" dirty="0"/>
          </a:p>
          <a:p>
            <a:pPr indent="0" marL="0">
              <a:spcAft>
                <a:spcPts val="300"/>
              </a:spcAft>
              <a:buNone/>
            </a:pPr>
            <a:r>
              <a:rPr lang="en-US" sz="1200" dirty="0">
                <a:solidFill>
                  <a:schemeClr val="tx1"/>
                </a:solidFill>
              </a:rPr>
              <a:t>watched i beats unwatched j:  score(u,i) &gt; score(u,j)</a:t>
            </a:r>
            <a:endParaRPr lang="en-US" sz="1200" dirty="0"/>
          </a:p>
          <a:p>
            <a:pPr indent="0" marL="0">
              <a:spcAft>
                <a:spcPts val="300"/>
              </a:spcAft>
              <a:buNone/>
            </a:pPr>
            <a:r>
              <a:rPr lang="en-US" sz="600" dirty="0">
                <a:solidFill>
                  <a:schemeClr val="tx1"/>
                </a:solidFill>
              </a:rPr>
              <a:t> </a:t>
            </a:r>
            <a:endParaRPr lang="en-US" sz="1200" dirty="0"/>
          </a:p>
          <a:p>
            <a:pPr indent="0" marL="0">
              <a:spcAft>
                <a:spcPts val="300"/>
              </a:spcAft>
              <a:buNone/>
            </a:pPr>
            <a:r>
              <a:rPr lang="en-US" sz="1200" b="1" dirty="0">
                <a:solidFill>
                  <a:schemeClr val="tx2"/>
                </a:solidFill>
              </a:rPr>
              <a:t>Loss over sampled (u, i, j) triples</a:t>
            </a:r>
            <a:endParaRPr lang="en-US" sz="1200" dirty="0"/>
          </a:p>
          <a:p>
            <a:pPr indent="0" marL="0">
              <a:spcAft>
                <a:spcPts val="300"/>
              </a:spcAft>
              <a:buNone/>
            </a:pPr>
            <a:r>
              <a:rPr lang="en-US" sz="1200" b="1" dirty="0">
                <a:solidFill>
                  <a:schemeClr val="tx1"/>
                </a:solidFill>
              </a:rPr>
              <a:t>−ln σ( score(u,i) − score(u,j) ) + λ‖Θ‖²</a:t>
            </a:r>
            <a:endParaRPr lang="en-US" sz="1200" dirty="0"/>
          </a:p>
          <a:p>
            <a:pPr indent="0" marL="0">
              <a:spcAft>
                <a:spcPts val="300"/>
              </a:spcAft>
              <a:buNone/>
            </a:pPr>
            <a:r>
              <a:rPr lang="en-US" sz="1100" dirty="0">
                <a:solidFill>
                  <a:schemeClr val="accent5"/>
                </a:solidFill>
              </a:rPr>
              <a:t>Pointwise losses fit values; BPR only cares about order, the actual production goal.</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3154680"/>
          <a:ext cx="3246120" cy="914400"/>
        </p:xfrm>
        <a:graphic>
          <a:graphicData uri="http://schemas.openxmlformats.org/drawingml/2006/table">
            <a:tbl>
              <a:tblPr/>
              <a:tblGrid>
                <a:gridCol w="731520"/>
                <a:gridCol w="502920"/>
                <a:gridCol w="502920"/>
                <a:gridCol w="502920"/>
                <a:gridCol w="502920"/>
                <a:gridCol w="502920"/>
              </a:tblGrid>
              <a:tr h="274320">
                <a:tc>
                  <a:txBody>
                    <a:bodyPr/>
                    <a:lstStyle/>
                    <a:p>
                      <a:pPr algn="l" indent="0" marL="0">
                        <a:buNone/>
                      </a:pPr>
                      <a:r>
                        <a:rPr lang="en-US" sz="1050" b="1" dirty="0">
                          <a:solidFill>
                            <a:schemeClr val="bg1"/>
                          </a:solidFill>
                          <a:latin typeface="+mn-lt" pitchFamily="34" charset="0"/>
                          <a:ea typeface="+mn-lt" pitchFamily="34" charset="-122"/>
                          <a:cs typeface="+mn-lt" pitchFamily="34" charset="-120"/>
                        </a:rPr>
                        <a:t>gap</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0</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latin typeface="+mn-lt" pitchFamily="34" charset="0"/>
                          <a:ea typeface="+mn-lt" pitchFamily="34" charset="-122"/>
                          <a:cs typeface="+mn-lt" pitchFamily="34" charset="-120"/>
                        </a:rPr>
                        <a:t>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r>
              <a:tr h="274320">
                <a:tc>
                  <a:txBody>
                    <a:bodyPr/>
                    <a:lstStyle/>
                    <a:p>
                      <a:pPr indent="0" marL="0">
                        <a:buNone/>
                      </a:pPr>
                      <a:r>
                        <a:rPr lang="en-US" sz="1050" b="1" dirty="0">
                          <a:solidFill>
                            <a:schemeClr val="tx1"/>
                          </a:solidFill>
                          <a:latin typeface="+mn-lt" pitchFamily="34" charset="0"/>
                          <a:ea typeface="+mn-lt" pitchFamily="34" charset="-122"/>
                          <a:cs typeface="+mn-lt" pitchFamily="34" charset="-120"/>
                        </a:rPr>
                        <a:t>σ(gap)</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0.27</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0.50</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0.73</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0.95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mn-lt" pitchFamily="34" charset="0"/>
                          <a:ea typeface="+mn-lt" pitchFamily="34" charset="-122"/>
                          <a:cs typeface="+mn-lt" pitchFamily="34" charset="-120"/>
                        </a:rPr>
                        <a:t>loss</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b="1" dirty="0">
                          <a:solidFill>
                            <a:schemeClr val="accent2"/>
                          </a:solidFill>
                          <a:latin typeface="+mn-lt" pitchFamily="34" charset="0"/>
                          <a:ea typeface="+mn-lt" pitchFamily="34" charset="-122"/>
                          <a:cs typeface="+mn-lt" pitchFamily="34" charset="-120"/>
                        </a:rPr>
                        <a:t>3.05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b="1" dirty="0">
                          <a:solidFill>
                            <a:schemeClr val="accent2"/>
                          </a:solidFill>
                          <a:latin typeface="+mn-lt" pitchFamily="34" charset="0"/>
                          <a:ea typeface="+mn-lt" pitchFamily="34" charset="-122"/>
                          <a:cs typeface="+mn-lt" pitchFamily="34" charset="-120"/>
                        </a:rPr>
                        <a:t>1.31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0.69</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0.31</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ctr" indent="0" marL="0">
                        <a:buNone/>
                      </a:pPr>
                      <a:r>
                        <a:rPr lang="en-US" sz="1050" dirty="0">
                          <a:solidFill>
                            <a:schemeClr val="tx1"/>
                          </a:solidFill>
                          <a:latin typeface="+mn-lt" pitchFamily="34" charset="0"/>
                          <a:ea typeface="+mn-lt" pitchFamily="34" charset="-122"/>
                          <a:cs typeface="+mn-lt" pitchFamily="34" charset="-120"/>
                        </a:rPr>
                        <a:t>0.05</a:t>
                      </a:r>
                      <a:endParaRPr lang="en-US" sz="105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7" name="Text 4"/>
          <p:cNvSpPr txBox="1"/>
          <p:nvPr/>
        </p:nvSpPr>
        <p:spPr>
          <a:xfrm>
            <a:off x="731520" y="4114800"/>
            <a:ext cx="3291840" cy="868680"/>
          </a:xfrm>
          <a:prstGeom prst="rect">
            <a:avLst/>
          </a:prstGeom>
          <a:noFill/>
          <a:ln/>
        </p:spPr>
        <p:txBody>
          <a:bodyPr wrap="square" lIns="0" tIns="0" rIns="0" bIns="0" rtlCol="0" anchor="t"/>
          <a:lstStyle/>
          <a:p>
            <a:pPr indent="0" marL="0">
              <a:buNone/>
            </a:pPr>
            <a:r>
              <a:rPr lang="en-US" sz="1100" dirty="0">
                <a:solidFill>
                  <a:schemeClr val="accent5"/>
                </a:solidFill>
              </a:rPr>
              <a:t>Large loss when the unwatched movie ranks above the watched one; ln 2 = 0.69 at a tie. Trained with implicit's BPR (20 factors, 100 iterations, single thread for reproducibility).</a:t>
            </a:r>
            <a:endParaRPr lang="en-US" sz="1100" dirty="0"/>
          </a:p>
        </p:txBody>
      </p:sp>
      <p:sp>
        <p:nvSpPr>
          <p:cNvPr id="8" name="Text 5"/>
          <p:cNvSpPr txBox="1"/>
          <p:nvPr/>
        </p:nvSpPr>
        <p:spPr>
          <a:xfrm>
            <a:off x="731520" y="5074920"/>
            <a:ext cx="3291840" cy="1051560"/>
          </a:xfrm>
          <a:prstGeom prst="rect">
            <a:avLst/>
          </a:prstGeom>
          <a:noFill/>
          <a:ln/>
        </p:spPr>
        <p:txBody>
          <a:bodyPr wrap="square" lIns="0" tIns="0" rIns="0" bIns="0" rtlCol="0" anchor="t"/>
          <a:lstStyle/>
          <a:p>
            <a:pPr indent="0" marL="0">
              <a:spcAft>
                <a:spcPts val="200"/>
              </a:spcAft>
              <a:buNone/>
            </a:pPr>
            <a:r>
              <a:rPr lang="en-US" sz="1150" b="1" dirty="0">
                <a:solidFill>
                  <a:schemeClr val="tx2"/>
                </a:solidFill>
              </a:rPr>
              <a:t>Why pairwise suits implicit data</a:t>
            </a:r>
            <a:endParaRPr lang="en-US" sz="1150" dirty="0"/>
          </a:p>
          <a:p>
            <a:pPr marL="342900" indent="-342900">
              <a:spcAft>
                <a:spcPts val="200"/>
              </a:spcAft>
              <a:buSzPct val="100000"/>
              <a:buChar char="•"/>
            </a:pPr>
            <a:r>
              <a:rPr lang="en-US" sz="1150" dirty="0">
                <a:solidFill>
                  <a:schemeClr val="tx1"/>
                </a:solidFill>
              </a:rPr>
              <a:t>needs no true negatives, only "watched &gt; not watched"</a:t>
            </a:r>
            <a:endParaRPr lang="en-US" sz="1150" dirty="0"/>
          </a:p>
          <a:p>
            <a:pPr marL="342900" indent="-342900">
              <a:spcAft>
                <a:spcPts val="200"/>
              </a:spcAft>
              <a:buSzPct val="100000"/>
              <a:buChar char="•"/>
            </a:pPr>
            <a:r>
              <a:rPr lang="en-US" sz="1150" dirty="0">
                <a:solidFill>
                  <a:schemeClr val="tx1"/>
                </a:solidFill>
              </a:rPr>
              <a:t>unknown cells enter only through comparisons, never as hard 0s</a:t>
            </a:r>
            <a:endParaRPr lang="en-US" sz="1150" dirty="0"/>
          </a:p>
        </p:txBody>
      </p:sp>
      <p:graphicFrame>
        <p:nvGraphicFramePr>
          <p:cNvPr id="9" name="Chart 0" descr=""/>
          <p:cNvGraphicFramePr/>
          <p:nvPr/>
        </p:nvGraphicFramePr>
        <p:xfrm>
          <a:off x="4389120" y="1463040"/>
          <a:ext cx="3749040" cy="33375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4389120" y="4846320"/>
            <a:ext cx="3749040" cy="685800"/>
          </a:xfrm>
          <a:prstGeom prst="rect">
            <a:avLst/>
          </a:prstGeom>
          <a:noFill/>
          <a:ln/>
        </p:spPr>
        <p:txBody>
          <a:bodyPr wrap="square" lIns="0" tIns="0" rIns="0" bIns="0" rtlCol="0" anchor="t"/>
          <a:lstStyle/>
          <a:p>
            <a:pPr indent="0" marL="0">
              <a:buNone/>
            </a:pPr>
            <a:r>
              <a:rPr lang="en-US" sz="1100" dirty="0">
                <a:solidFill>
                  <a:schemeClr val="accent5"/>
                </a:solidFill>
              </a:rPr>
              <a:t>More BPR training is worse: 300 iterations falls below popularity (overfitting). On ~100k interactions ALS's exact solves over all cells beat BPR's sampled triples.</a:t>
            </a:r>
            <a:endParaRPr lang="en-US" sz="1100" dirty="0"/>
          </a:p>
        </p:txBody>
      </p:sp>
      <p:sp>
        <p:nvSpPr>
          <p:cNvPr id="11" name="Text 7"/>
          <p:cNvSpPr txBox="1"/>
          <p:nvPr/>
        </p:nvSpPr>
        <p:spPr>
          <a:xfrm>
            <a:off x="4389120" y="5577840"/>
            <a:ext cx="3749040" cy="548640"/>
          </a:xfrm>
          <a:prstGeom prst="rect">
            <a:avLst/>
          </a:prstGeom>
          <a:noFill/>
          <a:ln/>
        </p:spPr>
        <p:txBody>
          <a:bodyPr wrap="square" lIns="0" tIns="0" rIns="0" bIns="0" rtlCol="0" anchor="t"/>
          <a:lstStyle/>
          <a:p>
            <a:pPr indent="0" marL="0">
              <a:buNone/>
            </a:pPr>
            <a:r>
              <a:rPr lang="en-US" sz="1100" dirty="0">
                <a:solidFill>
                  <a:schemeClr val="tx2"/>
                </a:solidFill>
              </a:rPr>
              <a:t>BPR picks less popular titles: median 58 vs 104.5 ratings (user 401), 23 vs 36.5 (user 571).</a:t>
            </a:r>
            <a:endParaRPr lang="en-US" sz="1100" dirty="0"/>
          </a:p>
        </p:txBody>
      </p:sp>
      <p:graphicFrame>
        <p:nvGraphicFramePr>
          <p:cNvPr id="12" name="Chart 1" descr=""/>
          <p:cNvGraphicFramePr/>
          <p:nvPr/>
        </p:nvGraphicFramePr>
        <p:xfrm>
          <a:off x="8321040" y="1463040"/>
          <a:ext cx="3319272" cy="333756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8321040" y="4846320"/>
            <a:ext cx="3319272" cy="128016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Mean 1.42 of 5 shared · none 25% · partial 58% · strong 17%</a:t>
            </a:r>
            <a:endParaRPr lang="en-US" sz="1100" dirty="0"/>
          </a:p>
          <a:p>
            <a:pPr indent="0" marL="0">
              <a:spcAft>
                <a:spcPts val="400"/>
              </a:spcAft>
              <a:buNone/>
            </a:pPr>
            <a:r>
              <a:rPr lang="en-US" sz="1100" dirty="0">
                <a:solidFill>
                  <a:schemeClr val="accent5"/>
                </a:solidFill>
              </a:rPr>
              <a:t>User 401: 4/5 strong (Harry Potter) · user 571: 2/5 partial · user 63: 3/5 strong</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PHASE 8  ·  WHEN MATRIX FACTORIZATION BREAKS DOWN</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Popularity bias: long vectors win the dot product</a:t>
            </a:r>
            <a:endParaRPr lang="en-US" sz="3600" dirty="0"/>
          </a:p>
        </p:txBody>
      </p:sp>
      <p:graphicFrame>
        <p:nvGraphicFramePr>
          <p:cNvPr id="4" name="Chart 0" descr=""/>
          <p:cNvGraphicFramePr/>
          <p:nvPr/>
        </p:nvGraphicFramePr>
        <p:xfrm>
          <a:off x="548640" y="1463040"/>
          <a:ext cx="5760720" cy="3886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440680"/>
            <a:ext cx="5760720" cy="777240"/>
          </a:xfrm>
          <a:prstGeom prst="rect">
            <a:avLst/>
          </a:prstGeom>
          <a:noFill/>
          <a:ln/>
        </p:spPr>
        <p:txBody>
          <a:bodyPr wrap="square" lIns="0" tIns="0" rIns="0" bIns="0" rtlCol="0" anchor="t"/>
          <a:lstStyle/>
          <a:p>
            <a:pPr indent="0" marL="0">
              <a:buNone/>
            </a:pPr>
            <a:r>
              <a:rPr lang="en-US" sz="1100" dirty="0">
                <a:solidFill>
                  <a:schemeClr val="accent5"/>
                </a:solidFill>
              </a:rPr>
              <a:t>Movies per bucket: 3,446 · 2,098 · 1,509 · 1,099 · 741 · 529 · 227 · 75. Spearman(#ratings, norm) = 0.944 for ALS, 0.942 for BPR. Score = ‖x_u‖·‖y_i‖·cos θ, so a long item vector wins for almost any user.</a:t>
            </a:r>
            <a:endParaRPr lang="en-US" sz="1100" dirty="0"/>
          </a:p>
        </p:txBody>
      </p:sp>
      <p:sp>
        <p:nvSpPr>
          <p:cNvPr id="6" name="stat card"/>
          <p:cNvSpPr/>
          <p:nvPr/>
        </p:nvSpPr>
        <p:spPr>
          <a:xfrm>
            <a:off x="6583680" y="1508760"/>
            <a:ext cx="5056632" cy="1280160"/>
          </a:xfrm>
          <a:prstGeom prst="roundRect">
            <a:avLst>
              <a:gd name="adj" fmla="val 5714"/>
            </a:avLst>
          </a:prstGeom>
          <a:solidFill>
            <a:schemeClr val="bg2"/>
          </a:solidFill>
          <a:ln w="12700">
            <a:solidFill>
              <a:schemeClr val="bg2"/>
            </a:solidFill>
            <a:prstDash val="solid"/>
          </a:ln>
        </p:spPr>
      </p:sp>
      <p:sp>
        <p:nvSpPr>
          <p:cNvPr id="7" name="stat value"/>
          <p:cNvSpPr txBox="1"/>
          <p:nvPr/>
        </p:nvSpPr>
        <p:spPr>
          <a:xfrm>
            <a:off x="6766560" y="1600200"/>
            <a:ext cx="4690872"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97.9%</a:t>
            </a:r>
            <a:endParaRPr lang="en-US" sz="2800" dirty="0"/>
          </a:p>
        </p:txBody>
      </p:sp>
      <p:sp>
        <p:nvSpPr>
          <p:cNvPr id="8" name="stat label"/>
          <p:cNvSpPr txBox="1"/>
          <p:nvPr/>
        </p:nvSpPr>
        <p:spPr>
          <a:xfrm>
            <a:off x="6766560" y="2130552"/>
            <a:ext cx="4690872" cy="585216"/>
          </a:xfrm>
          <a:prstGeom prst="rect">
            <a:avLst/>
          </a:prstGeom>
          <a:noFill/>
          <a:ln/>
        </p:spPr>
        <p:txBody>
          <a:bodyPr wrap="square" lIns="0" tIns="0" rIns="0" bIns="0" rtlCol="0" anchor="t"/>
          <a:lstStyle/>
          <a:p>
            <a:pPr indent="0" marL="0">
              <a:buNone/>
            </a:pPr>
            <a:r>
              <a:rPr lang="en-US" sz="1200" dirty="0">
                <a:solidFill>
                  <a:schemeClr val="accent5"/>
                </a:solidFill>
              </a:rPr>
              <a:t>of users: ALS scores Forrest Gump (1994) (329 ratings, norm 0.536) above The Trial (1962) (5 ratings, 4.9★ average, norm 0.132)</a:t>
            </a:r>
            <a:endParaRPr lang="en-US" sz="1200" dirty="0"/>
          </a:p>
        </p:txBody>
      </p:sp>
      <p:sp>
        <p:nvSpPr>
          <p:cNvPr id="9" name="Text 6"/>
          <p:cNvSpPr txBox="1"/>
          <p:nvPr/>
        </p:nvSpPr>
        <p:spPr>
          <a:xfrm>
            <a:off x="6583680" y="2926080"/>
            <a:ext cx="5056632" cy="274320"/>
          </a:xfrm>
          <a:prstGeom prst="rect">
            <a:avLst/>
          </a:prstGeom>
          <a:noFill/>
          <a:ln/>
        </p:spPr>
        <p:txBody>
          <a:bodyPr wrap="square" lIns="0" tIns="0" rIns="0" bIns="0" rtlCol="0" anchor="b"/>
          <a:lstStyle/>
          <a:p>
            <a:pPr indent="0" marL="0">
              <a:buNone/>
            </a:pPr>
            <a:r>
              <a:rPr lang="en-US" sz="1200" b="1" dirty="0">
                <a:solidFill>
                  <a:schemeClr val="tx2"/>
                </a:solidFill>
              </a:rPr>
              <a:t>Top-10 for all 610 users (6,100 slots); top 1% = the 97 most-rated movies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56632" cy="914400"/>
        </p:xfrm>
        <a:graphic>
          <a:graphicData uri="http://schemas.openxmlformats.org/drawingml/2006/table">
            <a:tbl>
              <a:tblPr/>
              <a:tblGrid>
                <a:gridCol w="1783080"/>
                <a:gridCol w="1143000"/>
                <a:gridCol w="987552"/>
                <a:gridCol w="1143000"/>
              </a:tblGrid>
              <a:tr h="384048">
                <a:tc>
                  <a:txBody>
                    <a:bodyPr/>
                    <a:lstStyle/>
                    <a:p>
                      <a:pPr algn="l" indent="0" marL="0">
                        <a:buNone/>
                      </a:pPr>
                      <a:r>
                        <a:rPr lang="en-US" sz="1100" b="1" dirty="0">
                          <a:solidFill>
                            <a:schemeClr val="bg1"/>
                          </a:solidFill>
                          <a:latin typeface="+mn-lt" pitchFamily="34" charset="0"/>
                          <a:ea typeface="+mn-lt" pitchFamily="34" charset="-122"/>
                          <a:cs typeface="+mn-lt" pitchFamily="34" charset="-120"/>
                        </a:rPr>
                        <a:t>scoring</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slots from top-1% movies</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catalogue covered</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c>
                  <a:txBody>
                    <a:bodyPr/>
                    <a:lstStyle/>
                    <a:p>
                      <a:pPr algn="r" indent="0" marL="0">
                        <a:buNone/>
                      </a:pPr>
                      <a:r>
                        <a:rPr lang="en-US" sz="1100" b="1" dirty="0">
                          <a:solidFill>
                            <a:schemeClr val="bg1"/>
                          </a:solidFill>
                          <a:latin typeface="+mn-lt" pitchFamily="34" charset="0"/>
                          <a:ea typeface="+mn-lt" pitchFamily="34" charset="-122"/>
                          <a:cs typeface="+mn-lt" pitchFamily="34" charset="-120"/>
                        </a:rPr>
                        <a:t>precision@10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chemeClr val="tx2"/>
                    </a:solidFill>
                  </a:tcPr>
                </a:tc>
              </a:tr>
              <a:tr h="384048">
                <a:tc>
                  <a:txBody>
                    <a:bodyPr/>
                    <a:lstStyle/>
                    <a:p>
                      <a:pPr indent="0" marL="0">
                        <a:buNone/>
                      </a:pPr>
                      <a:r>
                        <a:rPr lang="en-US" sz="1100" b="1" dirty="0">
                          <a:solidFill>
                            <a:schemeClr val="tx1"/>
                          </a:solidFill>
                          <a:latin typeface="+mn-lt" pitchFamily="34" charset="0"/>
                          <a:ea typeface="+mn-lt" pitchFamily="34" charset="-122"/>
                          <a:cs typeface="+mn-lt" pitchFamily="34" charset="-120"/>
                        </a:rPr>
                        <a:t>ALS · dot product</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2"/>
                          </a:solidFill>
                          <a:latin typeface="+mn-lt" pitchFamily="34" charset="0"/>
                          <a:ea typeface="+mn-lt" pitchFamily="34" charset="-122"/>
                          <a:cs typeface="+mn-lt" pitchFamily="34" charset="-120"/>
                        </a:rPr>
                        <a:t>58.8%</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7.8%</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0.275</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84048">
                <a:tc>
                  <a:txBody>
                    <a:bodyPr/>
                    <a:lstStyle/>
                    <a:p>
                      <a:pPr indent="0" marL="0">
                        <a:buNone/>
                      </a:pPr>
                      <a:r>
                        <a:rPr lang="en-US" sz="1100" b="1" dirty="0">
                          <a:solidFill>
                            <a:schemeClr val="tx1"/>
                          </a:solidFill>
                          <a:latin typeface="+mn-lt" pitchFamily="34" charset="0"/>
                          <a:ea typeface="+mn-lt" pitchFamily="34" charset="-122"/>
                          <a:cs typeface="+mn-lt" pitchFamily="34" charset="-120"/>
                        </a:rPr>
                        <a:t>ALS · cosine (norm removed)</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23.3%</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18.1%</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chemeClr val="accent1"/>
                          </a:solidFill>
                          <a:latin typeface="+mn-lt" pitchFamily="34" charset="0"/>
                          <a:ea typeface="+mn-lt" pitchFamily="34" charset="-122"/>
                          <a:cs typeface="+mn-lt" pitchFamily="34" charset="-120"/>
                        </a:rPr>
                        <a:t>0.170</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84048">
                <a:tc>
                  <a:txBody>
                    <a:bodyPr/>
                    <a:lstStyle/>
                    <a:p>
                      <a:pPr indent="0" marL="0">
                        <a:buNone/>
                      </a:pPr>
                      <a:r>
                        <a:rPr lang="en-US" sz="1100" b="1" dirty="0">
                          <a:solidFill>
                            <a:schemeClr val="tx1"/>
                          </a:solidFill>
                          <a:latin typeface="+mn-lt" pitchFamily="34" charset="0"/>
                          <a:ea typeface="+mn-lt" pitchFamily="34" charset="-122"/>
                          <a:cs typeface="+mn-lt" pitchFamily="34" charset="-120"/>
                        </a:rPr>
                        <a:t>BPR · dot product + bias</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22.9%</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13.8%</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chemeClr val="tx1"/>
                          </a:solidFill>
                          <a:latin typeface="+mn-lt" pitchFamily="34" charset="0"/>
                          <a:ea typeface="+mn-lt" pitchFamily="34" charset="-122"/>
                          <a:cs typeface="+mn-lt" pitchFamily="34" charset="-120"/>
                        </a:rPr>
                        <a:t>0.186</a:t>
                      </a:r>
                      <a:endParaRPr lang="en-US" sz="1100" dirty="0">
                        <a:latin typeface="+mn-lt" charset="0"/>
                        <a:ea typeface="+mn-lt" charset="0"/>
                        <a:cs typeface="+mn-lt" charset="0"/>
                      </a:endParaRPr>
                    </a:p>
                  </a:txBody>
                  <a:tcPr marL="63500" marR="63500" marT="38100" marB="3810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11" name="card"/>
          <p:cNvSpPr/>
          <p:nvPr/>
        </p:nvSpPr>
        <p:spPr>
          <a:xfrm>
            <a:off x="6583680" y="4983480"/>
            <a:ext cx="5056632" cy="1234440"/>
          </a:xfrm>
          <a:prstGeom prst="roundRect">
            <a:avLst>
              <a:gd name="adj" fmla="val 5926"/>
            </a:avLst>
          </a:prstGeom>
          <a:solidFill>
            <a:srgbClr val="FCE6DC"/>
          </a:solidFill>
          <a:ln w="12700">
            <a:solidFill>
              <a:srgbClr val="FCE6DC"/>
            </a:solidFill>
            <a:prstDash val="solid"/>
          </a:ln>
        </p:spPr>
      </p:sp>
      <p:sp>
        <p:nvSpPr>
          <p:cNvPr id="12" name="Text 8"/>
          <p:cNvSpPr txBox="1"/>
          <p:nvPr/>
        </p:nvSpPr>
        <p:spPr>
          <a:xfrm>
            <a:off x="6766560" y="5029200"/>
            <a:ext cx="4709160" cy="1143000"/>
          </a:xfrm>
          <a:prstGeom prst="rect">
            <a:avLst/>
          </a:prstGeom>
          <a:noFill/>
          <a:ln/>
        </p:spPr>
        <p:txBody>
          <a:bodyPr wrap="square" lIns="0" tIns="0" rIns="0" bIns="0" rtlCol="0" anchor="ctr"/>
          <a:lstStyle/>
          <a:p>
            <a:pPr indent="0" marL="0">
              <a:buNone/>
            </a:pPr>
            <a:r>
              <a:rPr lang="en-US" sz="1150" b="1" dirty="0">
                <a:solidFill>
                  <a:schemeClr val="tx2"/>
                </a:solidFill>
              </a:rPr>
              <a:t>Trade-off: </a:t>
            </a:r>
            <a:pPr indent="0" marL="0">
              <a:buNone/>
            </a:pPr>
            <a:r>
              <a:rPr lang="en-US" sz="1150" dirty="0">
                <a:solidFill>
                  <a:schemeClr val="tx1"/>
                </a:solidFill>
              </a:rPr>
              <a:t>removing the norm spreads recommendations (coverage 7.8% → 18.1%) but cuts precision 0.275 → 0.170, barely above popularity (0.157). Part of popularity is real signal; production systems use score / ‖y‖^β or diversity re-ranking.</a:t>
            </a:r>
            <a:endParaRPr lang="en-US" sz="11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EXERCISES 3 &amp; 5  ·  COLD START  ·  ADJUSTED COSINE FROM SCRATCH</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tx2"/>
                </a:solidFill>
              </a:rPr>
              <a:t>Cold start, and adjusted cosine by hand</a:t>
            </a:r>
            <a:endParaRPr lang="en-US" sz="3600" dirty="0"/>
          </a:p>
        </p:txBody>
      </p:sp>
      <p:sp>
        <p:nvSpPr>
          <p:cNvPr id="4" name="Text 2"/>
          <p:cNvSpPr txBox="1"/>
          <p:nvPr/>
        </p:nvSpPr>
        <p:spPr>
          <a:xfrm>
            <a:off x="548640" y="1417320"/>
            <a:ext cx="5760720" cy="274320"/>
          </a:xfrm>
          <a:prstGeom prst="rect">
            <a:avLst/>
          </a:prstGeom>
          <a:noFill/>
          <a:ln/>
        </p:spPr>
        <p:txBody>
          <a:bodyPr wrap="square" lIns="0" tIns="0" rIns="0" bIns="0" rtlCol="0" anchor="b"/>
          <a:lstStyle/>
          <a:p>
            <a:pPr indent="0" marL="0">
              <a:buNone/>
            </a:pPr>
            <a:r>
              <a:rPr lang="en-US" sz="1200" b="1" dirty="0">
                <a:solidFill>
                  <a:schemeClr val="tx2"/>
                </a:solidFill>
              </a:rPr>
              <a:t>Exercise 3 · a brand-new user with 2 ratings, no retraining</a:t>
            </a:r>
            <a:endParaRPr lang="en-US" sz="1200" dirty="0"/>
          </a:p>
        </p:txBody>
      </p:sp>
      <p:sp>
        <p:nvSpPr>
          <p:cNvPr id="5" name="surprise SVD: same list for everyone"/>
          <p:cNvSpPr/>
          <p:nvPr/>
        </p:nvSpPr>
        <p:spPr>
          <a:xfrm>
            <a:off x="548640" y="1783080"/>
            <a:ext cx="5760720" cy="1280160"/>
          </a:xfrm>
          <a:prstGeom prst="roundRect">
            <a:avLst>
              <a:gd name="adj" fmla="val 5714"/>
            </a:avLst>
          </a:prstGeom>
          <a:solidFill>
            <a:schemeClr val="bg2"/>
          </a:solidFill>
          <a:ln w="12700">
            <a:solidFill>
              <a:schemeClr val="bg2"/>
            </a:solidFill>
            <a:prstDash val="solid"/>
          </a:ln>
        </p:spPr>
      </p:sp>
      <p:sp>
        <p:nvSpPr>
          <p:cNvPr id="6" name="icon circle"/>
          <p:cNvSpPr/>
          <p:nvPr/>
        </p:nvSpPr>
        <p:spPr>
          <a:xfrm>
            <a:off x="731520" y="1965960"/>
            <a:ext cx="384048" cy="384048"/>
          </a:xfrm>
          <a:prstGeom prst="ellipse">
            <a:avLst/>
          </a:prstGeom>
          <a:solidFill>
            <a:schemeClr val="accent5"/>
          </a:solidFill>
          <a:ln w="12700">
            <a:solidFill>
              <a:schemeClr val="accent5"/>
            </a:solidFill>
            <a:prstDash val="solid"/>
          </a:ln>
        </p:spPr>
      </p:sp>
      <p:pic>
        <p:nvPicPr>
          <p:cNvPr id="7" name="icon" descr="preencoded.png">    </p:cNvPr>
          <p:cNvPicPr>
            <a:picLocks noChangeAspect="1"/>
          </p:cNvPicPr>
          <p:nvPr/>
        </p:nvPicPr>
        <p:blipFill>
          <a:blip r:embed="rId1"/>
          <a:stretch>
            <a:fillRect/>
          </a:stretch>
        </p:blipFill>
        <p:spPr>
          <a:xfrm>
            <a:off x="823692" y="2058132"/>
            <a:ext cx="199705" cy="199705"/>
          </a:xfrm>
          <a:prstGeom prst="rect">
            <a:avLst/>
          </a:prstGeom>
        </p:spPr>
      </p:pic>
      <p:sp>
        <p:nvSpPr>
          <p:cNvPr id="8" name="Text 5"/>
          <p:cNvSpPr txBox="1"/>
          <p:nvPr/>
        </p:nvSpPr>
        <p:spPr>
          <a:xfrm>
            <a:off x="1234440" y="1965960"/>
            <a:ext cx="4892040" cy="384048"/>
          </a:xfrm>
          <a:prstGeom prst="rect">
            <a:avLst/>
          </a:prstGeom>
          <a:noFill/>
          <a:ln/>
        </p:spPr>
        <p:txBody>
          <a:bodyPr wrap="square" lIns="0" tIns="0" rIns="0" bIns="0" rtlCol="0" anchor="ctr"/>
          <a:lstStyle/>
          <a:p>
            <a:pPr indent="0" marL="0">
              <a:buNone/>
            </a:pPr>
            <a:r>
              <a:rPr lang="en-US" sz="1400" b="1" dirty="0">
                <a:solidFill>
                  <a:schemeClr val="tx2"/>
                </a:solidFill>
              </a:rPr>
              <a:t>surprise SVD: same list for everyone</a:t>
            </a:r>
            <a:endParaRPr lang="en-US" sz="1400" dirty="0"/>
          </a:p>
        </p:txBody>
      </p:sp>
      <p:sp>
        <p:nvSpPr>
          <p:cNvPr id="9" name="Text 6"/>
          <p:cNvSpPr txBox="1"/>
          <p:nvPr/>
        </p:nvSpPr>
        <p:spPr>
          <a:xfrm>
            <a:off x="731520" y="2441448"/>
            <a:ext cx="5394960" cy="502920"/>
          </a:xfrm>
          <a:prstGeom prst="rect">
            <a:avLst/>
          </a:prstGeom>
          <a:noFill/>
          <a:ln/>
        </p:spPr>
        <p:txBody>
          <a:bodyPr wrap="square" lIns="0" tIns="0" rIns="0" bIns="0" rtlCol="0" anchor="t"/>
          <a:lstStyle/>
          <a:p>
            <a:pPr indent="0" marL="0">
              <a:spcAft>
                <a:spcPts val="300"/>
              </a:spcAft>
              <a:buNone/>
            </a:pPr>
            <a:r>
              <a:rPr lang="en-US" sz="1150" dirty="0">
                <a:solidFill>
                  <a:schemeClr val="tx1"/>
                </a:solidFill>
              </a:rPr>
              <a:t>No embedding for a newcomer, so it falls back to μ + b_i and ignores both ratings: Lawrence of Arabia 4.41, The Shawshank Redemption 4.38, Dr. Strangelove 4.38… for every new user.</a:t>
            </a:r>
            <a:endParaRPr lang="en-US" sz="1150" dirty="0"/>
          </a:p>
        </p:txBody>
      </p:sp>
      <p:sp>
        <p:nvSpPr>
          <p:cNvPr id="10" name="ALS fold-in: one closed-form WALS user step"/>
          <p:cNvSpPr/>
          <p:nvPr/>
        </p:nvSpPr>
        <p:spPr>
          <a:xfrm>
            <a:off x="548640" y="3200400"/>
            <a:ext cx="5760720" cy="1691640"/>
          </a:xfrm>
          <a:prstGeom prst="roundRect">
            <a:avLst>
              <a:gd name="adj" fmla="val 4324"/>
            </a:avLst>
          </a:prstGeom>
          <a:solidFill>
            <a:schemeClr val="bg2"/>
          </a:solidFill>
          <a:ln w="12700">
            <a:solidFill>
              <a:schemeClr val="bg2"/>
            </a:solidFill>
            <a:prstDash val="solid"/>
          </a:ln>
        </p:spPr>
      </p:sp>
      <p:sp>
        <p:nvSpPr>
          <p:cNvPr id="11" name="icon circle"/>
          <p:cNvSpPr/>
          <p:nvPr/>
        </p:nvSpPr>
        <p:spPr>
          <a:xfrm>
            <a:off x="731520" y="3383280"/>
            <a:ext cx="384048" cy="384048"/>
          </a:xfrm>
          <a:prstGeom prst="ellipse">
            <a:avLst/>
          </a:prstGeom>
          <a:solidFill>
            <a:schemeClr val="accent3"/>
          </a:solidFill>
          <a:ln w="12700">
            <a:solidFill>
              <a:schemeClr val="accent3"/>
            </a:solidFill>
            <a:prstDash val="solid"/>
          </a:ln>
        </p:spPr>
      </p:sp>
      <p:pic>
        <p:nvPicPr>
          <p:cNvPr id="12" name="icon" descr="preencoded.png">    </p:cNvPr>
          <p:cNvPicPr>
            <a:picLocks noChangeAspect="1"/>
          </p:cNvPicPr>
          <p:nvPr/>
        </p:nvPicPr>
        <p:blipFill>
          <a:blip r:embed="rId2"/>
          <a:stretch>
            <a:fillRect/>
          </a:stretch>
        </p:blipFill>
        <p:spPr>
          <a:xfrm>
            <a:off x="823692" y="3475452"/>
            <a:ext cx="199705" cy="199705"/>
          </a:xfrm>
          <a:prstGeom prst="rect">
            <a:avLst/>
          </a:prstGeom>
        </p:spPr>
      </p:pic>
      <p:sp>
        <p:nvSpPr>
          <p:cNvPr id="13" name="Text 9"/>
          <p:cNvSpPr txBox="1"/>
          <p:nvPr/>
        </p:nvSpPr>
        <p:spPr>
          <a:xfrm>
            <a:off x="1234440" y="3383280"/>
            <a:ext cx="4892040" cy="384048"/>
          </a:xfrm>
          <a:prstGeom prst="rect">
            <a:avLst/>
          </a:prstGeom>
          <a:noFill/>
          <a:ln/>
        </p:spPr>
        <p:txBody>
          <a:bodyPr wrap="square" lIns="0" tIns="0" rIns="0" bIns="0" rtlCol="0" anchor="ctr"/>
          <a:lstStyle/>
          <a:p>
            <a:pPr indent="0" marL="0">
              <a:buNone/>
            </a:pPr>
            <a:r>
              <a:rPr lang="en-US" sz="1400" b="1" dirty="0">
                <a:solidFill>
                  <a:schemeClr val="tx2"/>
                </a:solidFill>
              </a:rPr>
              <a:t>ALS fold-in: one closed-form WALS user step</a:t>
            </a:r>
            <a:endParaRPr lang="en-US" sz="1400" dirty="0"/>
          </a:p>
        </p:txBody>
      </p:sp>
      <p:sp>
        <p:nvSpPr>
          <p:cNvPr id="14" name="Text 10"/>
          <p:cNvSpPr txBox="1"/>
          <p:nvPr/>
        </p:nvSpPr>
        <p:spPr>
          <a:xfrm>
            <a:off x="731520" y="3858768"/>
            <a:ext cx="5394960" cy="914400"/>
          </a:xfrm>
          <a:prstGeom prst="rect">
            <a:avLst/>
          </a:prstGeom>
          <a:noFill/>
          <a:ln/>
        </p:spPr>
        <p:txBody>
          <a:bodyPr wrap="square" lIns="0" tIns="0" rIns="0" bIns="0" rtlCol="0" anchor="t"/>
          <a:lstStyle/>
          <a:p>
            <a:pPr indent="0" marL="0">
              <a:spcAft>
                <a:spcPts val="300"/>
              </a:spcAft>
              <a:buNone/>
            </a:pPr>
            <a:r>
              <a:rPr lang="en-US" sz="1150" dirty="0">
                <a:solidFill>
                  <a:schemeClr val="tx1"/>
                </a:solidFill>
              </a:rPr>
              <a:t>Hand-solved vector matches implicit's recalculate_user (cosine 1.0000).</a:t>
            </a:r>
            <a:endParaRPr lang="en-US" sz="1150" dirty="0"/>
          </a:p>
          <a:p>
            <a:pPr indent="0" marL="0">
              <a:spcAft>
                <a:spcPts val="300"/>
              </a:spcAft>
              <a:buNone/>
            </a:pPr>
            <a:r>
              <a:rPr lang="en-US" sz="1150" b="1" dirty="0">
                <a:solidFill>
                  <a:schemeClr val="tx1"/>
                </a:solidFill>
              </a:rPr>
              <a:t>The Shining + The Exorcist → </a:t>
            </a:r>
            <a:pPr indent="0" marL="0">
              <a:spcAft>
                <a:spcPts val="300"/>
              </a:spcAft>
              <a:buNone/>
            </a:pPr>
            <a:r>
              <a:rPr lang="en-US" sz="1150" dirty="0">
                <a:solidFill>
                  <a:schemeClr val="tx1"/>
                </a:solidFill>
              </a:rPr>
              <a:t>Rosemary's Baby, Psycho, Poltergeist, The Thing, Misery</a:t>
            </a:r>
            <a:endParaRPr lang="en-US" sz="1150" dirty="0"/>
          </a:p>
          <a:p>
            <a:pPr indent="0" marL="0">
              <a:spcAft>
                <a:spcPts val="300"/>
              </a:spcAft>
              <a:buNone/>
            </a:pPr>
            <a:r>
              <a:rPr lang="en-US" sz="1150" b="1" dirty="0">
                <a:solidFill>
                  <a:schemeClr val="tx1"/>
                </a:solidFill>
              </a:rPr>
              <a:t>Toy Story + Finding Nemo → </a:t>
            </a:r>
            <a:pPr indent="0" marL="0">
              <a:spcAft>
                <a:spcPts val="300"/>
              </a:spcAft>
              <a:buNone/>
            </a:pPr>
            <a:r>
              <a:rPr lang="en-US" sz="1150" dirty="0">
                <a:solidFill>
                  <a:schemeClr val="tx1"/>
                </a:solidFill>
              </a:rPr>
              <a:t>The Shawshank Redemption, Forrest Gump, The Silence of the Lambs, The Matrix: two popular seeds give the popular list</a:t>
            </a:r>
            <a:endParaRPr lang="en-US" sz="1150" dirty="0"/>
          </a:p>
        </p:txBody>
      </p:sp>
      <p:sp>
        <p:nvSpPr>
          <p:cNvPr id="15" name="BPR: NotImplementedError"/>
          <p:cNvSpPr/>
          <p:nvPr/>
        </p:nvSpPr>
        <p:spPr>
          <a:xfrm>
            <a:off x="548640" y="5029200"/>
            <a:ext cx="5760720" cy="1188720"/>
          </a:xfrm>
          <a:prstGeom prst="roundRect">
            <a:avLst>
              <a:gd name="adj" fmla="val 6154"/>
            </a:avLst>
          </a:prstGeom>
          <a:solidFill>
            <a:schemeClr val="bg2"/>
          </a:solidFill>
          <a:ln w="12700">
            <a:solidFill>
              <a:schemeClr val="bg2"/>
            </a:solidFill>
            <a:prstDash val="solid"/>
          </a:ln>
        </p:spPr>
      </p:sp>
      <p:sp>
        <p:nvSpPr>
          <p:cNvPr id="16" name="icon circle"/>
          <p:cNvSpPr/>
          <p:nvPr/>
        </p:nvSpPr>
        <p:spPr>
          <a:xfrm>
            <a:off x="731520" y="5212080"/>
            <a:ext cx="384048" cy="384048"/>
          </a:xfrm>
          <a:prstGeom prst="ellipse">
            <a:avLst/>
          </a:prstGeom>
          <a:solidFill>
            <a:schemeClr val="accent2"/>
          </a:solidFill>
          <a:ln w="12700">
            <a:solidFill>
              <a:schemeClr val="accent2"/>
            </a:solidFill>
            <a:prstDash val="solid"/>
          </a:ln>
        </p:spPr>
      </p:sp>
      <p:pic>
        <p:nvPicPr>
          <p:cNvPr id="17" name="icon" descr="preencoded.png">    </p:cNvPr>
          <p:cNvPicPr>
            <a:picLocks noChangeAspect="1"/>
          </p:cNvPicPr>
          <p:nvPr/>
        </p:nvPicPr>
        <p:blipFill>
          <a:blip r:embed="rId3"/>
          <a:stretch>
            <a:fillRect/>
          </a:stretch>
        </p:blipFill>
        <p:spPr>
          <a:xfrm>
            <a:off x="823692" y="5304252"/>
            <a:ext cx="199705" cy="199705"/>
          </a:xfrm>
          <a:prstGeom prst="rect">
            <a:avLst/>
          </a:prstGeom>
        </p:spPr>
      </p:pic>
      <p:sp>
        <p:nvSpPr>
          <p:cNvPr id="18" name="Text 13"/>
          <p:cNvSpPr txBox="1"/>
          <p:nvPr/>
        </p:nvSpPr>
        <p:spPr>
          <a:xfrm>
            <a:off x="1234440" y="5212080"/>
            <a:ext cx="4892040" cy="384048"/>
          </a:xfrm>
          <a:prstGeom prst="rect">
            <a:avLst/>
          </a:prstGeom>
          <a:noFill/>
          <a:ln/>
        </p:spPr>
        <p:txBody>
          <a:bodyPr wrap="square" lIns="0" tIns="0" rIns="0" bIns="0" rtlCol="0" anchor="ctr"/>
          <a:lstStyle/>
          <a:p>
            <a:pPr indent="0" marL="0">
              <a:buNone/>
            </a:pPr>
            <a:r>
              <a:rPr lang="en-US" sz="1400" b="1" dirty="0">
                <a:solidFill>
                  <a:schemeClr val="tx2"/>
                </a:solidFill>
              </a:rPr>
              <a:t>BPR: NotImplementedError</a:t>
            </a:r>
            <a:endParaRPr lang="en-US" sz="1400" dirty="0"/>
          </a:p>
        </p:txBody>
      </p:sp>
      <p:sp>
        <p:nvSpPr>
          <p:cNvPr id="19" name="Text 14"/>
          <p:cNvSpPr txBox="1"/>
          <p:nvPr/>
        </p:nvSpPr>
        <p:spPr>
          <a:xfrm>
            <a:off x="731520" y="5687568"/>
            <a:ext cx="5394960" cy="411480"/>
          </a:xfrm>
          <a:prstGeom prst="rect">
            <a:avLst/>
          </a:prstGeom>
          <a:noFill/>
          <a:ln/>
        </p:spPr>
        <p:txBody>
          <a:bodyPr wrap="square" lIns="0" tIns="0" rIns="0" bIns="0" rtlCol="0" anchor="t"/>
          <a:lstStyle/>
          <a:p>
            <a:pPr indent="0" marL="0">
              <a:spcAft>
                <a:spcPts val="300"/>
              </a:spcAft>
              <a:buNone/>
            </a:pPr>
            <a:r>
              <a:rPr lang="en-US" sz="1150" dirty="0">
                <a:solidFill>
                  <a:schemeClr val="tx1"/>
                </a:solidFill>
              </a:rPr>
              <a:t>No closed-form user step, so it needs retraining. Item cold start: the 18 never-rated movies can never be recommended by any MF model.</a:t>
            </a:r>
            <a:endParaRPr lang="en-US" sz="1150" dirty="0"/>
          </a:p>
        </p:txBody>
      </p:sp>
      <p:graphicFrame>
        <p:nvGraphicFramePr>
          <p:cNvPr id="20" name="Chart 0" descr=""/>
          <p:cNvGraphicFramePr/>
          <p:nvPr/>
        </p:nvGraphicFramePr>
        <p:xfrm>
          <a:off x="6583680" y="1417320"/>
          <a:ext cx="5056632" cy="3931920"/>
        </p:xfrm>
        <a:graphic xmlns:a="http://schemas.openxmlformats.org/drawingml/2006/main">
          <a:graphicData uri="http://schemas.openxmlformats.org/drawingml/2006/chart">
            <c:chart xmlns:c="http://schemas.openxmlformats.org/drawingml/2006/chart" r:id="rId4"/>
          </a:graphicData>
        </a:graphic>
      </p:graphicFrame>
      <p:sp>
        <p:nvSpPr>
          <p:cNvPr id="21" name="card"/>
          <p:cNvSpPr/>
          <p:nvPr/>
        </p:nvSpPr>
        <p:spPr>
          <a:xfrm>
            <a:off x="6583680" y="5440680"/>
            <a:ext cx="5056632" cy="777240"/>
          </a:xfrm>
          <a:prstGeom prst="roundRect">
            <a:avLst>
              <a:gd name="adj" fmla="val 9412"/>
            </a:avLst>
          </a:prstGeom>
          <a:solidFill>
            <a:srgbClr val="FCE6DC"/>
          </a:solidFill>
          <a:ln w="12700">
            <a:solidFill>
              <a:srgbClr val="FCE6DC"/>
            </a:solidFill>
            <a:prstDash val="solid"/>
          </a:ln>
        </p:spPr>
      </p:sp>
      <p:sp>
        <p:nvSpPr>
          <p:cNvPr id="22" name="Text 16"/>
          <p:cNvSpPr txBox="1"/>
          <p:nvPr/>
        </p:nvSpPr>
        <p:spPr>
          <a:xfrm>
            <a:off x="6766560" y="5468112"/>
            <a:ext cx="4709160" cy="731520"/>
          </a:xfrm>
          <a:prstGeom prst="rect">
            <a:avLst/>
          </a:prstGeom>
          <a:noFill/>
          <a:ln/>
        </p:spPr>
        <p:txBody>
          <a:bodyPr wrap="square" lIns="0" tIns="0" rIns="0" bIns="0" rtlCol="0" anchor="ctr"/>
          <a:lstStyle/>
          <a:p>
            <a:pPr indent="0" marL="0">
              <a:buNone/>
            </a:pPr>
            <a:r>
              <a:rPr lang="en-US" sz="1100" b="1" dirty="0">
                <a:solidFill>
                  <a:schemeClr val="tx2"/>
                </a:solidFill>
              </a:rPr>
              <a:t>M1–M2: plain 0.956 → adjusted −0.988. </a:t>
            </a:r>
            <a:pPr indent="0" marL="0">
              <a:buNone/>
            </a:pPr>
            <a:r>
              <a:rPr lang="en-US" sz="1100" dirty="0">
                <a:solidFill>
                  <a:schemeClr val="tx1"/>
                </a:solidFill>
              </a:rPr>
              <a:t>Plain cosine is 0.87–1.00 for every pair; adjusted spreads them −0.99 to 0.93. The loop result equals Phase 3's vectorised function (np.allclose ✓).</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92608"/>
          </a:xfrm>
          <a:prstGeom prst="rect">
            <a:avLst/>
          </a:prstGeom>
          <a:noFill/>
          <a:ln/>
        </p:spPr>
        <p:txBody>
          <a:bodyPr wrap="square" lIns="0" tIns="0" rIns="0" bIns="0" rtlCol="0"/>
          <a:lstStyle/>
          <a:p>
            <a:pPr indent="0" marL="0">
              <a:buNone/>
            </a:pPr>
            <a:r>
              <a:rPr lang="en-US" sz="1200" b="1" spc="200" kern="0" dirty="0">
                <a:solidFill>
                  <a:schemeClr val="accent2"/>
                </a:solidFill>
              </a:rPr>
              <a:t>SUMMARY  ·  WHAT WORKED, WHAT BROKE, WHAT'S NEXT</a:t>
            </a:r>
            <a:endParaRPr lang="en-US" sz="1200" dirty="0"/>
          </a:p>
        </p:txBody>
      </p:sp>
      <p:sp>
        <p:nvSpPr>
          <p:cNvPr id="3" name="Text 0"/>
          <p:cNvSpPr/>
          <p:nvPr>
            <p:ph idx="101" type="title" hasCustomPrompt="1"/>
          </p:nvPr>
        </p:nvSpPr>
        <p:spPr>
          <a:xfrm>
            <a:off x="548640" y="621792"/>
            <a:ext cx="11091672" cy="685800"/>
          </a:xfrm>
          <a:prstGeom prst="rect">
            <a:avLst/>
          </a:prstGeom>
          <a:noFill/>
          <a:ln/>
        </p:spPr>
        <p:txBody>
          <a:bodyPr wrap="square" lIns="0" tIns="0" rIns="0" bIns="0" rtlCol="0" anchor="ctr"/>
          <a:lstStyle/>
          <a:p>
            <a:pPr algn="l" indent="0" marL="0">
              <a:buNone/>
            </a:pPr>
            <a:r>
              <a:rPr lang="en-US" sz="3600" b="1" dirty="0">
                <a:solidFill>
                  <a:schemeClr val="bg1"/>
                </a:solidFill>
              </a:rPr>
              <a:t>A strong baseline with clear limits</a:t>
            </a:r>
            <a:endParaRPr lang="en-US" sz="3600" dirty="0"/>
          </a:p>
        </p:txBody>
      </p:sp>
      <p:sp>
        <p:nvSpPr>
          <p:cNvPr id="4" name="stat card"/>
          <p:cNvSpPr/>
          <p:nvPr/>
        </p:nvSpPr>
        <p:spPr>
          <a:xfrm>
            <a:off x="548640" y="1508760"/>
            <a:ext cx="2606040" cy="1188720"/>
          </a:xfrm>
          <a:prstGeom prst="roundRect">
            <a:avLst>
              <a:gd name="adj" fmla="val 6154"/>
            </a:avLst>
          </a:prstGeom>
          <a:solidFill>
            <a:schemeClr val="tx1"/>
          </a:solidFill>
          <a:ln w="12700">
            <a:solidFill>
              <a:schemeClr val="tx1"/>
            </a:solidFill>
            <a:prstDash val="solid"/>
          </a:ln>
        </p:spPr>
      </p:sp>
      <p:sp>
        <p:nvSpPr>
          <p:cNvPr id="5" name="stat value"/>
          <p:cNvSpPr txBox="1"/>
          <p:nvPr/>
        </p:nvSpPr>
        <p:spPr>
          <a:xfrm>
            <a:off x="731520" y="160020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0.836</a:t>
            </a:r>
            <a:endParaRPr lang="en-US" sz="2800" dirty="0"/>
          </a:p>
        </p:txBody>
      </p:sp>
      <p:sp>
        <p:nvSpPr>
          <p:cNvPr id="6" name="stat label"/>
          <p:cNvSpPr txBox="1"/>
          <p:nvPr/>
        </p:nvSpPr>
        <p:spPr>
          <a:xfrm>
            <a:off x="731520" y="2130552"/>
            <a:ext cx="2240280" cy="493776"/>
          </a:xfrm>
          <a:prstGeom prst="rect">
            <a:avLst/>
          </a:prstGeom>
          <a:noFill/>
          <a:ln/>
        </p:spPr>
        <p:txBody>
          <a:bodyPr wrap="square" lIns="0" tIns="0" rIns="0" bIns="0" rtlCol="0" anchor="t"/>
          <a:lstStyle/>
          <a:p>
            <a:pPr indent="0" marL="0">
              <a:buNone/>
            </a:pPr>
            <a:r>
              <a:rPr lang="en-US" sz="1200" dirty="0">
                <a:solidFill>
                  <a:schemeClr val="bg1"/>
                </a:solidFill>
              </a:rPr>
              <a:t>best rating RMSE (MF, Exercise 1); bias baseline 0.841</a:t>
            </a:r>
            <a:endParaRPr lang="en-US" sz="1200" dirty="0"/>
          </a:p>
        </p:txBody>
      </p:sp>
      <p:sp>
        <p:nvSpPr>
          <p:cNvPr id="7" name="stat card"/>
          <p:cNvSpPr/>
          <p:nvPr/>
        </p:nvSpPr>
        <p:spPr>
          <a:xfrm>
            <a:off x="3337560" y="1508760"/>
            <a:ext cx="2606040" cy="1188720"/>
          </a:xfrm>
          <a:prstGeom prst="roundRect">
            <a:avLst>
              <a:gd name="adj" fmla="val 6154"/>
            </a:avLst>
          </a:prstGeom>
          <a:solidFill>
            <a:schemeClr val="tx1"/>
          </a:solidFill>
          <a:ln w="12700">
            <a:solidFill>
              <a:schemeClr val="tx1"/>
            </a:solidFill>
            <a:prstDash val="solid"/>
          </a:ln>
        </p:spPr>
      </p:sp>
      <p:sp>
        <p:nvSpPr>
          <p:cNvPr id="8" name="stat value"/>
          <p:cNvSpPr txBox="1"/>
          <p:nvPr/>
        </p:nvSpPr>
        <p:spPr>
          <a:xfrm>
            <a:off x="3520440" y="160020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0.275</a:t>
            </a:r>
            <a:endParaRPr lang="en-US" sz="2800" dirty="0"/>
          </a:p>
        </p:txBody>
      </p:sp>
      <p:sp>
        <p:nvSpPr>
          <p:cNvPr id="9" name="stat label"/>
          <p:cNvSpPr txBox="1"/>
          <p:nvPr/>
        </p:nvSpPr>
        <p:spPr>
          <a:xfrm>
            <a:off x="3520440" y="2130552"/>
            <a:ext cx="2240280" cy="493776"/>
          </a:xfrm>
          <a:prstGeom prst="rect">
            <a:avLst/>
          </a:prstGeom>
          <a:noFill/>
          <a:ln/>
        </p:spPr>
        <p:txBody>
          <a:bodyPr wrap="square" lIns="0" tIns="0" rIns="0" bIns="0" rtlCol="0" anchor="t"/>
          <a:lstStyle/>
          <a:p>
            <a:pPr indent="0" marL="0">
              <a:buNone/>
            </a:pPr>
            <a:r>
              <a:rPr lang="en-US" sz="1200" dirty="0">
                <a:solidFill>
                  <a:schemeClr val="bg1"/>
                </a:solidFill>
              </a:rPr>
              <a:t>ALS precision@10 vs 0.157 popularity and 0.186 BPR</a:t>
            </a:r>
            <a:endParaRPr lang="en-US" sz="1200" dirty="0"/>
          </a:p>
        </p:txBody>
      </p:sp>
      <p:sp>
        <p:nvSpPr>
          <p:cNvPr id="10" name="stat card"/>
          <p:cNvSpPr/>
          <p:nvPr/>
        </p:nvSpPr>
        <p:spPr>
          <a:xfrm>
            <a:off x="548640" y="2880360"/>
            <a:ext cx="2606040" cy="1188720"/>
          </a:xfrm>
          <a:prstGeom prst="roundRect">
            <a:avLst>
              <a:gd name="adj" fmla="val 6154"/>
            </a:avLst>
          </a:prstGeom>
          <a:solidFill>
            <a:schemeClr val="tx1"/>
          </a:solidFill>
          <a:ln w="12700">
            <a:solidFill>
              <a:schemeClr val="tx1"/>
            </a:solidFill>
            <a:prstDash val="solid"/>
          </a:ln>
        </p:spPr>
      </p:sp>
      <p:sp>
        <p:nvSpPr>
          <p:cNvPr id="11" name="stat value"/>
          <p:cNvSpPr txBox="1"/>
          <p:nvPr/>
        </p:nvSpPr>
        <p:spPr>
          <a:xfrm>
            <a:off x="731520" y="297180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58.8%</a:t>
            </a:r>
            <a:endParaRPr lang="en-US" sz="2800" dirty="0"/>
          </a:p>
        </p:txBody>
      </p:sp>
      <p:sp>
        <p:nvSpPr>
          <p:cNvPr id="12" name="stat label"/>
          <p:cNvSpPr txBox="1"/>
          <p:nvPr/>
        </p:nvSpPr>
        <p:spPr>
          <a:xfrm>
            <a:off x="731520" y="3502152"/>
            <a:ext cx="2240280" cy="493776"/>
          </a:xfrm>
          <a:prstGeom prst="rect">
            <a:avLst/>
          </a:prstGeom>
          <a:noFill/>
          <a:ln/>
        </p:spPr>
        <p:txBody>
          <a:bodyPr wrap="square" lIns="0" tIns="0" rIns="0" bIns="0" rtlCol="0" anchor="t"/>
          <a:lstStyle/>
          <a:p>
            <a:pPr indent="0" marL="0">
              <a:buNone/>
            </a:pPr>
            <a:r>
              <a:rPr lang="en-US" sz="1200" dirty="0">
                <a:solidFill>
                  <a:schemeClr val="bg1"/>
                </a:solidFill>
              </a:rPr>
              <a:t>of ALS recommendation slots go to the top-1% movies</a:t>
            </a:r>
            <a:endParaRPr lang="en-US" sz="1200" dirty="0"/>
          </a:p>
        </p:txBody>
      </p:sp>
      <p:sp>
        <p:nvSpPr>
          <p:cNvPr id="13" name="stat card"/>
          <p:cNvSpPr/>
          <p:nvPr/>
        </p:nvSpPr>
        <p:spPr>
          <a:xfrm>
            <a:off x="3337560" y="2880360"/>
            <a:ext cx="2606040" cy="1188720"/>
          </a:xfrm>
          <a:prstGeom prst="roundRect">
            <a:avLst>
              <a:gd name="adj" fmla="val 6154"/>
            </a:avLst>
          </a:prstGeom>
          <a:solidFill>
            <a:schemeClr val="tx1"/>
          </a:solidFill>
          <a:ln w="12700">
            <a:solidFill>
              <a:schemeClr val="tx1"/>
            </a:solidFill>
            <a:prstDash val="solid"/>
          </a:ln>
        </p:spPr>
      </p:sp>
      <p:sp>
        <p:nvSpPr>
          <p:cNvPr id="14" name="stat value"/>
          <p:cNvSpPr txBox="1"/>
          <p:nvPr/>
        </p:nvSpPr>
        <p:spPr>
          <a:xfrm>
            <a:off x="3520440" y="2971800"/>
            <a:ext cx="2240280" cy="530352"/>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1.42 / 5</a:t>
            </a:r>
            <a:endParaRPr lang="en-US" sz="2800" dirty="0"/>
          </a:p>
        </p:txBody>
      </p:sp>
      <p:sp>
        <p:nvSpPr>
          <p:cNvPr id="15" name="stat label"/>
          <p:cNvSpPr txBox="1"/>
          <p:nvPr/>
        </p:nvSpPr>
        <p:spPr>
          <a:xfrm>
            <a:off x="3520440" y="3502152"/>
            <a:ext cx="2240280" cy="493776"/>
          </a:xfrm>
          <a:prstGeom prst="rect">
            <a:avLst/>
          </a:prstGeom>
          <a:noFill/>
          <a:ln/>
        </p:spPr>
        <p:txBody>
          <a:bodyPr wrap="square" lIns="0" tIns="0" rIns="0" bIns="0" rtlCol="0" anchor="t"/>
          <a:lstStyle/>
          <a:p>
            <a:pPr indent="0" marL="0">
              <a:buNone/>
            </a:pPr>
            <a:r>
              <a:rPr lang="en-US" sz="1200" dirty="0">
                <a:solidFill>
                  <a:schemeClr val="bg1"/>
                </a:solidFill>
              </a:rPr>
              <a:t>titles ALS and BPR share per user's top-5</a:t>
            </a:r>
            <a:endParaRPr lang="en-US" sz="1200" dirty="0"/>
          </a:p>
        </p:txBody>
      </p:sp>
      <p:sp>
        <p:nvSpPr>
          <p:cNvPr id="16" name="Text 14"/>
          <p:cNvSpPr txBox="1"/>
          <p:nvPr/>
        </p:nvSpPr>
        <p:spPr>
          <a:xfrm>
            <a:off x="548640" y="4206240"/>
            <a:ext cx="5394960" cy="274320"/>
          </a:xfrm>
          <a:prstGeom prst="rect">
            <a:avLst/>
          </a:prstGeom>
          <a:noFill/>
          <a:ln/>
        </p:spPr>
        <p:txBody>
          <a:bodyPr wrap="square" lIns="0" tIns="0" rIns="0" bIns="0" rtlCol="0" anchor="ctr"/>
          <a:lstStyle/>
          <a:p>
            <a:pPr indent="0" marL="0">
              <a:buNone/>
            </a:pPr>
            <a:r>
              <a:rPr lang="en-US" sz="1050" i="1" dirty="0">
                <a:solidFill>
                  <a:schemeClr val="bg2"/>
                </a:solidFill>
              </a:rPr>
              <a:t>All numbers: one run of the Task 12 notebook, fixed seeds, MovieLens ml-latest-small.</a:t>
            </a:r>
            <a:endParaRPr lang="en-US" sz="1050" dirty="0"/>
          </a:p>
        </p:txBody>
      </p:sp>
      <p:sp>
        <p:nvSpPr>
          <p:cNvPr id="17" name="Strengths"/>
          <p:cNvSpPr/>
          <p:nvPr/>
        </p:nvSpPr>
        <p:spPr>
          <a:xfrm>
            <a:off x="6217920" y="1508760"/>
            <a:ext cx="2606040" cy="2103120"/>
          </a:xfrm>
          <a:prstGeom prst="roundRect">
            <a:avLst>
              <a:gd name="adj" fmla="val 3478"/>
            </a:avLst>
          </a:prstGeom>
          <a:solidFill>
            <a:schemeClr val="tx1"/>
          </a:solidFill>
          <a:ln w="12700">
            <a:solidFill>
              <a:schemeClr val="tx1"/>
            </a:solidFill>
            <a:prstDash val="solid"/>
          </a:ln>
        </p:spPr>
      </p:sp>
      <p:sp>
        <p:nvSpPr>
          <p:cNvPr id="18" name="icon circle"/>
          <p:cNvSpPr/>
          <p:nvPr/>
        </p:nvSpPr>
        <p:spPr>
          <a:xfrm>
            <a:off x="6400800" y="1691640"/>
            <a:ext cx="384048" cy="384048"/>
          </a:xfrm>
          <a:prstGeom prst="ellipse">
            <a:avLst/>
          </a:prstGeom>
          <a:solidFill>
            <a:schemeClr val="accent3"/>
          </a:solidFill>
          <a:ln w="12700">
            <a:solidFill>
              <a:schemeClr val="accent3"/>
            </a:solidFill>
            <a:prstDash val="solid"/>
          </a:ln>
        </p:spPr>
      </p:sp>
      <p:pic>
        <p:nvPicPr>
          <p:cNvPr id="19" name="icon" descr="preencoded.png">    </p:cNvPr>
          <p:cNvPicPr>
            <a:picLocks noChangeAspect="1"/>
          </p:cNvPicPr>
          <p:nvPr/>
        </p:nvPicPr>
        <p:blipFill>
          <a:blip r:embed="rId1"/>
          <a:stretch>
            <a:fillRect/>
          </a:stretch>
        </p:blipFill>
        <p:spPr>
          <a:xfrm>
            <a:off x="6492972" y="1783812"/>
            <a:ext cx="199705" cy="199705"/>
          </a:xfrm>
          <a:prstGeom prst="rect">
            <a:avLst/>
          </a:prstGeom>
        </p:spPr>
      </p:pic>
      <p:sp>
        <p:nvSpPr>
          <p:cNvPr id="20" name="Text 17"/>
          <p:cNvSpPr txBox="1"/>
          <p:nvPr/>
        </p:nvSpPr>
        <p:spPr>
          <a:xfrm>
            <a:off x="6903720" y="1691640"/>
            <a:ext cx="1737360" cy="384048"/>
          </a:xfrm>
          <a:prstGeom prst="rect">
            <a:avLst/>
          </a:prstGeom>
          <a:noFill/>
          <a:ln/>
        </p:spPr>
        <p:txBody>
          <a:bodyPr wrap="square" lIns="0" tIns="0" rIns="0" bIns="0" rtlCol="0" anchor="ctr"/>
          <a:lstStyle/>
          <a:p>
            <a:pPr indent="0" marL="0">
              <a:buNone/>
            </a:pPr>
            <a:r>
              <a:rPr lang="en-US" sz="1400" b="1" dirty="0">
                <a:solidFill>
                  <a:schemeClr val="bg1"/>
                </a:solidFill>
              </a:rPr>
              <a:t>Strengths</a:t>
            </a:r>
            <a:endParaRPr lang="en-US" sz="1400" dirty="0"/>
          </a:p>
        </p:txBody>
      </p:sp>
      <p:sp>
        <p:nvSpPr>
          <p:cNvPr id="21" name="Text 18"/>
          <p:cNvSpPr txBox="1"/>
          <p:nvPr/>
        </p:nvSpPr>
        <p:spPr>
          <a:xfrm>
            <a:off x="6400800" y="2167128"/>
            <a:ext cx="2240280" cy="1325880"/>
          </a:xfrm>
          <a:prstGeom prst="rect">
            <a:avLst/>
          </a:prstGeom>
          <a:noFill/>
          <a:ln/>
        </p:spPr>
        <p:txBody>
          <a:bodyPr wrap="square" lIns="0" tIns="0" rIns="0" bIns="0" rtlCol="0" anchor="t"/>
          <a:lstStyle/>
          <a:p>
            <a:pPr indent="0" marL="0">
              <a:spcAft>
                <a:spcPts val="300"/>
              </a:spcAft>
              <a:buNone/>
            </a:pPr>
            <a:r>
              <a:rPr lang="en-US" sz="1150" dirty="0">
                <a:solidFill>
                  <a:schemeClr val="bg2"/>
                </a:solidFill>
              </a:rPr>
              <a:t>No feature engineering; embeddings learn audience structure (the Kubrick axis); compact (206,680 parameters); ALS trains in ~1 s and folds in new users.</a:t>
            </a:r>
            <a:endParaRPr lang="en-US" sz="1150" dirty="0"/>
          </a:p>
        </p:txBody>
      </p:sp>
      <p:sp>
        <p:nvSpPr>
          <p:cNvPr id="22" name="Weaknesses"/>
          <p:cNvSpPr/>
          <p:nvPr/>
        </p:nvSpPr>
        <p:spPr>
          <a:xfrm>
            <a:off x="8961120" y="1508760"/>
            <a:ext cx="2606040" cy="2103120"/>
          </a:xfrm>
          <a:prstGeom prst="roundRect">
            <a:avLst>
              <a:gd name="adj" fmla="val 3478"/>
            </a:avLst>
          </a:prstGeom>
          <a:solidFill>
            <a:schemeClr val="tx1"/>
          </a:solidFill>
          <a:ln w="12700">
            <a:solidFill>
              <a:schemeClr val="tx1"/>
            </a:solidFill>
            <a:prstDash val="solid"/>
          </a:ln>
        </p:spPr>
      </p:sp>
      <p:sp>
        <p:nvSpPr>
          <p:cNvPr id="23" name="icon circle"/>
          <p:cNvSpPr/>
          <p:nvPr/>
        </p:nvSpPr>
        <p:spPr>
          <a:xfrm>
            <a:off x="9144000" y="1691640"/>
            <a:ext cx="384048" cy="384048"/>
          </a:xfrm>
          <a:prstGeom prst="ellipse">
            <a:avLst/>
          </a:prstGeom>
          <a:solidFill>
            <a:schemeClr val="accent2"/>
          </a:solidFill>
          <a:ln w="12700">
            <a:solidFill>
              <a:schemeClr val="accent2"/>
            </a:solidFill>
            <a:prstDash val="solid"/>
          </a:ln>
        </p:spPr>
      </p:sp>
      <p:pic>
        <p:nvPicPr>
          <p:cNvPr id="24" name="icon" descr="preencoded.png">    </p:cNvPr>
          <p:cNvPicPr>
            <a:picLocks noChangeAspect="1"/>
          </p:cNvPicPr>
          <p:nvPr/>
        </p:nvPicPr>
        <p:blipFill>
          <a:blip r:embed="rId2"/>
          <a:stretch>
            <a:fillRect/>
          </a:stretch>
        </p:blipFill>
        <p:spPr>
          <a:xfrm>
            <a:off x="9236172" y="1783812"/>
            <a:ext cx="199705" cy="199705"/>
          </a:xfrm>
          <a:prstGeom prst="rect">
            <a:avLst/>
          </a:prstGeom>
        </p:spPr>
      </p:pic>
      <p:sp>
        <p:nvSpPr>
          <p:cNvPr id="25" name="Text 21"/>
          <p:cNvSpPr txBox="1"/>
          <p:nvPr/>
        </p:nvSpPr>
        <p:spPr>
          <a:xfrm>
            <a:off x="9646920" y="1691640"/>
            <a:ext cx="1737360" cy="384048"/>
          </a:xfrm>
          <a:prstGeom prst="rect">
            <a:avLst/>
          </a:prstGeom>
          <a:noFill/>
          <a:ln/>
        </p:spPr>
        <p:txBody>
          <a:bodyPr wrap="square" lIns="0" tIns="0" rIns="0" bIns="0" rtlCol="0" anchor="ctr"/>
          <a:lstStyle/>
          <a:p>
            <a:pPr indent="0" marL="0">
              <a:buNone/>
            </a:pPr>
            <a:r>
              <a:rPr lang="en-US" sz="1400" b="1" dirty="0">
                <a:solidFill>
                  <a:schemeClr val="bg1"/>
                </a:solidFill>
              </a:rPr>
              <a:t>Weaknesses</a:t>
            </a:r>
            <a:endParaRPr lang="en-US" sz="1400" dirty="0"/>
          </a:p>
        </p:txBody>
      </p:sp>
      <p:sp>
        <p:nvSpPr>
          <p:cNvPr id="26" name="Text 22"/>
          <p:cNvSpPr txBox="1"/>
          <p:nvPr/>
        </p:nvSpPr>
        <p:spPr>
          <a:xfrm>
            <a:off x="9144000" y="2167128"/>
            <a:ext cx="2240280" cy="1325880"/>
          </a:xfrm>
          <a:prstGeom prst="rect">
            <a:avLst/>
          </a:prstGeom>
          <a:noFill/>
          <a:ln/>
        </p:spPr>
        <p:txBody>
          <a:bodyPr wrap="square" lIns="0" tIns="0" rIns="0" bIns="0" rtlCol="0" anchor="t"/>
          <a:lstStyle/>
          <a:p>
            <a:pPr indent="0" marL="0">
              <a:spcAft>
                <a:spcPts val="300"/>
              </a:spcAft>
              <a:buNone/>
            </a:pPr>
            <a:r>
              <a:rPr lang="en-US" sz="1150" dirty="0">
                <a:solidFill>
                  <a:schemeClr val="bg2"/>
                </a:solidFill>
              </a:rPr>
              <a:t>Cold start (new items impossible), no side features, popularity bias; biases alone explain most rating accuracy here.</a:t>
            </a:r>
            <a:endParaRPr lang="en-US" sz="1150" dirty="0"/>
          </a:p>
        </p:txBody>
      </p:sp>
      <p:sp>
        <p:nvSpPr>
          <p:cNvPr id="27" name="Fixes made"/>
          <p:cNvSpPr/>
          <p:nvPr/>
        </p:nvSpPr>
        <p:spPr>
          <a:xfrm>
            <a:off x="6217920" y="3840480"/>
            <a:ext cx="2606040" cy="2103120"/>
          </a:xfrm>
          <a:prstGeom prst="roundRect">
            <a:avLst>
              <a:gd name="adj" fmla="val 3478"/>
            </a:avLst>
          </a:prstGeom>
          <a:solidFill>
            <a:schemeClr val="tx1"/>
          </a:solidFill>
          <a:ln w="12700">
            <a:solidFill>
              <a:schemeClr val="tx1"/>
            </a:solidFill>
            <a:prstDash val="solid"/>
          </a:ln>
        </p:spPr>
      </p:sp>
      <p:sp>
        <p:nvSpPr>
          <p:cNvPr id="28" name="icon circle"/>
          <p:cNvSpPr/>
          <p:nvPr/>
        </p:nvSpPr>
        <p:spPr>
          <a:xfrm>
            <a:off x="6400800" y="4023360"/>
            <a:ext cx="384048" cy="384048"/>
          </a:xfrm>
          <a:prstGeom prst="ellipse">
            <a:avLst/>
          </a:prstGeom>
          <a:solidFill>
            <a:schemeClr val="accent1"/>
          </a:solidFill>
          <a:ln w="12700">
            <a:solidFill>
              <a:schemeClr val="accent1"/>
            </a:solidFill>
            <a:prstDash val="solid"/>
          </a:ln>
        </p:spPr>
      </p:sp>
      <p:pic>
        <p:nvPicPr>
          <p:cNvPr id="29" name="icon" descr="preencoded.png">    </p:cNvPr>
          <p:cNvPicPr>
            <a:picLocks noChangeAspect="1"/>
          </p:cNvPicPr>
          <p:nvPr/>
        </p:nvPicPr>
        <p:blipFill>
          <a:blip r:embed="rId3"/>
          <a:stretch>
            <a:fillRect/>
          </a:stretch>
        </p:blipFill>
        <p:spPr>
          <a:xfrm>
            <a:off x="6492972" y="4115532"/>
            <a:ext cx="199705" cy="199705"/>
          </a:xfrm>
          <a:prstGeom prst="rect">
            <a:avLst/>
          </a:prstGeom>
        </p:spPr>
      </p:pic>
      <p:sp>
        <p:nvSpPr>
          <p:cNvPr id="30" name="Text 25"/>
          <p:cNvSpPr txBox="1"/>
          <p:nvPr/>
        </p:nvSpPr>
        <p:spPr>
          <a:xfrm>
            <a:off x="6903720" y="4023360"/>
            <a:ext cx="1737360" cy="384048"/>
          </a:xfrm>
          <a:prstGeom prst="rect">
            <a:avLst/>
          </a:prstGeom>
          <a:noFill/>
          <a:ln/>
        </p:spPr>
        <p:txBody>
          <a:bodyPr wrap="square" lIns="0" tIns="0" rIns="0" bIns="0" rtlCol="0" anchor="ctr"/>
          <a:lstStyle/>
          <a:p>
            <a:pPr indent="0" marL="0">
              <a:buNone/>
            </a:pPr>
            <a:r>
              <a:rPr lang="en-US" sz="1400" b="1" dirty="0">
                <a:solidFill>
                  <a:schemeClr val="bg1"/>
                </a:solidFill>
              </a:rPr>
              <a:t>Fixes made</a:t>
            </a:r>
            <a:endParaRPr lang="en-US" sz="1400" dirty="0"/>
          </a:p>
        </p:txBody>
      </p:sp>
      <p:sp>
        <p:nvSpPr>
          <p:cNvPr id="31" name="Text 26"/>
          <p:cNvSpPr txBox="1"/>
          <p:nvPr/>
        </p:nvSpPr>
        <p:spPr>
          <a:xfrm>
            <a:off x="6400800" y="4498848"/>
            <a:ext cx="2240280" cy="1325880"/>
          </a:xfrm>
          <a:prstGeom prst="rect">
            <a:avLst/>
          </a:prstGeom>
          <a:noFill/>
          <a:ln/>
        </p:spPr>
        <p:txBody>
          <a:bodyPr wrap="square" lIns="0" tIns="0" rIns="0" bIns="0" rtlCol="0" anchor="t"/>
          <a:lstStyle/>
          <a:p>
            <a:pPr indent="0" marL="0">
              <a:spcAft>
                <a:spcPts val="300"/>
              </a:spcAft>
              <a:buNone/>
            </a:pPr>
            <a:r>
              <a:rPr lang="en-US" sz="1150" dirty="0">
                <a:solidFill>
                  <a:schemeClr val="bg2"/>
                </a:solidFill>
              </a:rPr>
              <a:t>Contiguous IDs (611 × 193,610 → 610 × 9,724) · explicit 1 + α·r confidence · fixed seeds · single-thread BPR.</a:t>
            </a:r>
            <a:endParaRPr lang="en-US" sz="1150" dirty="0"/>
          </a:p>
        </p:txBody>
      </p:sp>
      <p:sp>
        <p:nvSpPr>
          <p:cNvPr id="32" name="Next: Task 14"/>
          <p:cNvSpPr/>
          <p:nvPr/>
        </p:nvSpPr>
        <p:spPr>
          <a:xfrm>
            <a:off x="8961120" y="3840480"/>
            <a:ext cx="2606040" cy="2103120"/>
          </a:xfrm>
          <a:prstGeom prst="roundRect">
            <a:avLst>
              <a:gd name="adj" fmla="val 3478"/>
            </a:avLst>
          </a:prstGeom>
          <a:solidFill>
            <a:schemeClr val="tx1"/>
          </a:solidFill>
          <a:ln w="12700">
            <a:solidFill>
              <a:schemeClr val="tx1"/>
            </a:solidFill>
            <a:prstDash val="solid"/>
          </a:ln>
        </p:spPr>
      </p:sp>
      <p:sp>
        <p:nvSpPr>
          <p:cNvPr id="33" name="icon circle"/>
          <p:cNvSpPr/>
          <p:nvPr/>
        </p:nvSpPr>
        <p:spPr>
          <a:xfrm>
            <a:off x="9144000" y="4023360"/>
            <a:ext cx="384048" cy="384048"/>
          </a:xfrm>
          <a:prstGeom prst="ellipse">
            <a:avLst/>
          </a:prstGeom>
          <a:solidFill>
            <a:schemeClr val="accent6"/>
          </a:solidFill>
          <a:ln w="12700">
            <a:solidFill>
              <a:schemeClr val="accent6"/>
            </a:solidFill>
            <a:prstDash val="solid"/>
          </a:ln>
        </p:spPr>
      </p:sp>
      <p:pic>
        <p:nvPicPr>
          <p:cNvPr id="34" name="icon" descr="preencoded.png">    </p:cNvPr>
          <p:cNvPicPr>
            <a:picLocks noChangeAspect="1"/>
          </p:cNvPicPr>
          <p:nvPr/>
        </p:nvPicPr>
        <p:blipFill>
          <a:blip r:embed="rId4"/>
          <a:stretch>
            <a:fillRect/>
          </a:stretch>
        </p:blipFill>
        <p:spPr>
          <a:xfrm>
            <a:off x="9236172" y="4115532"/>
            <a:ext cx="199705" cy="199705"/>
          </a:xfrm>
          <a:prstGeom prst="rect">
            <a:avLst/>
          </a:prstGeom>
        </p:spPr>
      </p:pic>
      <p:sp>
        <p:nvSpPr>
          <p:cNvPr id="35" name="Text 29"/>
          <p:cNvSpPr txBox="1"/>
          <p:nvPr/>
        </p:nvSpPr>
        <p:spPr>
          <a:xfrm>
            <a:off x="9646920" y="4023360"/>
            <a:ext cx="1737360" cy="384048"/>
          </a:xfrm>
          <a:prstGeom prst="rect">
            <a:avLst/>
          </a:prstGeom>
          <a:noFill/>
          <a:ln/>
        </p:spPr>
        <p:txBody>
          <a:bodyPr wrap="square" lIns="0" tIns="0" rIns="0" bIns="0" rtlCol="0" anchor="ctr"/>
          <a:lstStyle/>
          <a:p>
            <a:pPr indent="0" marL="0">
              <a:buNone/>
            </a:pPr>
            <a:r>
              <a:rPr lang="en-US" sz="1400" b="1" dirty="0">
                <a:solidFill>
                  <a:schemeClr val="bg1"/>
                </a:solidFill>
              </a:rPr>
              <a:t>Next: Task 14</a:t>
            </a:r>
            <a:endParaRPr lang="en-US" sz="1400" dirty="0"/>
          </a:p>
        </p:txBody>
      </p:sp>
      <p:sp>
        <p:nvSpPr>
          <p:cNvPr id="36" name="Text 30"/>
          <p:cNvSpPr txBox="1"/>
          <p:nvPr/>
        </p:nvSpPr>
        <p:spPr>
          <a:xfrm>
            <a:off x="9144000" y="4498848"/>
            <a:ext cx="2240280" cy="1325880"/>
          </a:xfrm>
          <a:prstGeom prst="rect">
            <a:avLst/>
          </a:prstGeom>
          <a:noFill/>
          <a:ln/>
        </p:spPr>
        <p:txBody>
          <a:bodyPr wrap="square" lIns="0" tIns="0" rIns="0" bIns="0" rtlCol="0" anchor="t"/>
          <a:lstStyle/>
          <a:p>
            <a:pPr indent="0" marL="0">
              <a:spcAft>
                <a:spcPts val="300"/>
              </a:spcAft>
              <a:buNone/>
            </a:pPr>
            <a:r>
              <a:rPr lang="en-US" sz="1150" dirty="0">
                <a:solidFill>
                  <a:schemeClr val="bg2"/>
                </a:solidFill>
              </a:rPr>
              <a:t>Deep recommenders compute embeddings from IDs + side features (cold start) and learn the similarity instead of a raw dot product.</a:t>
            </a:r>
            <a:endParaRPr lang="en-US" sz="1150" dirty="0"/>
          </a:p>
        </p:txBody>
      </p:sp>
      <p:sp>
        <p:nvSpPr>
          <p:cNvPr id="37" name="Text 31"/>
          <p:cNvSpPr txBox="1"/>
          <p:nvPr/>
        </p:nvSpPr>
        <p:spPr>
          <a:xfrm>
            <a:off x="548640" y="4709160"/>
            <a:ext cx="5394960" cy="1463040"/>
          </a:xfrm>
          <a:prstGeom prst="rect">
            <a:avLst/>
          </a:prstGeom>
          <a:noFill/>
          <a:ln/>
        </p:spPr>
        <p:txBody>
          <a:bodyPr wrap="square" lIns="0" tIns="0" rIns="0" bIns="0" rtlCol="0" anchor="t"/>
          <a:lstStyle/>
          <a:p>
            <a:pPr indent="0" marL="0">
              <a:buNone/>
            </a:pPr>
            <a:r>
              <a:rPr lang="en-US" sz="1400" b="1" dirty="0">
                <a:solidFill>
                  <a:schemeClr val="accent2"/>
                </a:solidFill>
              </a:rPr>
              <a:t>The story in one line: </a:t>
            </a:r>
            <a:pPr indent="0" marL="0">
              <a:buNone/>
            </a:pPr>
            <a:r>
              <a:rPr lang="en-US" sz="1400" dirty="0">
                <a:solidFill>
                  <a:schemeClr val="bg1"/>
                </a:solidFill>
              </a:rPr>
              <a:t>neighbours → factorization → implicit confidence → ranking loss → the dot product's popularity bias, which is where deep models take over.</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ask 12 Collaborative Filtering">
  <a:themeElements>
    <a:clrScheme name="Task 12 Collaborative Filtering">
      <a:dk1>
        <a:srgbClr val="16182D"/>
      </a:dk1>
      <a:lt1>
        <a:srgbClr val="FFFFFF"/>
      </a:lt1>
      <a:dk2>
        <a:srgbClr val="1E2240"/>
      </a:dk2>
      <a:lt2>
        <a:srgbClr val="F3F4F8"/>
      </a:lt2>
      <a:accent1>
        <a:srgbClr val="2A78D6"/>
      </a:accent1>
      <a:accent2>
        <a:srgbClr val="EB6834"/>
      </a:accent2>
      <a:accent3>
        <a:srgbClr val="1BAF7A"/>
      </a:accent3>
      <a:accent4>
        <a:srgbClr val="EDA100"/>
      </a:accent4>
      <a:accent5>
        <a:srgbClr val="5B5F73"/>
      </a:accent5>
      <a:accent6>
        <a:srgbClr val="4A3AA7"/>
      </a:accent6>
      <a:hlink>
        <a:srgbClr val="2A78D6"/>
      </a:hlink>
      <a:folHlink>
        <a:srgbClr val="4A3AA7"/>
      </a:folHlink>
    </a:clrScheme>
    <a:fontScheme name="Task 12 Collaborative Filter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The Stackly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12: Collaborative Filtering and Matrix Factorization</dc:title>
  <dc:subject>PptxGenJS Presentation</dc:subject>
  <dc:creator>Balaji Krishnamoorthy</dc:creator>
  <cp:lastModifiedBy>Balaji Krishnamoorthy</cp:lastModifiedBy>
  <cp:revision>1</cp:revision>
  <dcterms:created xsi:type="dcterms:W3CDTF">2026-10-08T09:42:51Z</dcterms:created>
  <dcterms:modified xsi:type="dcterms:W3CDTF">2026-10-08T09:42:51Z</dcterms:modified>
</cp:coreProperties>
</file>